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始" id="{aa46b3ca-5b6d-937d-33bd-49fce1b939cb}">
          <p14:sldIdLst>
            <p14:sldId id="256"/>
            <p14:sldId id="257"/>
            <p14:sldId id="258"/>
          </p14:sldIdLst>
        </p14:section>
        <p14:section name="STEP 1" id="{86ab2ebf-e077-40d1-8b08-fa163b1eaaa1}">
          <p14:sldIdLst>
            <p14:sldId id="259"/>
            <p14:sldId id="260"/>
            <p14:sldId id="261"/>
          </p14:sldIdLst>
        </p14:section>
        <p14:section name="STEP 2" id="{893e80e0-e6f7-6849-cfc2-405a489923f8}">
          <p14:sldIdLst>
            <p14:sldId id="262"/>
            <p14:sldId id="263"/>
            <p14:sldId id="264"/>
            <p14:sldId id="265"/>
            <p14:sldId id="266"/>
          </p14:sldIdLst>
        </p14:section>
        <p14:section name="STEP 3" id="{b71fe3de-8570-2d16-5e9e-9472110a3525}">
          <p14:sldIdLst>
            <p14:sldId id="267"/>
            <p14:sldId id="268"/>
            <p14:sldId id="269"/>
          </p14:sldIdLst>
        </p14:section>
        <p14:section name="STEP 4" id="{00bbad54-1c71-88eb-8894-b9a6086d4cc3}">
          <p14:sldIdLst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STEP 5" id="{7301f3b0-fb78-1739-60ab-f83fc1afbc0c}">
          <p14:sldIdLst>
            <p14:sldId id="277"/>
            <p14:sldId id="278"/>
            <p14:sldId id="279"/>
            <p14:sldId id="280"/>
            <p14:sldId id="281"/>
          </p14:sldIdLst>
        </p14:section>
        <p14:section name="STEP 6" id="{a25a2f67-96b0-23a8-3b03-c1f1261b4a94}">
          <p14:sldIdLst>
            <p14:sldId id="282"/>
            <p14:sldId id="283"/>
            <p14:sldId id="284"/>
          </p14:sldIdLst>
        </p14:section>
        <p14:section name="STEP 7" id="{cda9f38c-d21d-f93a-1449-f59df7e5e718}">
          <p14:sldIdLst>
            <p14:sldId id="285"/>
            <p14:sldId id="286"/>
          </p14:sldIdLst>
        </p14:section>
        <p14:section name="收尾" id="{348f98f2-f5cb-ce32-0f32-f881c21cbe50}">
          <p14:sldIdLst>
            <p14:sldId id="287"/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rgbClr val="E07A2E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E242B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rgbClr val="5F6B78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5" name="Text 0"/>
          <p:cNvSpPr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6A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游戏引擎基础 · 跟做指南 E · 弹珠台 · Unity 6.3 LTS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E2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WITCH">
    <p:bg>
      <p:bgPr>
        <a:solidFill>
          <a:srgbClr val="FDF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6A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游戏引擎基础 · 跟做指南 E · 弹珠台 · Unity 6.3 LTS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356616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3" name="Shape 1"/>
          <p:cNvSpPr/>
          <p:nvPr/>
        </p:nvSpPr>
        <p:spPr>
          <a:xfrm>
            <a:off x="8522208" y="367588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412480" y="3566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464040" y="356616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6" name="Shape 4"/>
          <p:cNvSpPr/>
          <p:nvPr/>
        </p:nvSpPr>
        <p:spPr>
          <a:xfrm>
            <a:off x="9573768" y="367588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464040" y="3566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0515600" y="356616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9" name="Shape 7"/>
          <p:cNvSpPr/>
          <p:nvPr/>
        </p:nvSpPr>
        <p:spPr>
          <a:xfrm>
            <a:off x="10625328" y="367588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0" y="3566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8938260" y="251460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C96A1"/>
          </a:solidFill>
          <a:ln/>
        </p:spPr>
      </p:sp>
      <p:sp>
        <p:nvSpPr>
          <p:cNvPr id="12" name="Shape 10"/>
          <p:cNvSpPr/>
          <p:nvPr/>
        </p:nvSpPr>
        <p:spPr>
          <a:xfrm>
            <a:off x="9047988" y="262432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38260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9989820" y="251460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2F6FEB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99548" y="262432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989820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9464040" y="146304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E07A2E"/>
          </a:solidFill>
          <a:ln/>
        </p:spPr>
      </p:sp>
      <p:sp>
        <p:nvSpPr>
          <p:cNvPr id="18" name="Shape 16"/>
          <p:cNvSpPr/>
          <p:nvPr/>
        </p:nvSpPr>
        <p:spPr>
          <a:xfrm>
            <a:off x="9573768" y="1572768"/>
            <a:ext cx="694944" cy="69494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464040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8046720" y="4663440"/>
            <a:ext cx="3931920" cy="164592"/>
          </a:xfrm>
          <a:prstGeom prst="roundRect">
            <a:avLst>
              <a:gd name="adj" fmla="val 27778"/>
            </a:avLst>
          </a:prstGeom>
          <a:solidFill>
            <a:srgbClr val="3A434D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73152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07A2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7315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跟做指南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1325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AEB7C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东明大学 游戏美术系 · 游戏引擎基础 · 游戏 E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19202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弹珠台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26974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从新建项目到打包</a:t>
            </a:r>
            <a:endParaRPr lang="en-US" sz="40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365760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D5DBE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从头按顺序跟着做，就能完成一个可以用 .exe 运行、能完整玩一局的游戏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C96A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基准版本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5394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Unity 6.3 LTS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301752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C96A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编辑器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3017520" y="5394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英文版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530352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C96A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任课教师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303520" y="5394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朴炡垣 · doo0303@naver.com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开始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完成后是这样的游戏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用挡板把滚下来的球打上去撞弹柱，用 3 个球冲 1000 分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669280" cy="4206240"/>
          </a:xfrm>
          <a:prstGeom prst="roundRect">
            <a:avLst>
              <a:gd name="adj" fmla="val 1304"/>
            </a:avLst>
          </a:prstGeom>
          <a:solidFill>
            <a:srgbClr val="EEF1F4"/>
          </a:solidFill>
          <a:ln/>
        </p:spPr>
      </p:sp>
      <p:sp>
        <p:nvSpPr>
          <p:cNvPr id="6" name="Shape 4"/>
          <p:cNvSpPr/>
          <p:nvPr/>
        </p:nvSpPr>
        <p:spPr>
          <a:xfrm>
            <a:off x="2213699" y="1923430"/>
            <a:ext cx="2339163" cy="3742660"/>
          </a:xfrm>
          <a:prstGeom prst="rect">
            <a:avLst/>
          </a:prstGeom>
          <a:solidFill>
            <a:srgbClr val="A8B0B9"/>
          </a:solidFill>
          <a:ln/>
        </p:spPr>
      </p:sp>
      <p:sp>
        <p:nvSpPr>
          <p:cNvPr id="7" name="Shape 5"/>
          <p:cNvSpPr/>
          <p:nvPr/>
        </p:nvSpPr>
        <p:spPr>
          <a:xfrm>
            <a:off x="2096740" y="1923430"/>
            <a:ext cx="116958" cy="3742660"/>
          </a:xfrm>
          <a:prstGeom prst="rect">
            <a:avLst/>
          </a:prstGeom>
          <a:solidFill>
            <a:srgbClr val="5F6B78"/>
          </a:solidFill>
          <a:ln/>
        </p:spPr>
      </p:sp>
      <p:sp>
        <p:nvSpPr>
          <p:cNvPr id="8" name="Shape 6"/>
          <p:cNvSpPr/>
          <p:nvPr/>
        </p:nvSpPr>
        <p:spPr>
          <a:xfrm>
            <a:off x="4552861" y="1923430"/>
            <a:ext cx="116958" cy="3742660"/>
          </a:xfrm>
          <a:prstGeom prst="rect">
            <a:avLst/>
          </a:prstGeom>
          <a:solidFill>
            <a:srgbClr val="5F6B78"/>
          </a:solidFill>
          <a:ln/>
        </p:spPr>
      </p:sp>
      <p:sp>
        <p:nvSpPr>
          <p:cNvPr id="9" name="Shape 7"/>
          <p:cNvSpPr/>
          <p:nvPr/>
        </p:nvSpPr>
        <p:spPr>
          <a:xfrm>
            <a:off x="2096740" y="1806472"/>
            <a:ext cx="2573079" cy="116958"/>
          </a:xfrm>
          <a:prstGeom prst="rect">
            <a:avLst/>
          </a:prstGeom>
          <a:solidFill>
            <a:srgbClr val="5F6B78"/>
          </a:solidFill>
          <a:ln/>
        </p:spPr>
      </p:sp>
      <p:sp>
        <p:nvSpPr>
          <p:cNvPr id="10" name="Shape 8"/>
          <p:cNvSpPr/>
          <p:nvPr/>
        </p:nvSpPr>
        <p:spPr>
          <a:xfrm rot="2190000">
            <a:off x="2131828" y="4929254"/>
            <a:ext cx="795315" cy="70175"/>
          </a:xfrm>
          <a:prstGeom prst="rect">
            <a:avLst/>
          </a:prstGeom>
          <a:solidFill>
            <a:srgbClr val="5F6B78"/>
          </a:solidFill>
          <a:ln/>
        </p:spPr>
      </p:sp>
      <p:sp>
        <p:nvSpPr>
          <p:cNvPr id="11" name="Shape 9"/>
          <p:cNvSpPr/>
          <p:nvPr/>
        </p:nvSpPr>
        <p:spPr>
          <a:xfrm rot="-2190000">
            <a:off x="3839417" y="4929254"/>
            <a:ext cx="795315" cy="70175"/>
          </a:xfrm>
          <a:prstGeom prst="rect">
            <a:avLst/>
          </a:prstGeom>
          <a:solidFill>
            <a:srgbClr val="5F6B78"/>
          </a:solidFill>
          <a:ln/>
        </p:spPr>
      </p:sp>
      <p:sp>
        <p:nvSpPr>
          <p:cNvPr id="12" name="Shape 10"/>
          <p:cNvSpPr/>
          <p:nvPr/>
        </p:nvSpPr>
        <p:spPr>
          <a:xfrm rot="1500000">
            <a:off x="2824220" y="5249719"/>
            <a:ext cx="467833" cy="93567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13" name="Shape 11"/>
          <p:cNvSpPr/>
          <p:nvPr/>
        </p:nvSpPr>
        <p:spPr>
          <a:xfrm rot="-1500000">
            <a:off x="3474507" y="5249719"/>
            <a:ext cx="467833" cy="93567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14" name="Shape 12"/>
          <p:cNvSpPr/>
          <p:nvPr/>
        </p:nvSpPr>
        <p:spPr>
          <a:xfrm>
            <a:off x="2892056" y="3069620"/>
            <a:ext cx="280700" cy="280700"/>
          </a:xfrm>
          <a:prstGeom prst="ellipse">
            <a:avLst/>
          </a:prstGeom>
          <a:solidFill>
            <a:srgbClr val="D04444"/>
          </a:solidFill>
          <a:ln/>
        </p:spPr>
      </p:sp>
      <p:sp>
        <p:nvSpPr>
          <p:cNvPr id="15" name="Shape 13"/>
          <p:cNvSpPr/>
          <p:nvPr/>
        </p:nvSpPr>
        <p:spPr>
          <a:xfrm>
            <a:off x="3593805" y="3069620"/>
            <a:ext cx="280700" cy="280700"/>
          </a:xfrm>
          <a:prstGeom prst="ellipse">
            <a:avLst/>
          </a:prstGeom>
          <a:solidFill>
            <a:srgbClr val="D04444"/>
          </a:solidFill>
          <a:ln/>
        </p:spPr>
      </p:sp>
      <p:sp>
        <p:nvSpPr>
          <p:cNvPr id="16" name="Shape 14"/>
          <p:cNvSpPr/>
          <p:nvPr/>
        </p:nvSpPr>
        <p:spPr>
          <a:xfrm>
            <a:off x="3242930" y="2601787"/>
            <a:ext cx="280700" cy="280700"/>
          </a:xfrm>
          <a:prstGeom prst="ellipse">
            <a:avLst/>
          </a:prstGeom>
          <a:solidFill>
            <a:srgbClr val="D04444"/>
          </a:solidFill>
          <a:ln/>
        </p:spPr>
      </p:sp>
      <p:sp>
        <p:nvSpPr>
          <p:cNvPr id="17" name="Shape 15"/>
          <p:cNvSpPr/>
          <p:nvPr/>
        </p:nvSpPr>
        <p:spPr>
          <a:xfrm>
            <a:off x="4143508" y="2215825"/>
            <a:ext cx="116958" cy="116958"/>
          </a:xfrm>
          <a:prstGeom prst="ellipse">
            <a:avLst/>
          </a:prstGeom>
          <a:solidFill>
            <a:srgbClr val="2F6FE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5916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俯视布局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83680" y="1783080"/>
            <a:ext cx="5056632" cy="658368"/>
          </a:xfrm>
          <a:prstGeom prst="roundRect">
            <a:avLst>
              <a:gd name="adj" fmla="val 16667"/>
            </a:avLst>
          </a:prstGeom>
          <a:solidFill>
            <a:srgbClr val="E5F4E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12280" y="178308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390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成功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726680" y="1783080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 个球后 ≥ 1000 分 → CLEAR!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583680" y="2551176"/>
            <a:ext cx="5056632" cy="658368"/>
          </a:xfrm>
          <a:prstGeom prst="roundRect">
            <a:avLst>
              <a:gd name="adj" fmla="val 16667"/>
            </a:avLst>
          </a:prstGeom>
          <a:solidFill>
            <a:srgbClr val="FCEAE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12280" y="2551176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D044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失败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726680" y="2551176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不足 1000 分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583680" y="3319272"/>
            <a:ext cx="5056632" cy="658368"/>
          </a:xfrm>
          <a:prstGeom prst="roundRect">
            <a:avLst>
              <a:gd name="adj" fmla="val 16667"/>
            </a:avLst>
          </a:prstGeom>
          <a:solidFill>
            <a:srgbClr val="E8F0F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812280" y="3319272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F6F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分数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726680" y="3319272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弹柱 +100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583680" y="4160520"/>
            <a:ext cx="5056632" cy="777240"/>
          </a:xfrm>
          <a:prstGeom prst="roundRect">
            <a:avLst>
              <a:gd name="adj" fmla="val 14118"/>
            </a:avLst>
          </a:prstGeom>
          <a:solidFill>
            <a:srgbClr val="F3F5F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812280" y="41605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操作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726680" y="41605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← 左挡板 · → 右挡板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583680" y="5074920"/>
            <a:ext cx="5056632" cy="777240"/>
          </a:xfrm>
          <a:prstGeom prst="roundRect">
            <a:avLst>
              <a:gd name="adj" fmla="val 14118"/>
            </a:avLst>
          </a:prstGeom>
          <a:solidFill>
            <a:srgbClr val="F3F5F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812280" y="50749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画面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726680" y="507492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标题 "MINI PINBALL" → 游戏 → 结果 · 俯视 · 正上方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开始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流程与菜单名称说明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每完成一个 STEP 就 Ctrl + S。卡住时看最后的“遇到问题时”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543800" y="1737360"/>
            <a:ext cx="4096512" cy="4343400"/>
          </a:xfrm>
          <a:prstGeom prst="roundRect">
            <a:avLst>
              <a:gd name="adj" fmla="val 2679"/>
            </a:avLst>
          </a:prstGeom>
          <a:solidFill>
            <a:srgbClr val="FFF7E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Unity 6.3 菜单名称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99832" y="230695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991856" y="2240280"/>
            <a:ext cx="3438144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UI 菜单为 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UI (Canvas)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，与旧版资料中的 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GameObject &gt; UI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是同一个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99832" y="278955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991856" y="2722880"/>
            <a:ext cx="3438144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文字 · 按钮为 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Text - TextMeshPro · Button - TextMeshPro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。有些版本显示为 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TextMesh Pro - Text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99832" y="348170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91856" y="3415030"/>
            <a:ext cx="34381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脚本不自己新建，使用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从云盘下载的文件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99832" y="375475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991856" y="3688080"/>
            <a:ext cx="34381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</a:t>
            </a:r>
            <a:pPr algn="l"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英文版</a:t>
            </a:r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编辑器为准</a:t>
            </a:r>
            <a:endParaRPr lang="en-US" sz="12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67208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4754880"/>
                <a:gridCol w="105156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STEP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内容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页码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新建项目 · 文件夹与场景 · 下载脚本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4~6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材质 · 摆放物体（照抄数字）· 摄像机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7~11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3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Canvas · 三个面板 · 文字和按钮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12~14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4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GameManager · 连接槽位 · 按钮 · 场景列表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15~21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5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操作与规则脚本 · 试玩一局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22~26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6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声音 · 背景音 · 粒子 · 填槽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27~29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7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Player 设置 · Windows 打包 · 测试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30~31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完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完成检查 · 遇到问题时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32~33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1 · 准备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新建项目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从 Unity Hub 开始。这是这个游戏专用的项目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94944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打开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Unity Hub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左侧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右上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New project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3137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86000"/>
            <a:ext cx="694944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确认上方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Editor Version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为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6000.3.x（6.3 LTS）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279806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284415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816352"/>
            <a:ext cx="694944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模板列表中选择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Universal 3D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055747"/>
            <a:ext cx="694944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第一次可能会出现 </a:t>
            </a:r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Download template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按钮 → 下载后继续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42671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726" y="347280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42671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445002"/>
            <a:ext cx="694944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 name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MiniPinball_学号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（例：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MiniPinball_20251234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）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684397"/>
            <a:ext cx="694944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只用英文 · 数字 · 下划线。不要中文 · 空格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05536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726" y="410145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40553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4073652"/>
            <a:ext cx="694944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确认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Location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Create project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等待编辑器打开（几分钟）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8321040" y="1737360"/>
            <a:ext cx="3319272" cy="4023360"/>
          </a:xfrm>
          <a:prstGeom prst="roundRect">
            <a:avLst>
              <a:gd name="adj" fmla="val 3306"/>
            </a:avLst>
          </a:prstGeom>
          <a:solidFill>
            <a:srgbClr val="F3F5F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549640" y="1938528"/>
            <a:ext cx="2862072" cy="302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首次打开的画面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577072" y="2383536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769096" y="2314194"/>
            <a:ext cx="2642616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中间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Scene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视图 · 旁边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标签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577072" y="2895600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769096" y="2826258"/>
            <a:ext cx="2642616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左侧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Hierarchy</a:t>
            </a:r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下方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577072" y="3407664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769096" y="3338322"/>
            <a:ext cx="26426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右侧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Inspector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577072" y="3701796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769096" y="3632454"/>
            <a:ext cx="2642616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SampleScene 里已经有 Main Camera · Directional Light · Global Volume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1 · 准备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整理文件夹与场景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自己做的东西全部放在 Assets/_Project 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40080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右键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窗口的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Assets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Create &gt; Folder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命名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3137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86000"/>
            <a:ext cx="640080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右键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重复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Create &gt; Folder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建 7 个：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Scenes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Prefabs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Materials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Textures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Audio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292938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297546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92938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947670"/>
            <a:ext cx="640080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Assets/Scenes/SampleScene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拖到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_Project/Scenes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345973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726" y="350582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345973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3478022"/>
            <a:ext cx="640080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选中 SampleScene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F2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命名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Enter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48640" y="399008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726" y="4036172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399008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4008374"/>
            <a:ext cx="640080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双击打开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Ctrl + S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7818120" y="1737360"/>
            <a:ext cx="3822192" cy="4206240"/>
          </a:xfrm>
          <a:prstGeom prst="roundRect">
            <a:avLst>
              <a:gd name="adj" fmla="val 1914"/>
            </a:avLst>
          </a:prstGeom>
          <a:solidFill>
            <a:srgbClr val="1F263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001000" y="182880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019288" y="2148840"/>
            <a:ext cx="3419856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_Project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Audio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Materials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Models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Prefabs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Scenes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│  └ Play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Scripts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 Textures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Settings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 （模板默认文件夹）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1 · 准备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下载脚本 · 确认输入设置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这个游戏需要的脚本就是下表这些。不要自己新建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66751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377440"/>
                <a:gridCol w="23774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文件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云盘文件夹（게임엔진기초_6주차_스크립트）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作用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GameManager.cs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中文注释版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标题 · 分数 · 时间 · 结果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Flipper.cs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中文注释版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挡板（第5周配方）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Bumper.cs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中文注释版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弹柱加分 · 弹开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Drain.cs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中文注释版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漏球 · 剩余球数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49808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7" name="Shape 4"/>
          <p:cNvSpPr/>
          <p:nvPr/>
        </p:nvSpPr>
        <p:spPr>
          <a:xfrm>
            <a:off x="754416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49808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046720" y="1755648"/>
            <a:ext cx="359359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从云盘下载文件 → 从资源管理器拖到 Unity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窗口的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_Project/Scripts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498080" y="23495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1" name="Shape 8"/>
          <p:cNvSpPr/>
          <p:nvPr/>
        </p:nvSpPr>
        <p:spPr>
          <a:xfrm>
            <a:off x="7544166" y="239558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498080" y="23495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046720" y="2367788"/>
            <a:ext cx="3593592" cy="6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Edit &gt; Project Settings...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Player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Other Settings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确认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Active Input Handling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System Package (New)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046720" y="3011678"/>
            <a:ext cx="3593592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只看不改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2 · 场景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制作材质（Material）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颜色不是装饰，而是“表示角色”。只做下表中的材质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530352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右键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_Project/Materials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Create &gt; Material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输入名称（例：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M_Gray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3825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42860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382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400808"/>
            <a:ext cx="530352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点击 Inspector 中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Base Map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右边的白色框 → 在颜色窗口的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Hexadecimal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栏输入表中的值 → 关闭窗口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0276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30737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02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3045968"/>
            <a:ext cx="530352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用同样方法做完表中所有材质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Ctrl + 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766560" y="1773936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A8B0B9"/>
          </a:solidFill>
          <a:ln/>
        </p:spPr>
      </p:sp>
      <p:sp>
        <p:nvSpPr>
          <p:cNvPr id="18" name="Shape 16"/>
          <p:cNvSpPr/>
          <p:nvPr/>
        </p:nvSpPr>
        <p:spPr>
          <a:xfrm>
            <a:off x="6830202" y="1837578"/>
            <a:ext cx="403068" cy="403068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766560" y="17739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7452360" y="1737360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M_Gray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452360" y="2039112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地面 · 墙 · 其余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9875520" y="1737360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A8B0B9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766560" y="2450592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2F6FEB"/>
          </a:solidFill>
          <a:ln/>
        </p:spPr>
      </p:sp>
      <p:sp>
        <p:nvSpPr>
          <p:cNvPr id="24" name="Shape 22"/>
          <p:cNvSpPr/>
          <p:nvPr/>
        </p:nvSpPr>
        <p:spPr>
          <a:xfrm>
            <a:off x="6830202" y="2514234"/>
            <a:ext cx="403068" cy="403068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766560" y="24505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7452360" y="2414016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M_Player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452360" y="2715768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我操控的东西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9875520" y="2414016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2F6FEB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766560" y="3127248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D04444"/>
          </a:solidFill>
          <a:ln/>
        </p:spPr>
      </p:sp>
      <p:sp>
        <p:nvSpPr>
          <p:cNvPr id="30" name="Shape 28"/>
          <p:cNvSpPr/>
          <p:nvPr/>
        </p:nvSpPr>
        <p:spPr>
          <a:xfrm>
            <a:off x="6830202" y="3190890"/>
            <a:ext cx="403068" cy="403068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766560" y="31272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7452360" y="3090672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M_Danger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452360" y="3392424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要击中或躲开的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9875520" y="3090672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D04444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766560" y="3803904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23905A"/>
          </a:solidFill>
          <a:ln/>
        </p:spPr>
      </p:sp>
      <p:sp>
        <p:nvSpPr>
          <p:cNvPr id="36" name="Shape 34"/>
          <p:cNvSpPr/>
          <p:nvPr/>
        </p:nvSpPr>
        <p:spPr>
          <a:xfrm>
            <a:off x="6830202" y="3867546"/>
            <a:ext cx="403068" cy="403068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766560" y="380390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700" dirty="0"/>
          </a:p>
        </p:txBody>
      </p:sp>
      <p:sp>
        <p:nvSpPr>
          <p:cNvPr id="38" name="Text 36"/>
          <p:cNvSpPr txBox="1"/>
          <p:nvPr/>
        </p:nvSpPr>
        <p:spPr>
          <a:xfrm>
            <a:off x="7452360" y="3767328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M_Goal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7452360" y="4069080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要到达 · 要守护的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9875520" y="3767328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23905A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2 · 场景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制作物体的通用方法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按这个方法逐行做出后面表格中的物体。数字照抄到 Inspector 的 Transform 栏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704088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图形：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GameObject &gt; 3D Object &gt; Cube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（或 Sphere · Capsule · Cylinder）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978533"/>
            <a:ext cx="704088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空物体：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GameObject &gt; Create Empty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（Ctrl + Shift + N）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29641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1" name="Shape 9"/>
          <p:cNvSpPr/>
          <p:nvPr/>
        </p:nvSpPr>
        <p:spPr>
          <a:xfrm>
            <a:off x="594726" y="234250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29641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314702"/>
            <a:ext cx="704088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做好后马上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F2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输入表中的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名称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Enter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279019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726" y="283627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279019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2808478"/>
            <a:ext cx="704088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 Inspector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Transform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的 Position · Rotation · Scale 栏输入表中的数字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031363"/>
            <a:ext cx="704088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“—” 表示保持默认（Rotation 0, 0, 0 · Scale 1, 1, 1）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3492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726" y="339533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33492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367532"/>
            <a:ext cx="704088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材质：把 Project 中的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M_…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拖到 Hierarchy 的物体上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38430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726" y="388910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38430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3861308"/>
            <a:ext cx="704088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└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表示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子物体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：做好后在 Hierarchy 中拖到上面的父物体上 → 然后再输入数字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4084193"/>
            <a:ext cx="704088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子物体的 Position 是相对父物体的坐标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40207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9" name="Shape 27"/>
          <p:cNvSpPr/>
          <p:nvPr/>
        </p:nvSpPr>
        <p:spPr>
          <a:xfrm>
            <a:off x="594726" y="444816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48640" y="440207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097280" y="4420362"/>
            <a:ext cx="704088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多个相同物体：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Ctrl + D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复制 → 只改名称 · 数字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8412480" y="1737360"/>
            <a:ext cx="3227832" cy="4023360"/>
          </a:xfrm>
          <a:prstGeom prst="roundRect">
            <a:avLst>
              <a:gd name="adj" fmla="val 3399"/>
            </a:avLst>
          </a:prstGeom>
          <a:solidFill>
            <a:srgbClr val="F3F5F7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641080" y="1938528"/>
            <a:ext cx="2770632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快捷键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668512" y="2402713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860536" y="2330704"/>
            <a:ext cx="255117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移动 · </a:t>
            </a:r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旋转 · </a:t>
            </a:r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缩放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8668512" y="2705227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860536" y="2633218"/>
            <a:ext cx="255117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聚焦选中物体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8668512" y="3007741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860536" y="2935732"/>
            <a:ext cx="255117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Ctrl + D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复制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8668512" y="3310255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860536" y="3238246"/>
            <a:ext cx="255117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F2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重命名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8668512" y="3612769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8860536" y="3540760"/>
            <a:ext cx="255117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Ctrl + Z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撤销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2 · 场景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台面 · 墙 · 导向墙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表中一行 = 一个物体。从上到下依次制作（1/2）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051560"/>
                <a:gridCol w="2286000"/>
                <a:gridCol w="1051560"/>
                <a:gridCol w="1645920"/>
                <a:gridCol w="1188720"/>
                <a:gridCol w="2176272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名称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图形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Position (X, Y, Z)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Rotation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Scale (X, Y, Z)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材质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备注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Table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Cube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0, -0.1, 0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10, 0.2, 16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M_Gray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上表面 = Y 0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Wall_L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Cube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-5.25, 0.5, 0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0.5, 1, 16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M_Gray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Wall_R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Cube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5.25, 0.5, 0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0.5, 1, 16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M_Gray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Wall_T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Cube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0, 0.5, 8.25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11, 1, 0.5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M_Gray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Guide_L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Cube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-3.65, 0.5, -5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0, 36.5, 0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3.4, 1, 0.3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M_Gray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导向左挡板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Guide_R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Cube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3.65, 0.5, -5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0, -36.5, 0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3.4, 1, 0.3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M_Gray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导向右挡板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2 · 场景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挡板 · 弹柱 · 球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表中一行 = 一个物体。从上到下依次制作（2/2）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051560"/>
                <a:gridCol w="2286000"/>
                <a:gridCol w="1051560"/>
                <a:gridCol w="1645920"/>
                <a:gridCol w="1188720"/>
                <a:gridCol w="217627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名称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图形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Position (X, Y, Z)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Rotation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Scale (X, Y, Z)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材质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备注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Flipper_L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空物体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-2.3, 0.5, -6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1, 1, 1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转轴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  └ Bar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Cube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1, 0, 0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2, 0.5, 0.4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M_Player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Flipper_L 的子物体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Flipper_R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空物体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2.3, 0.5, -6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1, 1, 1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转轴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  └ Bar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Cube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-1, 0, 0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2, 0.5, 0.4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M_Player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Flipper_R 的子物体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Bumper_1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Cylinder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-1.5, 0.5, 2.5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1.2, 0.5, 1.2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M_Danger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Bumper_2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Cylinder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1.5, 0.5, 2.5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1.2, 0.5, 1.2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M_Danger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Bumper_3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Cylinder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0, 0.5, 4.5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1.2, 0.5, 1.2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M_Danger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Ball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Sphere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3.5, 0.25, 6.5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0.5, 0.5, 0.5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M_Player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SpawnPoint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空物体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3.5, 0.25, 6.5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球的出发位置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DrainZone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Cube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0, -1, -9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12, 3, 3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挡板下方出口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2 · 场景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固定摄像机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这个游戏的摄像机不动。用数字一次设好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40080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标签上方的比例框（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 Aspect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）→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16:9 Aspect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3137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86000"/>
            <a:ext cx="640080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选中 Hierarchy 中的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Main Camera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Transform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Position (0, 16, 0)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Rotation (90, 0, 0)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292938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297546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92938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947670"/>
            <a:ext cx="640080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Camera 组件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Projection = Orthographic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Size = 8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187065"/>
            <a:ext cx="640080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像平面图一样没有透视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55803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726" y="360411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558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576320"/>
            <a:ext cx="640080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标签确认 → 与前面“完成后”的布局一样即成功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Ctrl + S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7909560" y="1737360"/>
            <a:ext cx="3703320" cy="3291840"/>
          </a:xfrm>
          <a:prstGeom prst="roundRect">
            <a:avLst>
              <a:gd name="adj" fmla="val 1667"/>
            </a:avLst>
          </a:prstGeom>
          <a:solidFill>
            <a:srgbClr val="EEF1F4"/>
          </a:solidFill>
          <a:ln/>
        </p:spPr>
      </p:sp>
      <p:sp>
        <p:nvSpPr>
          <p:cNvPr id="23" name="Shape 21"/>
          <p:cNvSpPr/>
          <p:nvPr/>
        </p:nvSpPr>
        <p:spPr>
          <a:xfrm>
            <a:off x="8857453" y="1937252"/>
            <a:ext cx="1807535" cy="2892056"/>
          </a:xfrm>
          <a:prstGeom prst="rect">
            <a:avLst/>
          </a:prstGeom>
          <a:solidFill>
            <a:srgbClr val="A8B0B9"/>
          </a:solidFill>
          <a:ln/>
        </p:spPr>
      </p:sp>
      <p:sp>
        <p:nvSpPr>
          <p:cNvPr id="24" name="Shape 22"/>
          <p:cNvSpPr/>
          <p:nvPr/>
        </p:nvSpPr>
        <p:spPr>
          <a:xfrm>
            <a:off x="8767076" y="1937252"/>
            <a:ext cx="90377" cy="2892056"/>
          </a:xfrm>
          <a:prstGeom prst="rect">
            <a:avLst/>
          </a:prstGeom>
          <a:solidFill>
            <a:srgbClr val="5F6B78"/>
          </a:solidFill>
          <a:ln/>
        </p:spPr>
      </p:sp>
      <p:sp>
        <p:nvSpPr>
          <p:cNvPr id="25" name="Shape 23"/>
          <p:cNvSpPr/>
          <p:nvPr/>
        </p:nvSpPr>
        <p:spPr>
          <a:xfrm>
            <a:off x="10664987" y="1937252"/>
            <a:ext cx="90377" cy="2892056"/>
          </a:xfrm>
          <a:prstGeom prst="rect">
            <a:avLst/>
          </a:prstGeom>
          <a:solidFill>
            <a:srgbClr val="5F6B78"/>
          </a:solidFill>
          <a:ln/>
        </p:spPr>
      </p:sp>
      <p:sp>
        <p:nvSpPr>
          <p:cNvPr id="26" name="Shape 24"/>
          <p:cNvSpPr/>
          <p:nvPr/>
        </p:nvSpPr>
        <p:spPr>
          <a:xfrm>
            <a:off x="8767076" y="1846875"/>
            <a:ext cx="1988288" cy="90377"/>
          </a:xfrm>
          <a:prstGeom prst="rect">
            <a:avLst/>
          </a:prstGeom>
          <a:solidFill>
            <a:srgbClr val="5F6B78"/>
          </a:solidFill>
          <a:ln/>
        </p:spPr>
      </p:sp>
      <p:sp>
        <p:nvSpPr>
          <p:cNvPr id="27" name="Shape 25"/>
          <p:cNvSpPr/>
          <p:nvPr/>
        </p:nvSpPr>
        <p:spPr>
          <a:xfrm rot="2190000">
            <a:off x="8794189" y="4259934"/>
            <a:ext cx="614562" cy="54226"/>
          </a:xfrm>
          <a:prstGeom prst="rect">
            <a:avLst/>
          </a:prstGeom>
          <a:solidFill>
            <a:srgbClr val="5F6B78"/>
          </a:solidFill>
          <a:ln/>
        </p:spPr>
      </p:sp>
      <p:sp>
        <p:nvSpPr>
          <p:cNvPr id="28" name="Shape 26"/>
          <p:cNvSpPr/>
          <p:nvPr/>
        </p:nvSpPr>
        <p:spPr>
          <a:xfrm rot="-2190000">
            <a:off x="10113689" y="4259934"/>
            <a:ext cx="614562" cy="54226"/>
          </a:xfrm>
          <a:prstGeom prst="rect">
            <a:avLst/>
          </a:prstGeom>
          <a:solidFill>
            <a:srgbClr val="5F6B78"/>
          </a:solidFill>
          <a:ln/>
        </p:spPr>
      </p:sp>
      <p:sp>
        <p:nvSpPr>
          <p:cNvPr id="29" name="Shape 27"/>
          <p:cNvSpPr/>
          <p:nvPr/>
        </p:nvSpPr>
        <p:spPr>
          <a:xfrm rot="1500000">
            <a:off x="9329219" y="4507567"/>
            <a:ext cx="361507" cy="72301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30" name="Shape 28"/>
          <p:cNvSpPr/>
          <p:nvPr/>
        </p:nvSpPr>
        <p:spPr>
          <a:xfrm rot="-1500000">
            <a:off x="9831714" y="4507567"/>
            <a:ext cx="361507" cy="72301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31" name="Shape 29"/>
          <p:cNvSpPr/>
          <p:nvPr/>
        </p:nvSpPr>
        <p:spPr>
          <a:xfrm>
            <a:off x="9381638" y="2822944"/>
            <a:ext cx="216904" cy="216904"/>
          </a:xfrm>
          <a:prstGeom prst="ellipse">
            <a:avLst/>
          </a:prstGeom>
          <a:solidFill>
            <a:srgbClr val="D04444"/>
          </a:solidFill>
          <a:ln/>
        </p:spPr>
      </p:sp>
      <p:sp>
        <p:nvSpPr>
          <p:cNvPr id="32" name="Shape 30"/>
          <p:cNvSpPr/>
          <p:nvPr/>
        </p:nvSpPr>
        <p:spPr>
          <a:xfrm>
            <a:off x="9923898" y="2822944"/>
            <a:ext cx="216904" cy="216904"/>
          </a:xfrm>
          <a:prstGeom prst="ellipse">
            <a:avLst/>
          </a:prstGeom>
          <a:solidFill>
            <a:srgbClr val="D04444"/>
          </a:solidFill>
          <a:ln/>
        </p:spPr>
      </p:sp>
      <p:sp>
        <p:nvSpPr>
          <p:cNvPr id="33" name="Shape 31"/>
          <p:cNvSpPr/>
          <p:nvPr/>
        </p:nvSpPr>
        <p:spPr>
          <a:xfrm>
            <a:off x="9652768" y="2461437"/>
            <a:ext cx="216904" cy="216904"/>
          </a:xfrm>
          <a:prstGeom prst="ellipse">
            <a:avLst/>
          </a:prstGeom>
          <a:solidFill>
            <a:srgbClr val="D04444"/>
          </a:solidFill>
          <a:ln/>
        </p:spPr>
      </p:sp>
      <p:sp>
        <p:nvSpPr>
          <p:cNvPr id="34" name="Shape 32"/>
          <p:cNvSpPr/>
          <p:nvPr/>
        </p:nvSpPr>
        <p:spPr>
          <a:xfrm>
            <a:off x="10348669" y="2163194"/>
            <a:ext cx="90377" cy="90377"/>
          </a:xfrm>
          <a:prstGeom prst="ellipse">
            <a:avLst/>
          </a:prstGeom>
          <a:solidFill>
            <a:srgbClr val="2F6FEB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001000" y="50474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俯视布局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544068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FDF0E4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77240" y="55686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要点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2176272" y="563422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2368296" y="555955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输入了数字但画面不同 → 再确认 Rotation 的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 · Y · Z 顺序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3 · 三个画面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创建 Canvas 并设定画面尺寸基准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所有 UI 都放在 Canvas 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67512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GameObject &gt; UI (Canvas) &gt; Canvas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986788"/>
            <a:ext cx="6675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会同时生成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EventSystem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，不要删除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3495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1" name="Shape 9"/>
          <p:cNvSpPr/>
          <p:nvPr/>
        </p:nvSpPr>
        <p:spPr>
          <a:xfrm>
            <a:off x="594726" y="239558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3495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367788"/>
            <a:ext cx="667512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选中 Canvas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Canvas Scaler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的 UI Scale Mode =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Scale With Screen Size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2830068"/>
            <a:ext cx="6675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Reference Resolution =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1920 × 1080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Match =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0.5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1927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726" y="32388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1927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211068"/>
            <a:ext cx="667512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右键 Canvas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UI (Canvas) &gt; Text - TextMeshPro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3442208"/>
            <a:ext cx="667512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弹出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TMP Importer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窗口 →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Import TMP Essentials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完成后关闭 → 刚生成的文字可以删除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0030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726" y="404912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400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4021328"/>
            <a:ext cx="667512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打开 Scene 视图上方的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2D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按钮 → 双击 Canvas 可看到整个 UI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4252468"/>
            <a:ext cx="6675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做完后再关掉 2D 按钮即回到 3D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92440" y="1737360"/>
            <a:ext cx="3547872" cy="1828800"/>
          </a:xfrm>
          <a:prstGeom prst="roundRect">
            <a:avLst>
              <a:gd name="adj" fmla="val 6000"/>
            </a:avLst>
          </a:prstGeom>
          <a:solidFill>
            <a:srgbClr val="FCEAE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321040" y="1737360"/>
            <a:ext cx="30906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中文 · 韩文会显示成方块（□）。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默认 TMP 字体里没有这些字。UI 文字请用英文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3 · 三个画面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三个面板 = 三个画面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名称请完全一致。文字照着输入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852160" cy="4389120"/>
          </a:xfrm>
          <a:prstGeom prst="roundRect">
            <a:avLst>
              <a:gd name="adj" fmla="val 1667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Hierarchy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148840"/>
            <a:ext cx="544982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Canvas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TitlePanel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TitleText     "MINI PINBALL"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GuideText     "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2A6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← → : FLIPPERS"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 StartButton   "START"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HudPanel      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2A6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← 背景透明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ScoreText     "SCORE 0"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TimeText      "TIME 0"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 InfoText      ""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 ResultPanel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├ ResultTitle   "CLEAR!"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├ ResultScore   "SCORE 0"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└ RetryButton   "RETRY"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67512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9" name="Shape 7"/>
          <p:cNvSpPr/>
          <p:nvPr/>
        </p:nvSpPr>
        <p:spPr>
          <a:xfrm>
            <a:off x="672120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7512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223760" y="1755648"/>
            <a:ext cx="441655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右键 Canvas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UI (Canvas) &gt; Panel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三次 → 分别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F2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改名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75120" y="23495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3" name="Shape 11"/>
          <p:cNvSpPr/>
          <p:nvPr/>
        </p:nvSpPr>
        <p:spPr>
          <a:xfrm>
            <a:off x="6721206" y="239558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75120" y="23495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2367788"/>
            <a:ext cx="441655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选中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HudPanel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点击 Image 组件的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Color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（透明度）设为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75120" y="29616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7" name="Shape 15"/>
          <p:cNvSpPr/>
          <p:nvPr/>
        </p:nvSpPr>
        <p:spPr>
          <a:xfrm>
            <a:off x="6721206" y="300772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75120" y="296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223760" y="2979928"/>
            <a:ext cx="441655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文字：右键面板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UI (Canvas) &gt; Text - TextMeshPro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输入名称 · 文字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75120" y="35737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1" name="Shape 19"/>
          <p:cNvSpPr/>
          <p:nvPr/>
        </p:nvSpPr>
        <p:spPr>
          <a:xfrm>
            <a:off x="6721206" y="36198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675120" y="35737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3592068"/>
            <a:ext cx="441655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按钮：右键面板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UI (Canvas) &gt; Button - TextMeshPro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在子物体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(TMP)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中改文字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3 · 三个画面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定位置 — 先选锚点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按住 Alt + Shift 点击 Rect Transform 左上方块（Anchor Presets），位置也会一起贴过去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286000"/>
                <a:gridCol w="1920240"/>
                <a:gridCol w="2103120"/>
                <a:gridCol w="1764792"/>
              </a:tblGrid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物体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锚点（Alt + Shift）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Pos X · Pos Y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Width × Height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Font Size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TitleText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top-center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 · -260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1400 × 160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110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GuideText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middle-center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 · 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1400 × 80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44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StartButton · RetryButton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bottom-center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 · 200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420 × 110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40（按钮文字）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ScoreText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top-left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40 · -40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600 × 80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52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TimeText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top-right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-40 · -40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500 × 80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52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InfoText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top-center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 · -40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900 × 70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40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ResultTitle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middle-center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 · 120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1400 × 160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120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ResultScore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middle-center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 · -40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1000 × 100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60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71500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8430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要点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590854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583387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Pos X · Pos Y 在贴好锚点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之后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输入。文字居中：TextMeshPro 的 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Alignment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中间按钮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创建 GameManager 物体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负责游戏开始 · 分数 · 时间 · 结束的管理者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12648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GameObject &gt; Create Empty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命名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GameManager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3137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86000"/>
            <a:ext cx="612648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Inspector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Add Component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搜索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Audio Source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选择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取消勾选 Play On Awake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764790"/>
            <a:ext cx="612648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这是音效扬声器。AudioClip 留空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135757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726" y="3181843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13575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154045"/>
            <a:ext cx="612648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 Project 中的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_Project/Scripts/GameManager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拖到 GameManager 物体的 Inspector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48640" y="3797427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726" y="3843513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79742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815715"/>
            <a:ext cx="612648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后面几页代码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仅供阅读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。下载了文件就不需要照着打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7543800" y="1737360"/>
            <a:ext cx="4096512" cy="3931920"/>
          </a:xfrm>
          <a:prstGeom prst="roundRect">
            <a:avLst>
              <a:gd name="adj" fmla="val 2791"/>
            </a:avLst>
          </a:prstGeom>
          <a:solidFill>
            <a:srgbClr val="F3F5F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0" y="1938528"/>
            <a:ext cx="3639312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代码要看的地方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799832" y="2405380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991856" y="2330704"/>
            <a:ext cx="341985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StartGame()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START 按钮调用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799832" y="2716276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991856" y="2641600"/>
            <a:ext cx="341985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AddScore(分数)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加分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799832" y="3027172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991856" y="2952496"/>
            <a:ext cx="3419856" cy="46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EndGame(true/false)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以成功 · 失败结束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799832" y="3572764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991856" y="3498088"/>
            <a:ext cx="341985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Retry()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RETRY 按钮调用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GameManager — 代码 (1/4)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通用 · 挂载位置：空物体 GameManager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UnityEngine.InputSystem;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UnityEngine.SceneManagement;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TMPro;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通用：标题 → 游戏 → 结果流程，分数 · 时间 · 音效 · 特效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挂载位置：空物体 GameManager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GameManager : MonoBehaviour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static GameManager Instance;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static bool IsPlaying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get { return Instance != null &amp;&amp; Instance.playing;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[Header("Panels")]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GameObject titlePanel;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GameObject hudPanel;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GameObject resultPanel;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8503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GameManager.cs  1/7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[Header("Texts")]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TMP_Text scoreText;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TMP_Text timeText;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TMP_Text infoText;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TMP_Text resultTitle;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TMP_Text resultScore;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string winMessage = "CLEAR!";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string loseMessage = "GAME OVER";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[Header("Time")]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0 表示不限时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float timeLimit = 60f;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勾选：时间到即成功（像打地鼠这种坚持型游戏）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bool winWhenTimeUp = false;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[Header("Sound")]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AudioSource sfxSource;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AudioClip winClip;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AudioClip loseClip;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int Score { get; private set;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float TimeLeft { get; private set;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bool playing;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static bool skipTitle;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GameManager.cs  2/7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GameManager — 代码 (2/4)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通用 · 挂载位置：空物体 GameManager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Awake()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Instance = this;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Start()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(skipTitle)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skipTitle = false;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StartGame();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标题画面时暂停时间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Time.timeScale = 0f;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ShowPanel(titlePanel);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8503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GameManager.cs  3/7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Update()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Keyboard kb = Keyboard.current;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(kb != null &amp;&amp; kb.escapeKey.wasPressedThisFrame)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打包后按 ESC 退出（编辑器中无效）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Application.Quit();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(!playing || timeLimit &lt;= 0f)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TimeLeft -= Time.deltaTime;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(TimeLeft &lt;= 0f)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TimeLeft = 0f;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EndGame(winWhenTimeUp);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RefreshHud();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GameManager.cs  4/7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GameManager — 代码 (3/4)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通用 · 挂载位置：空物体 GameManager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连接到标题画面的 START 按钮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StartGame()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Time.timeScale = 1f;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 = 0;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TimeLeft = timeLimit;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playing = true;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ShowPanel(hudPanel);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RefreshHud();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AddScore(int amount)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(!playing)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 += amount;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RefreshHud();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SetInfo(string message)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(infoText != null) infoText.text = message;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8503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GameManager.cs  5/7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成功传 true，失败传 false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EndGame(bool win)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(!playing)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playing = false;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ShowPanel(resultPanel);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(resultTitle != null)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resultTitle.text = win ? winMessage : loseMessage;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(resultScore != null)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resultScore.text = "SCORE " + Score;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PlaySfx(win ? winClip : loseClip);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连接到结果画面的 RETRY 按钮（跳过标题直接重开）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Retry()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skipTitle = true;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Time.timeScale = 1f;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SceneManager.LoadScene(SceneManager.GetActiveScene().name);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连接到结果画面的 TITLE 按钮（可选）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BackToTitle()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skipTitle = false;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Time.timeScale = 1f;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SceneManager.LoadScene(SceneManager.GetActiveScene().name);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GameManager.cs  6/7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GameManager — 代码 (4/4)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通用 · 挂载位置：空物体 GameManager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167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1072591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PlaySfx(AudioClip clip)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(sfxSource != null &amp;&amp; clip != null) sfxSource.PlayOneShot(clip);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SpawnFx(GameObject effectPrefab, Vector3 position)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(effectPrefab == null)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Instantiate(effectPrefab, position, Quaternion.identity);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RefreshHud()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(scoreText != null) scoreText.text = "SCORE " + Score;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(timeText != null)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int sec = Mathf.CeilToInt(TimeLeft);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timeText.text = timeLimit &gt; 0f ? "TIME " + sec : "";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ShowPanel(GameObject target)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(titlePanel != null) titlePanel.SetActive(titlePanel == target);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(hudPanel != null) hudPanel.SetActive(hudPanel == target);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(resultPanel != null) resultPanel.SetActive(resultPanel == target);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GameManager.cs  7/7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连接 Inspector 槽位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选中 GameManager，把 Hierarchy 中的物体拖到同名槽位</a:t>
            </a:r>
            <a:endParaRPr lang="en-US" sz="15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931920"/>
                <a:gridCol w="551383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分组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槽位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放入 · 数值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Panels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Title Panel · Hud Panel · Result Panel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TitlePanel · HudPanel · ResultPanel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Texts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Score Text · Time Text · Info Text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ScoreText · TimeText · InfoText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Result Title · Result Score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ResultTitle · ResultScore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Win Message · Lose Message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CLEAR!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 · </a:t>
                      </a:r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GAME OVER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Time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Time Limit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（不限时）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Win When Time Up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不勾选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Sound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Sfx Source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拖入同一物体上 </a:t>
                      </a:r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Audio Source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 组件的标题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Win Clip · Lose Clip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STEP 6 再填</a:t>
                      </a:r>
                      <a:endParaRPr lang="en-US" sz="13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852160"/>
            <a:ext cx="11091672" cy="502920"/>
          </a:xfrm>
          <a:prstGeom prst="roundRect">
            <a:avLst>
              <a:gd name="adj" fmla="val 18182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98017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要点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604570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597103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也可以点击槽位右侧的小圆圈按钮从列表中选择。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4 · GameManager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连接按钮 · 登记场景列表 · 第一次测试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为每个按钮指定“按下时调用 GameManager 的哪个函数”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67512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选中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StartButton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Button 组件下方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 Click ()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的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3137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86000"/>
            <a:ext cx="667512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 Hierarchy 中的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GameManager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拖到新出现的槽（None (Object)）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279806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284415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816352"/>
            <a:ext cx="667512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 Function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▾ 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GameManager &gt; StartGame ()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039237"/>
            <a:ext cx="667512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RetryButton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同样 →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GameManager &gt; Retry ()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39369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726" y="343978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39369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411982"/>
            <a:ext cx="667512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File &gt; Build Profiles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左侧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Windows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Open Scene List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Add Open Scenes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确认勾选 Play 场景 → 关闭窗口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857752"/>
            <a:ext cx="667512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RETRY 要重新加载场景，场景必须在列表里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212209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726" y="4258295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421220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4230497"/>
            <a:ext cx="667512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点击上方中间 ▶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标题 → START → HUD → 再按 ▶ 停止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4453382"/>
            <a:ext cx="6675120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这个游戏不限时，结果画面在 STEP 5 确认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092440" y="1737360"/>
            <a:ext cx="3547872" cy="3657600"/>
          </a:xfrm>
          <a:prstGeom prst="roundRect">
            <a:avLst>
              <a:gd name="adj" fmla="val 3093"/>
            </a:avLst>
          </a:prstGeom>
          <a:solidFill>
            <a:srgbClr val="E5F4E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321040" y="1847088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390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成功标志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348472" y="2282190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540496" y="2212848"/>
            <a:ext cx="28712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标题画面时什么都不动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348472" y="2550922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540496" y="2481580"/>
            <a:ext cx="28712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START → 标题消失，出现 SCORE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348472" y="2819654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540496" y="2750312"/>
            <a:ext cx="28712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Console 没有红色错误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348472" y="3088386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540496" y="3019044"/>
            <a:ext cx="28712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停止 → </a:t>
            </a:r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Ctrl + 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5 · 操作与规则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挂脚本并输入数值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从上到下依次进行。要拖的脚本在 Project 的 _Project/Scripts 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选中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Flipper_L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拖入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Flipper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Key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Left Arrow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Rest Angle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25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Hit Angle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-25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Speed 900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2494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29551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49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67712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选中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Flipper_R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Flipper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Key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Right Arrow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Rest Angle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-25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Hit Angle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25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Speed 900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276148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726" y="2807574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761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779776"/>
            <a:ext cx="1054303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选中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Ball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Add Component →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Rigidbody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（Collision Detection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Continuous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）→ Add Component →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Constant Force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Force (0, 0, -6)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225546"/>
            <a:ext cx="10543032" cy="189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Tag ▾ → </a:t>
            </a:r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Player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Constant Force 起台面倾斜的作用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561715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726" y="3607801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56171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580003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选中 Bumper_1 ~ 3 → Add Component →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Bumper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（Score 100 · Push Force 8）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4073779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726" y="4119865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" y="407377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4092067"/>
            <a:ext cx="1054303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DrainZone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勾选 Box Collider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Is Trigger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取消 Mesh Renderer →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Drain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Spawn Point ← SpawnPoint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Balls 3 · Target Score 1000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48640" y="566928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FDF0E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77240" y="57972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要点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176272" y="586282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2368296" y="578815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Tag ▾ → Player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在 Inspector 最上方名称下面。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Is Trigger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在 Collider 组件里。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5 · 操作与规则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Flipper — 代码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与第5周操作配方相同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UnityEngine.InputSystem;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配方 E：弹珠挡板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挂载位置：作为转轴的空物体（长条 Cube 为子物体）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[RequireComponent(typeof(Rigidbody))]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Flipper : MonoBehaviour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控制此挡板的按键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Key key = Key.LeftArrow;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静止角度 · 击打角度（Y 轴）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float restAngle = 25f;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float hitAngle = -25f;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每秒旋转角度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float speed = 900f;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Rigidbody rb;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float angle;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8503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Flipper.cs  1/2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Start()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 = GetComponent&lt;Rigidbody&gt;();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rb.isKinematic = true;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angle = restAngle;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FixedUpdate()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Keyboard kb = Keyboard.current;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(kb == null)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 down = kb[key].isPressed;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 target = down ? hitAngle : restAngle;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 step = speed * Time.fixedDeltaTime;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angle = Mathf.MoveTowards(angle, target, step);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rb.MoveRotation(Quaternion.Euler(0f, angle, 0f));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Flipper.cs  2/2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5 · 操作与规则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Bumper — 代码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第6周脚本 · 下载了文件只需阅读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167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1072591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弹柱：球碰到就加分并把球用力弹开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挂载位置：弹柱 Cylinder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Bumper : MonoBehaviour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int score = 100;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float pushForce = 8f;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AudioClip hitClip;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GameObject hitEffect;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OnCollisionEnter(Collision collision)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(!collision.gameObject.CompareTag("Player"))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(!GameManager.IsPlaying)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Rigidbody ball = collision.rigidbody;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Vector3 dir = collision.transform.position - transform.position;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dir.y = 0f;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ball.AddForce(dir.normalized * pushForce, ForceMode.Impulse);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GameManager gm = GameManager.Instance;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gm.AddScore(score);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gm.PlaySfx(hitClip);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gm.SpawnFx(hitEffect, collision.transform.position);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Bumper.cs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5 · 操作与规则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Drain — 代码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第6周脚本 · 下载了文件只需阅读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UnityEngine;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弹珠台底部出口：球掉入则剩余球数 -1，为 0 时结束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挂载位置：挡板下方勾选 Is Trigger 的区域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F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Drain : MonoBehaviour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Transform spawnPoint;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int balls = 3;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达到此分数为 CLEAR，否则 GAME OVER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int targetScore = 1000;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AudioClip loseBallClip;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Start()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ShowInfo();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OnTriggerEnter(Collider other)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(!other.CompareTag("Player") || !GameManager.IsPlaying) return;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8503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Drain.cs  1/2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1F26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819656"/>
            <a:ext cx="514807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GameManager gm = GameManager.Instance;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balls--;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gm.PlaySfx(loseBallClip);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ShowInfo();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(balls &lt;= 0)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gm.EndGame(gm.Score &gt;= targetScore);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9A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把球送回出发位置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Rigidbody rb = other.attachedRigidbody;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rb.linearVelocity = Vector3.zero;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rb.angularVelocity = Vector3.zero;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rb.position = spawnPoint.position;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ShowInfo()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info = "BALL " + balls + "   GOAL " + targetScore;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GameManager.Instance.SetInfo(info);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62872" y="1764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Drain.cs  2/2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5 · 操作与规则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试玩一局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按 ▶ Play 亲自玩。赢一局、输一局各一次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38728" cy="713232"/>
          </a:xfrm>
          <a:prstGeom prst="roundRect">
            <a:avLst>
              <a:gd name="adj" fmla="val 15385"/>
            </a:avLst>
          </a:prstGeom>
          <a:solidFill>
            <a:srgbClr val="E5F4E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78308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390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成功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78308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 个球后 ≥ 1000 分 → CLEAR!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25112" y="1783080"/>
            <a:ext cx="3538728" cy="713232"/>
          </a:xfrm>
          <a:prstGeom prst="roundRect">
            <a:avLst>
              <a:gd name="adj" fmla="val 15385"/>
            </a:avLst>
          </a:prstGeom>
          <a:solidFill>
            <a:srgbClr val="FCEAE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07992" y="178308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D044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失败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239512" y="178308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不足 1000 分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01584" y="1783080"/>
            <a:ext cx="3538728" cy="713232"/>
          </a:xfrm>
          <a:prstGeom prst="roundRect">
            <a:avLst>
              <a:gd name="adj" fmla="val 15385"/>
            </a:avLst>
          </a:prstGeom>
          <a:solidFill>
            <a:srgbClr val="E8F0F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84464" y="178308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F6F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分数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015984" y="178308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弹柱 +100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743200"/>
            <a:ext cx="6949440" cy="2743200"/>
          </a:xfrm>
          <a:prstGeom prst="roundRect">
            <a:avLst>
              <a:gd name="adj" fmla="val 4000"/>
            </a:avLst>
          </a:prstGeom>
          <a:solidFill>
            <a:srgbClr val="E5F4E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2852928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390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成功标志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4672" y="3288030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96696" y="3218688"/>
            <a:ext cx="6272784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START 后球从右上方滚下来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4672" y="3556762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96696" y="3487420"/>
            <a:ext cx="6272784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← → 抬起挡板，可以击球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04672" y="3825494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96696" y="3756152"/>
            <a:ext cx="6272784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碰到弹柱会弹开 +100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04672" y="4094226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96696" y="4024884"/>
            <a:ext cx="6272784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漏球 BALL −1 · 3 个用完 → 结果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772400" y="2743200"/>
            <a:ext cx="3867912" cy="1600200"/>
          </a:xfrm>
          <a:prstGeom prst="roundRect">
            <a:avLst>
              <a:gd name="adj" fmla="val 6857"/>
            </a:avLst>
          </a:prstGeom>
          <a:solidFill>
            <a:srgbClr val="FCEAE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001000" y="2743200"/>
            <a:ext cx="341071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球穿过挡板 → 确认 Continuous。球太慢 → Force Z 改为 −10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772400" y="4480560"/>
            <a:ext cx="3867912" cy="1005840"/>
          </a:xfrm>
          <a:prstGeom prst="roundRect">
            <a:avLst>
              <a:gd name="adj" fmla="val 10909"/>
            </a:avLst>
          </a:prstGeom>
          <a:solidFill>
            <a:srgbClr val="F3F5F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001000" y="44805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（可选）增加弹柱或修改 Target Score 调整难度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66928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FDF0E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77240" y="57972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要点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176272" y="586282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2368296" y="578815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做到这里，“完整一局”和“三个画面”就完成了。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Ctrl + S · 备份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6 · 反馈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获取声音 · 导入 · 扬声器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一定要记下来源（发表时要说）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94960" cy="2514600"/>
          </a:xfrm>
          <a:prstGeom prst="roundRect">
            <a:avLst>
              <a:gd name="adj" fmla="val 4364"/>
            </a:avLst>
          </a:prstGeom>
          <a:solidFill>
            <a:srgbClr val="F3F5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38528"/>
            <a:ext cx="4937760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去哪里找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04672" y="2402713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96696" y="2330704"/>
            <a:ext cx="471830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Kenney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（kenney.nl）— CC0，可不标注来源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04672" y="2705227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6696" y="2633218"/>
            <a:ext cx="471830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sfxr.me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按按钮生成音效 → Export .wav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4672" y="3007741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96696" y="2935732"/>
            <a:ext cx="4718304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Pixabay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音效 · 音乐，确认许可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45352" y="1737360"/>
            <a:ext cx="5394960" cy="2514600"/>
          </a:xfrm>
          <a:prstGeom prst="roundRect">
            <a:avLst>
              <a:gd name="adj" fmla="val 4364"/>
            </a:avLst>
          </a:prstGeom>
          <a:solidFill>
            <a:srgbClr val="F3F5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73952" y="1938528"/>
            <a:ext cx="4937760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背景音扬声器（新建）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01384" y="2402713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93408" y="2330704"/>
            <a:ext cx="4718304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GameObject &gt; Create Empty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BGM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Add Component → 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Audio Source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501384" y="2931541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93408" y="2859532"/>
            <a:ext cx="4718304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AudioClip = 背景音 · </a:t>
            </a:r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 On Awake ✓ · Loop ✓</a:t>
            </a:r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Volume </a:t>
            </a:r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0.3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4805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726" y="45266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4480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4498848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把下载的 .wav · .ogg · .mp3 拖进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_Project/Audio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名称用英文（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SFX_Hit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SFX_Win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SFX_Lose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BGM_Main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）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495604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726" y="5002134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4956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4974336"/>
            <a:ext cx="10543032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不要删除 Main Camera 的 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Audio Listener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（耳朵）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6 · 反馈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炸一下就消失的粒子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做一个 FX_Hit，再复制一个只改颜色的 FX_Win</a:t>
            </a:r>
            <a:endParaRPr lang="en-US" sz="15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9494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291840"/>
                <a:gridCol w="219456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位置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项目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值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Main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Duration · Looping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0.5 · </a:t>
                      </a:r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取消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Start Lifetime · Start Speed · Start Size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0.4 · 4 · 0.2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Start Color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适合游戏的颜色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Stop Action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Destroy</a:t>
                      </a:r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（播完自动删除）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Emission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Rate over Time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Bursts 的 </a:t>
                      </a:r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+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Count </a:t>
                      </a:r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Shape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Shape · Radius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Sphere · 0.2</a:t>
                      </a:r>
                      <a:endParaRPr lang="en-US" sz="12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16916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7" name="Shape 4"/>
          <p:cNvSpPr/>
          <p:nvPr/>
        </p:nvSpPr>
        <p:spPr>
          <a:xfrm>
            <a:off x="7818486" y="173772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321040" y="1709928"/>
            <a:ext cx="331927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GameObject &gt; Effects &gt; Particle System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命名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FX_Hit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772400" y="23037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1" name="Shape 8"/>
          <p:cNvSpPr/>
          <p:nvPr/>
        </p:nvSpPr>
        <p:spPr>
          <a:xfrm>
            <a:off x="7818486" y="23498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0" y="23037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321040" y="2322068"/>
            <a:ext cx="331927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按左表设置 → 在 Scene 视图确认“噗”地炸开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772400" y="29159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5" name="Shape 12"/>
          <p:cNvSpPr/>
          <p:nvPr/>
        </p:nvSpPr>
        <p:spPr>
          <a:xfrm>
            <a:off x="7818486" y="296200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772400" y="291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8321040" y="2934208"/>
            <a:ext cx="3319272" cy="6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 Hierarchy 中的 FX_Hit 拖到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_Project/Prefabs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删除 Hierarchy 中的 FX_Hit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772400" y="374269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6"/>
          <p:cNvSpPr/>
          <p:nvPr/>
        </p:nvSpPr>
        <p:spPr>
          <a:xfrm>
            <a:off x="7818486" y="378877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772400" y="374269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321040" y="3760978"/>
            <a:ext cx="3319272" cy="643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选中 Project 中的 FX_Hit →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Ctrl + D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命名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FX_Win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双击打开修改 Start Color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6 · 反馈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填槽 — 这个游戏的声音 · 特效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声音拖 _Project/Audio 中的文件，特效拖 _Project/Prefabs 中的 FX_</a:t>
            </a:r>
            <a:endParaRPr lang="en-US" sz="15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99832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要选中的物体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要填的槽 → 放入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GameManager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Win Clip · Lose Clip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Bumper_1 ~ 3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Hit Clip（叮！）· Hit Effect（FX_Hit）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DrainZone (Drain)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Lose Ball Clip</a:t>
                      </a:r>
                      <a:endParaRPr lang="en-US" sz="14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21208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FDF0E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3400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07A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要点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76272" y="5405628"/>
            <a:ext cx="73152" cy="73152"/>
          </a:xfrm>
          <a:prstGeom prst="rect">
            <a:avLst/>
          </a:prstGeom>
          <a:solidFill>
            <a:srgbClr val="E07A2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68296" y="5330952"/>
            <a:ext cx="9089136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留空也不会报错。先填</a:t>
            </a:r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得分 · 成功 · 失败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三个。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7 · 打包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Player 设置 → 用 Windows 打包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发表用打包好的 .exe。第一次打包要几分钟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76656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Edit &gt; Project Settings... &gt; Player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最上方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Product Name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MiniPinball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217928"/>
            <a:ext cx="67665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就是 exe 的名字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5806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1" name="Shape 9"/>
          <p:cNvSpPr/>
          <p:nvPr/>
        </p:nvSpPr>
        <p:spPr>
          <a:xfrm>
            <a:off x="594726" y="262672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580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598928"/>
            <a:ext cx="676656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展开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Resolution and Presentation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Fullscreen Mode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Fullscreen Window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061208"/>
            <a:ext cx="67665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ESC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退出（GameManager 里已写好）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239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726" y="347000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423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442208"/>
            <a:ext cx="676656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File &gt; Build Profiles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左侧选择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Windows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3673348"/>
            <a:ext cx="67665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名字旁没有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Active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时先点右下角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Switch Platform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0360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726" y="40821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40360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4054348"/>
            <a:ext cx="676656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Open Scene List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确认勾选 Play 场景 · 编号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45664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726" y="461249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48640" y="45664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4584700"/>
            <a:ext cx="676656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右下角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Build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在项目文件夹里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新建文件夹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并选择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97280" y="4815840"/>
            <a:ext cx="676656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绝对不要建在 Assets 文件夹里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83880" y="1737360"/>
            <a:ext cx="3456432" cy="2926080"/>
          </a:xfrm>
          <a:prstGeom prst="roundRect">
            <a:avLst>
              <a:gd name="adj" fmla="val 2500"/>
            </a:avLst>
          </a:prstGeom>
          <a:solidFill>
            <a:srgbClr val="1F263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366760" y="1828800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打包结果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385048" y="2148840"/>
            <a:ext cx="305409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MiniPinball.exe   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2A6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← 运行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MiniPinball_Data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UnityPlayer.dll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UnityCrashHandler64.exe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D3D12 · MonoBleedingEdge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 …_DoNotShip   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2A6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← 可删除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183880" y="4800600"/>
            <a:ext cx="3456432" cy="914400"/>
          </a:xfrm>
          <a:prstGeom prst="roundRect">
            <a:avLst>
              <a:gd name="adj" fmla="val 12000"/>
            </a:avLst>
          </a:prstGeom>
          <a:solidFill>
            <a:srgbClr val="FCEAE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412480" y="4800600"/>
            <a:ext cx="2999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只复制 .exe 无法运行。请</a:t>
            </a:r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整个 Build 文件夹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一起移动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STEP 7 · 打包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运行确认 · 压缩 · 在别的电脑测试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不要等到发表当天才第一次运行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6" name="Shape 4"/>
          <p:cNvSpPr/>
          <p:nvPr/>
        </p:nvSpPr>
        <p:spPr>
          <a:xfrm>
            <a:off x="594726" y="178344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55648"/>
            <a:ext cx="6675120" cy="478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双击 Build 文件夹中的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MiniPinball.exe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标题 → 玩一局 → RETRY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ESC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39903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726" y="244511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3990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417318"/>
            <a:ext cx="667512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“Windows 已保护你的电脑”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更多信息 → 仍要运行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656713"/>
            <a:ext cx="667512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自己做的程序没有签名，这是正常提示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0276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726" y="3073766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02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045968"/>
            <a:ext cx="667512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如有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…_BurstDebugInformation_DoNotShip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文件夹则删除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48640" y="355803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726" y="3604118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558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576320"/>
            <a:ext cx="667512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右键 Build 文件夹 → </a:t>
            </a:r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压缩(ZIP)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B548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게임엔진기초_6주차_学号_姓名.zip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48640" y="408838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07A2E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726" y="4134470"/>
            <a:ext cx="291876" cy="291876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" y="4088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4106672"/>
            <a:ext cx="6675120" cy="239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解压到别的文件夹或别的电脑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再运行一次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8092440" y="1737360"/>
            <a:ext cx="3547872" cy="3017520"/>
          </a:xfrm>
          <a:prstGeom prst="roundRect">
            <a:avLst>
              <a:gd name="adj" fmla="val 3636"/>
            </a:avLst>
          </a:prstGeom>
          <a:solidFill>
            <a:srgbClr val="E5F4E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321040" y="1847088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390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打包成功标志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348472" y="2282190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540496" y="2212848"/>
            <a:ext cx="28712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关闭 Unity 后只用 .exe 也能运行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348472" y="2550922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540496" y="2481580"/>
            <a:ext cx="28712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从标题画面开始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348472" y="2819654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540496" y="2750312"/>
            <a:ext cx="28712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有声音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348472" y="3088386"/>
            <a:ext cx="73152" cy="73152"/>
          </a:xfrm>
          <a:prstGeom prst="rect">
            <a:avLst/>
          </a:prstGeom>
          <a:solidFill>
            <a:srgbClr val="23905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540496" y="3019044"/>
            <a:ext cx="2871216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A434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RETRY · ESC 正常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收尾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完成检查 — Hierarchy 与必做四项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我的 Hierarchy 与左边一样，结构就完成了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6126480" cy="4389120"/>
          </a:xfrm>
          <a:prstGeom prst="roundRect">
            <a:avLst>
              <a:gd name="adj" fmla="val 1667"/>
            </a:avLst>
          </a:prstGeom>
          <a:solidFill>
            <a:srgbClr val="1F26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288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A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完成的 Hierarchy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148840"/>
            <a:ext cx="572414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Camera     (Orthographic)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Directional Light · Global Volume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GameManager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← GameManager · Audio Source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BGM   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← Audio Source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Canvas · EventSystem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 · Wall_L · Wall_R · Wall_T · Guide_L · Guide_R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Flipper_L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← Flipper  (└ Bar)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Flipper_R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← Flipper  (└ Bar)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Bumper_1 ~ 3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← Bumper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Ball  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← Rigidbody · Constant Force · Tag Player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SpawnPoint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DrainZone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2A65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← Drain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949440" y="1737360"/>
            <a:ext cx="4690872" cy="960120"/>
          </a:xfrm>
          <a:prstGeom prst="roundRect">
            <a:avLst>
              <a:gd name="adj" fmla="val 11429"/>
            </a:avLst>
          </a:prstGeom>
          <a:solidFill>
            <a:srgbClr val="F3F5F7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0" y="202996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6A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80960" y="1828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完整一局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680960" y="221284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标题 → 游戏 → 结果 → RETRY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949440" y="2834640"/>
            <a:ext cx="4690872" cy="960120"/>
          </a:xfrm>
          <a:prstGeom prst="roundRect">
            <a:avLst>
              <a:gd name="adj" fmla="val 11429"/>
            </a:avLst>
          </a:prstGeom>
          <a:solidFill>
            <a:srgbClr val="F3F5F7"/>
          </a:solidFill>
          <a:ln/>
        </p:spPr>
      </p:sp>
      <p:sp>
        <p:nvSpPr>
          <p:cNvPr id="13" name="Shape 11"/>
          <p:cNvSpPr/>
          <p:nvPr/>
        </p:nvSpPr>
        <p:spPr>
          <a:xfrm>
            <a:off x="7132320" y="312724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6A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80960" y="2926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三个画面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680960" y="33101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标题 · HUD · 结果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949440" y="3931920"/>
            <a:ext cx="4690872" cy="960120"/>
          </a:xfrm>
          <a:prstGeom prst="roundRect">
            <a:avLst>
              <a:gd name="adj" fmla="val 11429"/>
            </a:avLst>
          </a:prstGeom>
          <a:solidFill>
            <a:srgbClr val="F3F5F7"/>
          </a:solidFill>
          <a:ln/>
        </p:spPr>
      </p:sp>
      <p:sp>
        <p:nvSpPr>
          <p:cNvPr id="17" name="Shape 15"/>
          <p:cNvSpPr/>
          <p:nvPr/>
        </p:nvSpPr>
        <p:spPr>
          <a:xfrm>
            <a:off x="7132320" y="422452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6A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0" y="4023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反馈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680960" y="44074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得分 · 成功 · 失败有声音 + 特效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949440" y="5029200"/>
            <a:ext cx="4690872" cy="960120"/>
          </a:xfrm>
          <a:prstGeom prst="roundRect">
            <a:avLst>
              <a:gd name="adj" fmla="val 11429"/>
            </a:avLst>
          </a:prstGeom>
          <a:solidFill>
            <a:srgbClr val="F3F5F7"/>
          </a:solidFill>
          <a:ln/>
        </p:spPr>
      </p:sp>
      <p:sp>
        <p:nvSpPr>
          <p:cNvPr id="21" name="Shape 19"/>
          <p:cNvSpPr/>
          <p:nvPr/>
        </p:nvSpPr>
        <p:spPr>
          <a:xfrm>
            <a:off x="7132320" y="532180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8C96A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680960" y="5120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E242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Windows 打包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680960" y="55046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6B7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 .exe 在别的电脑运行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2E"/>
                </a:solidFill>
              </a:rPr>
              <a:t>收尾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8521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2B"/>
                </a:solidFill>
              </a:rPr>
              <a:t>遇到问题时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8"/>
                </a:solidFill>
              </a:rPr>
              <a:t>双击 Console 的红色错误会跳到出错行。先解决最上面的</a:t>
            </a:r>
            <a:endParaRPr lang="en-US" sz="15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6153912"/>
              </a:tblGrid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这种情况 · 信息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原因 → 解决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Scene 'Play' couldn't be loaded because it has not been added to the build settings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做 STEP 4 的场景列表登记（Build Profiles &gt; Open Scene List &gt; Add Open Scenes）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NullReferenceException · UnassignedReferenceException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Inspector 槽为空 → 找到信息里提到的槽并填好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InvalidOperationException … UnityEngine.Input class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选中 EventSystem → </a:t>
                      </a:r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Replace with InputSystemUIInputModule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按钮没反应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On Click 是否连接 GameManager 和函数 · 有没有 EventSystem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文字显示成 □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中文 · 韩文 → 改英文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判定（终点 · 坠落 · 出口等）没反应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球 Tag = Player · 勾选 Is Trigger · 球有 Rigidbody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一 Play 物体就弹开或掉下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再确认表中的 Position · Scale（重叠或悬空）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本游戏：球穿过挡板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A434D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确认 Continuous。球太慢 → Force Z 改为 −10</a:t>
                      </a:r>
                      <a:endParaRPr lang="en-US" sz="115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6A1"/>
                </a:solidFill>
                <a:latin typeface="Noto Sans SC"/>
                <a:ea typeface="Noto Sans SC"/>
                <a:cs typeface="Noto Sans SC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ayBox">
  <a:themeElements>
    <a:clrScheme name="GrayBox">
      <a:dk1>
        <a:srgbClr val="1E242B"/>
      </a:dk1>
      <a:lt1>
        <a:srgbClr val="FFFFFF"/>
      </a:lt1>
      <a:dk2>
        <a:srgbClr val="3A434D"/>
      </a:dk2>
      <a:lt2>
        <a:srgbClr val="F3F5F7"/>
      </a:lt2>
      <a:accent1>
        <a:srgbClr val="E07A2E"/>
      </a:accent1>
      <a:accent2>
        <a:srgbClr val="2F6FEB"/>
      </a:accent2>
      <a:accent3>
        <a:srgbClr val="23905A"/>
      </a:accent3>
      <a:accent4>
        <a:srgbClr val="D04444"/>
      </a:accent4>
      <a:accent5>
        <a:srgbClr val="8C96A1"/>
      </a:accent5>
      <a:accent6>
        <a:srgbClr val="7A5AF8"/>
      </a:accent6>
      <a:hlink>
        <a:srgbClr val="2F6FEB"/>
      </a:hlink>
      <a:folHlink>
        <a:srgbClr val="7A5AF8"/>
      </a:folHlink>
    </a:clrScheme>
    <a:fontScheme name="GrayBox">
      <a:majorFont>
        <a:latin typeface="Noto Sans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박정원</dc:creator>
  <cp:lastModifiedBy>박정원</cp:lastModifiedBy>
  <cp:revision>1</cp:revision>
  <dcterms:created xsi:type="dcterms:W3CDTF">2026-10-19T05:50:55Z</dcterms:created>
  <dcterms:modified xsi:type="dcterms:W3CDTF">2026-10-19T05:50:55Z</dcterms:modified>
</cp:coreProperties>
</file>