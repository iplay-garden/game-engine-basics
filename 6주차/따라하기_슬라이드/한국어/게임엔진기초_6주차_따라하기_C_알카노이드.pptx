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e97d646-c0a1-66e9-2a2f-f284d94f8075}">
          <p14:sldIdLst>
            <p14:sldId id="256"/>
            <p14:sldId id="257"/>
            <p14:sldId id="258"/>
          </p14:sldIdLst>
        </p14:section>
        <p14:section name="STEP 1" id="{9b6f052e-4377-04b7-d367-083631c72004}">
          <p14:sldIdLst>
            <p14:sldId id="259"/>
            <p14:sldId id="260"/>
            <p14:sldId id="261"/>
          </p14:sldIdLst>
        </p14:section>
        <p14:section name="STEP 2" id="{869c87c6-4584-efdd-8792-599fe92098c4}">
          <p14:sldIdLst>
            <p14:sldId id="262"/>
            <p14:sldId id="263"/>
            <p14:sldId id="264"/>
            <p14:sldId id="265"/>
            <p14:sldId id="266"/>
          </p14:sldIdLst>
        </p14:section>
        <p14:section name="STEP 3" id="{852d7615-3473-dd0b-47f3-3d75c6656f60}">
          <p14:sldIdLst>
            <p14:sldId id="267"/>
            <p14:sldId id="268"/>
            <p14:sldId id="269"/>
          </p14:sldIdLst>
        </p14:section>
        <p14:section name="STEP 4" id="{cf14e7f5-9007-e370-b194-eb080932cc34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STEP 5" id="{7acf18b7-029a-c47c-54bc-6e8d73b0d120}">
          <p14:sldIdLst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STEP 6" id="{c05e16ce-c7bd-9764-2690-5c9c7d4dbf5f}">
          <p14:sldIdLst>
            <p14:sldId id="284"/>
            <p14:sldId id="285"/>
            <p14:sldId id="286"/>
          </p14:sldIdLst>
        </p14:section>
        <p14:section name="STEP 7" id="{197cae80-75a9-43a9-c294-1e585904e990}">
          <p14:sldIdLst>
            <p14:sldId id="287"/>
            <p14:sldId id="288"/>
          </p14:sldIdLst>
        </p14:section>
        <p14:section name="마무리" id="{1ba5f466-88ab-75c4-aa46-5628e1c8d3eb}">
          <p14:sldIdLst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E07A2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42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F6B78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따라하기 C · 알카노이드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ITCH">
    <p:bg>
      <p:bgPr>
        <a:solidFill>
          <a:srgbClr val="FD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따라하기 C · 알카노이드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6404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6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93826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798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382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98982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F6F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9954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898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464040" y="14630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73768" y="157276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640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046720" y="4663440"/>
            <a:ext cx="3931920" cy="164592"/>
          </a:xfrm>
          <a:prstGeom prst="roundRect">
            <a:avLst>
              <a:gd name="adj" fmla="val 27778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731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따라하기 가이드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동명대학교 게임그래픽학과 · 게임엔진기초 · 게임 C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1920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알카노이드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프로젝트부터 빌드까지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657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DB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슬라이드를 처음부터 순서대로 따라 하면, 실행 파일(.exe)로 도는 한 판짜리 게임이 완성됩니다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버전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6.3 LTS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영문 버전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박정원 · doo0303@naver.com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시작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완성하면 이런 게임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패들로 공을 받아 튕겨 벽돌 15개를 모두 깬다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669280" cy="4206240"/>
          </a:xfrm>
          <a:prstGeom prst="roundRect">
            <a:avLst>
              <a:gd name="adj" fmla="val 1304"/>
            </a:avLst>
          </a:prstGeom>
          <a:solidFill>
            <a:srgbClr val="EEF1F4"/>
          </a:solidFill>
          <a:ln/>
        </p:spPr>
      </p:sp>
      <p:sp>
        <p:nvSpPr>
          <p:cNvPr id="6" name="Shape 4"/>
          <p:cNvSpPr/>
          <p:nvPr/>
        </p:nvSpPr>
        <p:spPr>
          <a:xfrm>
            <a:off x="1795112" y="1941897"/>
            <a:ext cx="3176337" cy="3705726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7" name="Shape 5"/>
          <p:cNvSpPr/>
          <p:nvPr/>
        </p:nvSpPr>
        <p:spPr>
          <a:xfrm>
            <a:off x="1662764" y="1941897"/>
            <a:ext cx="132347" cy="3705726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8" name="Shape 6"/>
          <p:cNvSpPr/>
          <p:nvPr/>
        </p:nvSpPr>
        <p:spPr>
          <a:xfrm>
            <a:off x="4971448" y="1941897"/>
            <a:ext cx="132347" cy="3705726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9" name="Shape 7"/>
          <p:cNvSpPr/>
          <p:nvPr/>
        </p:nvSpPr>
        <p:spPr>
          <a:xfrm>
            <a:off x="1662764" y="1809549"/>
            <a:ext cx="3441032" cy="132347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10" name="Shape 8"/>
          <p:cNvSpPr/>
          <p:nvPr/>
        </p:nvSpPr>
        <p:spPr>
          <a:xfrm>
            <a:off x="1980398" y="2259531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2562726" y="2259531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3145055" y="2259531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3727383" y="2259531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4309712" y="2259531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1980398" y="2497756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2562726" y="2497756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7" name="Shape 15"/>
          <p:cNvSpPr/>
          <p:nvPr/>
        </p:nvSpPr>
        <p:spPr>
          <a:xfrm>
            <a:off x="3145055" y="2497756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8" name="Shape 16"/>
          <p:cNvSpPr/>
          <p:nvPr/>
        </p:nvSpPr>
        <p:spPr>
          <a:xfrm>
            <a:off x="3727383" y="2497756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09712" y="2497756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1980398" y="2735981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2562726" y="2735981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2" name="Shape 20"/>
          <p:cNvSpPr/>
          <p:nvPr/>
        </p:nvSpPr>
        <p:spPr>
          <a:xfrm>
            <a:off x="3145055" y="2735981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3" name="Shape 21"/>
          <p:cNvSpPr/>
          <p:nvPr/>
        </p:nvSpPr>
        <p:spPr>
          <a:xfrm>
            <a:off x="3727383" y="2735981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4309712" y="2735981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5" name="Shape 23"/>
          <p:cNvSpPr/>
          <p:nvPr/>
        </p:nvSpPr>
        <p:spPr>
          <a:xfrm>
            <a:off x="3118585" y="5197642"/>
            <a:ext cx="529389" cy="105878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26" name="Shape 24"/>
          <p:cNvSpPr/>
          <p:nvPr/>
        </p:nvSpPr>
        <p:spPr>
          <a:xfrm>
            <a:off x="3330341" y="5038825"/>
            <a:ext cx="105878" cy="105878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5916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위에서 본 배치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1783080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5F4E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12280" y="17830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726680" y="17830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벽돌을 모두 깨면 CLEAR!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83680" y="2551176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12280" y="255117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726680" y="255117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공이 아래로 빠짐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83680" y="3319272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12280" y="331927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726680" y="331927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벽돌 하나 +10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583680" y="41605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812280" y="41605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조작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726680" y="4160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D 또는 ← → 이동 · Space 발사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583680" y="50749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812280" y="5074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7726680" y="50749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 "BRICK BREAKER" → 플레이 → 결과 · 탑뷰 · 위에서 똑바로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시작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진행 순서와 메뉴 이름 안내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한 STEP이 끝날 때마다 Ctrl + S. 막히면 맨 뒤 '막혔을 때' 쪽을 보세요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43800" y="1737360"/>
            <a:ext cx="4096512" cy="4343400"/>
          </a:xfrm>
          <a:prstGeom prst="roundRect">
            <a:avLst>
              <a:gd name="adj" fmla="val 2679"/>
            </a:avLst>
          </a:prstGeom>
          <a:solidFill>
            <a:srgbClr val="FFF7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6.3 메뉴 이름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99832" y="23069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91856" y="2240280"/>
            <a:ext cx="343814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메뉴는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입니다. 예전 버전 자료의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GameObject &gt; UI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와 같은 메뉴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99832" y="27895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91856" y="2722880"/>
            <a:ext cx="3438144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글자 · 버튼은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 - TextMeshPro · Button - TextMeshPro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빌드에 따라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TextMesh Pro - Text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처럼 순서가 바뀌어 보일 수 있음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99832" y="36912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91856" y="3624580"/>
            <a:ext cx="343814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스크립트는 직접 만들지 않고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드라이브에서 받은 파일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씁니다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99832" y="41738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91856" y="4107180"/>
            <a:ext cx="3438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에디터는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영문 버전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기준입니다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720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754880"/>
                <a:gridCol w="10515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할 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쪽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새 프로젝트 · 폴더와 씬 · 스크립트 받기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4~6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재질 · 물체 배치 (숫자 그대로) · 카메라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7~11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Canvas · 패널 3개 · 글자와 버튼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12~14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 · 칸 연결 · 버튼 · 씬 목록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15~21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조작과 규칙 스크립트 · 한 판 테스트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22~28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소리 · 배경음 · 파티클 · 칸 채우기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29~31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Player 설정 · Windows 빌드 · 테스트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32~33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완성 체크 · 막혔을 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34~35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준비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새 프로젝트 만들기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Unity Hub에서 시작합니다. 이 게임 전용 프로젝트입니다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Hub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실행 → 왼쪽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오른쪽 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New 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위쪽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Editor Version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6000.3.x (6.3 LTS)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인지 확인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목록에서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Universal 3D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55747"/>
            <a:ext cx="694944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처음이면 오른쪽에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Download template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버튼이 보일 수 있습니다 → 눌러서 받은 뒤 진행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63308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7917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63308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651377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name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BrickBreaker_학번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(예: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BrickBreaker_20251234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90772"/>
            <a:ext cx="694944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영어 · 숫자 · 밑줄만. 한글 · 띄어쓰기 금지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26173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30782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26173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280027"/>
            <a:ext cx="69494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Location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확인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에디터가 열릴 때까지 기다리기 (몇 분)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321040" y="1737360"/>
            <a:ext cx="3319272" cy="4023360"/>
          </a:xfrm>
          <a:prstGeom prst="roundRect">
            <a:avLst>
              <a:gd name="adj" fmla="val 3306"/>
            </a:avLst>
          </a:prstGeom>
          <a:solidFill>
            <a:srgbClr val="F3F5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549640" y="1938528"/>
            <a:ext cx="286207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 열린 화면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577072" y="238353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69096" y="2314194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가운데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뷰 · 옆에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탭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77072" y="289560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69096" y="2826258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아래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77072" y="34076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769096" y="3338322"/>
            <a:ext cx="26426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오른쪽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577072" y="370179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769096" y="3632454"/>
            <a:ext cx="264261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SampleScene 안에 Main Camera · Directional Light · Global Volume 이 이미 있습니다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준비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폴더와 씬 정리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내가 만드는 것은 모두 Assets/_Project 안에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창의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반복해 7개: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Prefabs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Textures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Assets/Scenes/SampleScene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_Project/Scenes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끌어다 옮기기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45973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50582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4597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78022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SampleScene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Enter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399008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726" y="403617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9900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008374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더블클릭으로 열기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818120" y="1737360"/>
            <a:ext cx="3822192" cy="4206240"/>
          </a:xfrm>
          <a:prstGeom prst="roundRect">
            <a:avLst>
              <a:gd name="adj" fmla="val 1914"/>
            </a:avLst>
          </a:prstGeom>
          <a:solidFill>
            <a:srgbClr val="1F263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1000" y="18288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019288" y="2148840"/>
            <a:ext cx="341985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_Project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Audio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Materials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Models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Prefabs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Scenes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└ Play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Scripts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Textures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Settings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(템플릿 기본 폴더)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준비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스크립트 받기 · 입력 설정 확인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 게임에 필요한 스크립트는 아래 표가 전부입니다. 직접 만들지 마세요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774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드라이브 폴더 (게임엔진기초_6주차_스크립트)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하는 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0_공통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타이틀 · 점수 · 시간 · 결과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PaddleMove.cs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C_알카노이드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패들 좌우 이동 (5주차 레시피)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Ball.cs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C_알카노이드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 발사 · 일정 속도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Brick.cs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C_알카노이드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벽돌 깨기 · 다 깨면 성공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EndZone.cs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C_알카노이드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들어오면 성공 · 실패로 끝냄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54416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1755648"/>
            <a:ext cx="359359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드라이브에서 파일 받기 → 파일 탐색기에서 Unity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창의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끌어 넣기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0" y="25641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544166" y="26102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0" y="25641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2582418"/>
            <a:ext cx="3593592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 &gt; Project Settings...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Other Settings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Active Input Handling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System Package (New)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인지 확인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3440938"/>
            <a:ext cx="359359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보기만 하고 바꾸지 않습니다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재질(Material) 만들기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색은 꾸미기가 아니라 '역할 표시'입니다. 아래 표의 재질만 만듭니다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_Project/Materials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&gt; Material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입력 (예: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825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286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82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0080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Inspector의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 Map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오른쪽 흰 칸 클릭 → 색 창의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Hexadecimal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칸에 표의 값 입력 → 창 닫기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45968"/>
            <a:ext cx="53035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표의 재질을 모두 같은 방법으로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177393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A8B0B9"/>
          </a:solidFill>
          <a:ln/>
        </p:spPr>
      </p:sp>
      <p:sp>
        <p:nvSpPr>
          <p:cNvPr id="18" name="Shape 16"/>
          <p:cNvSpPr/>
          <p:nvPr/>
        </p:nvSpPr>
        <p:spPr>
          <a:xfrm>
            <a:off x="6830202" y="1837578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1773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173736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203911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바닥 · 벽 · 나머지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875520" y="173736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A8B0B9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766560" y="245059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F6FEB"/>
          </a:solidFill>
          <a:ln/>
        </p:spPr>
      </p:sp>
      <p:sp>
        <p:nvSpPr>
          <p:cNvPr id="24" name="Shape 22"/>
          <p:cNvSpPr/>
          <p:nvPr/>
        </p:nvSpPr>
        <p:spPr>
          <a:xfrm>
            <a:off x="6830202" y="2514234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2450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241401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M_Player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71576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조작하는 것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875520" y="241401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2F6FEB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766560" y="312724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D0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6830202" y="3190890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0" y="3127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309067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M_Danger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339242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맞히거나 피할 것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875520" y="309067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D04444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766560" y="3803904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3905A"/>
          </a:solidFill>
          <a:ln/>
        </p:spPr>
      </p:sp>
      <p:sp>
        <p:nvSpPr>
          <p:cNvPr id="36" name="Shape 34"/>
          <p:cNvSpPr/>
          <p:nvPr/>
        </p:nvSpPr>
        <p:spPr>
          <a:xfrm>
            <a:off x="6830202" y="3867546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66560" y="38039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7452360" y="376732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M_Goal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452360" y="40690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도착 · 지켜야 하는 것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9875520" y="376732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23905A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물체를 만드는 공통 방법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다음 쪽의 표를 한 줄씩 이 방법으로 만듭니다. 숫자는 Inspector의 Transform 칸에 그대로 입력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도형: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3D Object &gt; Cube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(또는 Sphere · Capsule · Cylinder)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7853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오브젝트: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(Ctrl + Shift + N)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9641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4250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2964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1470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만들자마자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표의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입력 → Enter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7901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28362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7901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0847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 Position · Rotation · Scale 칸에 표의 숫자 입력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03136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'—' 는 기본값 그대로 (Rotation 0, 0, 0 · Scale 1, 1, 1)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492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339533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349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36753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재질: Project의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M_…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Hierarchy의 물체 위로 끌어다 놓기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38430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38891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8430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861308"/>
            <a:ext cx="704088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└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표시는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자식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만든 뒤 Hierarchy에서 위쪽 부모 위로 끌어다 놓기 → 그다음 숫자 입력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307078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자식의 Position은 부모 기준 좌표입니다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62495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726" y="467104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4624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4643247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물체 여러 개: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복제 → 이름 · 숫자만 고치기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412480" y="1737360"/>
            <a:ext cx="3227832" cy="4023360"/>
          </a:xfrm>
          <a:prstGeom prst="roundRect">
            <a:avLst>
              <a:gd name="adj" fmla="val 3399"/>
            </a:avLst>
          </a:prstGeom>
          <a:solidFill>
            <a:srgbClr val="F3F5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41080" y="1938528"/>
            <a:ext cx="277063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단축키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6851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860536" y="2330704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이동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회전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크기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66851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860536" y="2633218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선택한 물체로 화면 이동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66851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860536" y="2935732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D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복제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668512" y="33102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860536" y="3238246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이름 바꾸기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668512" y="361276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860536" y="3540760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Z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되돌리기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바닥 · 벽 · 패들 · 공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표의 한 줄 = 물체 하나. 위에서부터 차례로 (1/2)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도형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Position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Rotation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Scale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재질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메모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Floor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-0.1,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12, 0.2, 14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M_Gray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Wall_L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-6.25, 0.5, 0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0.5, 1, 14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M_Gray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Wall_R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6.25, 0.5, 0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0.5, 1, 14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M_Gray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Wall_T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0, 0.5, 7.25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13, 1, 0.5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M_Gray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Paddle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0.5, -5.5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2, 0.5, 0.4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M_Player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Ball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Sphere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0.5, -4.9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0.4, 0.4, 0.4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M_Player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패들과 같은 Y = 0.5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DeadZone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0.5, -7.5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14, 1, 1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패들 아래 화면 밖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벽돌 15개 (5칸 × 3줄)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표의 한 줄 = 물체 하나. 위에서부터 차례로 (2/2)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도형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Position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Rotation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Scale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재질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메모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Bricks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빈 오브젝트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0, 0, 0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벽돌 묶음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Brick_01 ~ 05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X: -4.4 · -2.2 · 0 · 2.2 · 4.4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1.8, 0.5, 0.6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M_Danger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 0.5 · Z 5.5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Brick_06 ~ 10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X 같게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1.8, 0.5, 0.6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M_Danger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 0.5 · Z 4.6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Brick_11 ~ 15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X 같게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1.8, 0.5, 0.6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M_Danger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 0.5 · Z 3.7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2064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248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팁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3141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23951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빠르게 만들기: Brick_01을 (-4.4, 0.5, 5.5)에 만들고 Ctrl+D로 4개 복제해 X만 바꾸기 → 그 5개를 모두 선택해 Ctrl+D → Z만 4.6으로 → 한 번 더 3.7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카메라 고정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 게임은 카메라가 움직이지 않습니다. 숫자로 한 번에 맞춥니다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탭 위쪽 화면비 칸 (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Aspect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16:9 Aspect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Hierarchy의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Camera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Transform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Position (0, 15, 0)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Rotation (90, 0, 0)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Camera 컴포넌트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Projection = Orthographic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Size = 7.5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87065"/>
            <a:ext cx="64008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원근 없이 평면도처럼 보입니다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7632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탭에서 확인 → 앞 쪽의 '완성 모습'과 같은 배치면 성공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909560" y="1737360"/>
            <a:ext cx="3703320" cy="3291840"/>
          </a:xfrm>
          <a:prstGeom prst="roundRect">
            <a:avLst>
              <a:gd name="adj" fmla="val 1667"/>
            </a:avLst>
          </a:prstGeom>
          <a:solidFill>
            <a:srgbClr val="EEF1F4"/>
          </a:solidFill>
          <a:ln/>
        </p:spPr>
      </p:sp>
      <p:sp>
        <p:nvSpPr>
          <p:cNvPr id="23" name="Shape 21"/>
          <p:cNvSpPr/>
          <p:nvPr/>
        </p:nvSpPr>
        <p:spPr>
          <a:xfrm>
            <a:off x="8533999" y="1951522"/>
            <a:ext cx="2454442" cy="2863516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24" name="Shape 22"/>
          <p:cNvSpPr/>
          <p:nvPr/>
        </p:nvSpPr>
        <p:spPr>
          <a:xfrm>
            <a:off x="8431731" y="1951522"/>
            <a:ext cx="102268" cy="2863516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88441" y="1951522"/>
            <a:ext cx="102268" cy="2863516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6" name="Shape 24"/>
          <p:cNvSpPr/>
          <p:nvPr/>
        </p:nvSpPr>
        <p:spPr>
          <a:xfrm>
            <a:off x="8431731" y="1849254"/>
            <a:ext cx="2658979" cy="102268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7" name="Shape 25"/>
          <p:cNvSpPr/>
          <p:nvPr/>
        </p:nvSpPr>
        <p:spPr>
          <a:xfrm>
            <a:off x="8677175" y="2196966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8" name="Shape 26"/>
          <p:cNvSpPr/>
          <p:nvPr/>
        </p:nvSpPr>
        <p:spPr>
          <a:xfrm>
            <a:off x="9127156" y="2196966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9" name="Shape 27"/>
          <p:cNvSpPr/>
          <p:nvPr/>
        </p:nvSpPr>
        <p:spPr>
          <a:xfrm>
            <a:off x="9577137" y="2196966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27118" y="2196966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31" name="Shape 29"/>
          <p:cNvSpPr/>
          <p:nvPr/>
        </p:nvSpPr>
        <p:spPr>
          <a:xfrm>
            <a:off x="10477099" y="2196966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32" name="Shape 30"/>
          <p:cNvSpPr/>
          <p:nvPr/>
        </p:nvSpPr>
        <p:spPr>
          <a:xfrm>
            <a:off x="8677175" y="2381049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33" name="Shape 31"/>
          <p:cNvSpPr/>
          <p:nvPr/>
        </p:nvSpPr>
        <p:spPr>
          <a:xfrm>
            <a:off x="9127156" y="2381049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34" name="Shape 32"/>
          <p:cNvSpPr/>
          <p:nvPr/>
        </p:nvSpPr>
        <p:spPr>
          <a:xfrm>
            <a:off x="9577137" y="2381049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27118" y="2381049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77099" y="2381049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37" name="Shape 35"/>
          <p:cNvSpPr/>
          <p:nvPr/>
        </p:nvSpPr>
        <p:spPr>
          <a:xfrm>
            <a:off x="8677175" y="2565133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38" name="Shape 36"/>
          <p:cNvSpPr/>
          <p:nvPr/>
        </p:nvSpPr>
        <p:spPr>
          <a:xfrm>
            <a:off x="9127156" y="2565133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39" name="Shape 37"/>
          <p:cNvSpPr/>
          <p:nvPr/>
        </p:nvSpPr>
        <p:spPr>
          <a:xfrm>
            <a:off x="9577137" y="2565133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40" name="Shape 38"/>
          <p:cNvSpPr/>
          <p:nvPr/>
        </p:nvSpPr>
        <p:spPr>
          <a:xfrm>
            <a:off x="10027118" y="2565133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41" name="Shape 39"/>
          <p:cNvSpPr/>
          <p:nvPr/>
        </p:nvSpPr>
        <p:spPr>
          <a:xfrm>
            <a:off x="10477099" y="2565133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42" name="Shape 40"/>
          <p:cNvSpPr/>
          <p:nvPr/>
        </p:nvSpPr>
        <p:spPr>
          <a:xfrm>
            <a:off x="9556683" y="4467325"/>
            <a:ext cx="409074" cy="81815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43" name="Shape 41"/>
          <p:cNvSpPr/>
          <p:nvPr/>
        </p:nvSpPr>
        <p:spPr>
          <a:xfrm>
            <a:off x="9720313" y="4344603"/>
            <a:ext cx="81815" cy="81815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001000" y="50474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위에서 본 배치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77240" y="5568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176272" y="56342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2368296" y="55595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숫자를 넣었는데도 다르게 보이면 Rotation의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· Y · Z 순서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다시 확인하세요.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화면 3개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Canvas 만들고 화면 크기 기준 정하기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UI는 모두 Canvas 안에 들어갑니다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UI (Canvas) &gt; Canvas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8678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EventSystem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 함께 생깁니다. 지우지 마세요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67788"/>
            <a:ext cx="66751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Scaler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 UI Scale Mode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Scale With Screen Size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8300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 Resolution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1920 × 1080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Match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92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238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192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21106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Text - TextMeshPro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442208"/>
            <a:ext cx="667512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TMP Importer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창이 뜨면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 TMP Essentials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끝나면 창 닫기 → 방금 생긴 글자는 지워도 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030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491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0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2132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Scene 뷰 위쪽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버튼 켜기 → Canvas 더블클릭하면 UI 전체가 보입니다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2524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작업이 끝나면 2D 버튼을 다시 끄면 3D로 돌아옵니다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92440" y="173736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21040" y="1737360"/>
            <a:ext cx="3090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한글은 네모(□)로 깨집니다.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기본 TMP 글꼴에 한글이 없습니다. UI 글자는 영어로 쓰세요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화면 3개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패널 3개 = 화면 3개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이름을 그대로 맞춰 주세요. 글자는 그대로 입력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85216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44982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TitlePanel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TitleText     "BRICK BREAKER"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GuideText     "A D : MOVE   SPACE : LAUNCH"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StartButton   "START"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HudPanel    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배경 투명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ScoreText  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TimeText      "TIME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InfoText      ""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ResultPanel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ResultTitle   "CLEAR!"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ResultScore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 RetryButton   "RETRY"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672120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75564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세 번 → 각각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이름 바꾸기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2120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36778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HudPanel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Image 컴포넌트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Color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(알파)를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296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1206" y="300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296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297992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글자: 패널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Text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· 글자 입력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357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1206" y="361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0" y="357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592068"/>
            <a:ext cx="441655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버튼: 패널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Button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버튼 아래 자식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(TMP)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에서 글자 바꾸기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화면 3개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위치 잡기 — 앵커부터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Rect Transform 왼쪽 위 네모(Anchor Presets)를 Alt + Shift 누른 채 클릭하면 위치까지 붙습니다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1920240"/>
                <a:gridCol w="2103120"/>
                <a:gridCol w="1764792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물체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앵커 (Alt + Shift)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Pos X · Pos Y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Width × Height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Font Size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TitleText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-260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1400 × 160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GuideText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middle-center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1400 × 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StartButton · RetryButton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bottom-center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200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420 × 110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 (버튼 글자)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ScoreText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top-left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600 × 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TimeText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top-right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-40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500 × 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InfoText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900 × 70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ResultTitle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middle-center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120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1400 × 160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ResultScore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middle-center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1000 × 100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8430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9085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83387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 X · Pos Y는 앵커를 붙인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뒤에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입력합니다. 글자 가운데 정렬: TextMeshPro의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Alignment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가운데 버튼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오브젝트 만들기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게임의 시작 · 점수 · 시간 · 끝을 맡는 관리자입니다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12648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Component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검색 →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 On Awake 체크 해제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764790"/>
            <a:ext cx="612648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효과음 스피커입니다. AudioClip 칸은 비워 둡니다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3575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18184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1357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54045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Project의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_Project/Scripts/GameManager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GameManager 오브젝트의 Inspector로 끌어다 놓기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79742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84351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79742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815715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쪽들의 코드는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읽기용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파일을 받았으면 따라 칠 필요 없습니다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543800" y="1737360"/>
            <a:ext cx="4096512" cy="3931920"/>
          </a:xfrm>
          <a:prstGeom prst="roundRect">
            <a:avLst>
              <a:gd name="adj" fmla="val 2791"/>
            </a:avLst>
          </a:prstGeom>
          <a:solidFill>
            <a:srgbClr val="F3F5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0" y="1938528"/>
            <a:ext cx="363931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코드에서 볼 곳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99832" y="240538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91856" y="2330704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StartGame()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START 버튼이 부른다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99832" y="271627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91856" y="2641600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AddScore(점수)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점수 올리기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99832" y="302717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91856" y="2952496"/>
            <a:ext cx="341985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EndGame(true/false)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성공 · 실패로 끝내기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99832" y="35727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91856" y="3498088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RETRY 버튼이 부른다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(1/4)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UnityEngine.SceneManagement;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TMPro;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공통: 타이틀 → 플레이 → 결과 흐름, 점수 · 시간 · 소리 · 이펙트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빈 오브젝트 GameManager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GameManager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GameManager 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bool IsPlaying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 { return Instance != null &amp;&amp; Instance.playing;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[Header("Panels")]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titlePanel;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hudPanel;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resultPanel;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1/7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[Header("Texts")]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scoreText;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timeText;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infoText;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resultTitle;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winMessage = "CLEAR!";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loseMessage = "GAME OVER";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[Header("Time")]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0이면 시간 제한 없음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timeLimit = 60f;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체크: 시간이 끝나면 성공 (두더지처럼 버티는 게임)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bool winWhenTimeUp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[Header("Sound")]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AudioSource sfxSource;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winClip;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loseClip;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Score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TimeLeft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playing;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bool skipTitle;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2/7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(2/4)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Awake()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Instance = this;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(skipTitle)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StartGame();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타이틀에서는 시간을 멈춰 둔다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Time.timeScale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ShowPanel(titlePanel);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3/7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!= null &amp;&amp; kb.escapeKey.wasPressedThisFrame)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빌드에서 ESC = 게임 종료 (에디터에서는 무시됨)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Application.Quit();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 || timeLimit &lt;= 0f)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-= Time.deltaTime;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(TimeLeft &lt;= 0f)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TimeLeft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EndGame(winWhenTimeUp);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4/7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(3/4)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타이틀의 START 버튼에 연결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StartGame()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= timeLimit;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ShowPanel(hudPanel);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AddScore(int amount)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+= amount;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SetInfo(string message)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(infoText != null) infoText.text = 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5/7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성공이면 true, 실패면 false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EndGame(bool win)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ShowPanel(resultPanel);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(resultTitle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resultTitle.text = win ? winMessage : loseMessage;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(resultScore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resultScore.text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PlaySfx(win ? winClip : loseClip);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결과의 RETRY 버튼에 연결 (타이틀 없이 바로 다시 시작)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Retry()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결과의 TITLE 버튼에 연결 (선택)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BackToTitle()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6/7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(4/4)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PlaySfx(AudioClip clip)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(sfxSource != null &amp;&amp; clip != null) sfxSource.PlayOneShot(clip);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SpawnFx(GameObject effectPrefab, Vector3 position)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(effectPrefab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Instantiate(effectPrefab, position, Quaternion.identity);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RefreshHud()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(scoreText != null) scoreText.text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(timeText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 sec = Mathf.CeilToInt(TimeLeft);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timeText.text = timeLimit &gt; 0f ? "TIME " + sec : "";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ShowPanel(GameObject target)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(titlePanel != null) titlePanel.SetActive(titlePanel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(hudPanel != null) hudPanel.SetActive(hudPanel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(resultPanel != null) resultPanel.SetActive(resultPanel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7/7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Inspector 칸 연결하기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GameManager를 선택하고, Hierarchy의 물체를 같은 이름의 칸으로 끌어다 놓습니다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931920"/>
                <a:gridCol w="55138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묶음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넣을 것 · 값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Panels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Title Panel · Hud Panel · Result Panel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TitlePanel · HudPanel · ResultPanel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Texts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Score Text · Time Text · Info 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ScoreText · TimeText · InfoText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 Title · Result Score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ResultTitle · ResultScore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Message · Lose Message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CLEAR!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 OVER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Time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Time Limit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(시간 제한 없음)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When Time Up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체크 안 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Sound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Sfx Source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같은 오브젝트의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Audio Source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컴포넌트 제목을 끌어다 놓기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Clip · Lose Clip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 6에서 채움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980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60457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9710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칸 이름 앞에 작은 동그라미 버튼을 눌러 목록에서 골라도 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버튼 연결 · 씬 목록 등록 · 첫 테스트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버튼마다 '눌렀을 때 GameManager의 어떤 함수를 부를지' 정합니다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StartButton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Button 컴포넌트 아래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 Click ()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생긴 칸(None (Object))에 Hierarchy의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끌어다 놓기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Function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▾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 &gt; StartGame ()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39237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RetryButton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 같은 방법 →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 &gt; Retry ()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9369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3978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3936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11982"/>
            <a:ext cx="66751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왼쪽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Open Scenes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Play 씬 체크 확인 → 창 닫기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5775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RETRY가 씬을 다시 불러오려면 씬이 목록에 있어야 합니다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1220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25829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2122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230497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위쪽 가운데 ▶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타이틀 → START → HUD → ▶ 다시 눌러 Stop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45338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게임은 시간 제한이 없어 결과 화면은 STEP 5에서 확인합니다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92440" y="1737360"/>
            <a:ext cx="3547872" cy="3657600"/>
          </a:xfrm>
          <a:prstGeom prst="roundRect">
            <a:avLst>
              <a:gd name="adj" fmla="val 3093"/>
            </a:avLst>
          </a:prstGeom>
          <a:solidFill>
            <a:srgbClr val="E5F4E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확인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212848"/>
            <a:ext cx="28712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타이틀에서는 아무것도 움직이지 않는다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27688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699512"/>
            <a:ext cx="28712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 → 타이틀이 사라지고 SCORE가 보인다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3255518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3186176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Console에 빨간 에러가 없다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48472" y="352425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40496" y="3454908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Stop →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스크립트 붙이고 값 넣기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위에서부터 차례로. 끌어다 놓을 스크립트는 Project의 _Project/Scripts 에 있습니다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_Project/Materials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&gt; Physics Material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PM_Bounce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78533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Dynamic Friction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Static Friction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Bounciness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Friction Combine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Minimum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Bounce Combine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Maximum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1470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6078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147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32990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Paddle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PaddleMove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끌어다 놓기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Speed 10 · Limit X 5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82676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287285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82676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45054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Ball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끌어다 놓기 (Rigidbody 자동)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Paddle 칸 ← Paddle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끌기 · Speed 8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067939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Tag ▾ →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Sphere Collider의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Material ← PM_Bounce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4041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345019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4041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422396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Brick_01 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Shift + 클릭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Brick_15 → Add Component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Brick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39161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396225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9161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934460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DeadZone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Box Collider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 Trigger ✓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Mesh Renderer 해제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EndZone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(Is Win 해제)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5797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176272" y="58628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368296" y="578815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Tag ▾ → Player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는 Inspector 맨 위 이름 아래에 있습니다.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 Trigger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는 Collider 컴포넌트 안에 있습니다.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PaddleMove — 코드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5주차 조작 레시피 그대로입니다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레시피 B: 키보드로 좌우 이동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패들 · 바구니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[RequireComponent(typeof(Rigidbody))]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PaddleMove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초당 이동 거리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speed = 8f;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가운데(X=0)에서 좌우 끝까지 거리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limitX = 4f;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Rigidbody rb;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dir;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 = GetComponent&lt;Rigidbody&gt;();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rb.isKinematic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PaddleMove.cs  1/2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(kb.aKey.isPressed || kb.leftArrowKey.isPressed) dir -=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(kb.dKey.isPressed || kb.rightArrowKey.isPressed) dir +=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FixedUpdate()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pos = rb.position;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pos.x += dir * speed * Time.fixedDeltaTime;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pos.x = Mathf.Clamp(pos.x, -limitX, limitX);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rb.MovePosition(pos);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PaddleMove.cs  2/2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Ball — 코드 (1/2)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스크립트 · 파일로 받았다면 읽기만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알카노이드 공: Space로 발사, 늘 같은 속도로 튕긴다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공 Sphere (Tag = Player)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[RequireComponent(typeof(Rigidbody))]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Ball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speed = 8f;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발사 전 공이 따라다닐 패들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Transform paddle;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Vector3 offset = new Vector3(0f, 0f, 0.6f);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bounceClip;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Rigidbody rb;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launched;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 = GetComponent&lt;Rigidbody&gt;();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rb.useGravity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rb.isKinematic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rb.collisionDetectionMode = CollisionDetectionMode.Continuous;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rb.constraints = RigidbodyConstraints.FreezePositionY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| RigidbodyConstraints.FreezeRotation;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Ball.cs  1/3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(launched || 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발사 전에는 패들 위에 붙어 있다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transform.position = paddle.position + offset;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!= null &amp;&amp; kb.spaceKey.wasPressedThisFrame)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launched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rb.isKinematic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rb.linearVelocity = new Vector3(0.5f, 0f, 1f).normalized * speed;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FixedUpdate()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(!launched) return;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Ball.cs  2/3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Ball — 코드 (2/2)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스크립트 · 파일로 받았다면 읽기만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v = rb.linearVelocity;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v.y = 0f;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옆으로만 오가며 끝나지 않는 것을 막는다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minZ = 0.3f;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(v.sqrMagnitude &lt; 0.01f) v = Vector3.forward;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 = v.normalized;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(Mathf.Abs(v.z) &lt; minZ) v.z = v.z &gt;= 0f ? minZ : -minZ;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rb.linearVelocity = v.normalized * speed;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OnCollisionEnter(Collision collision)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GameManager.Instance.PlaySfx(bounceClip);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패들의 어디에 맞았는지로 튕기는 각도를 바꾼다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(collision.gameObject.GetComponent&lt;PaddleMove&gt;() != null)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Transform p = collision.transform;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float half = p.localScale.x * 0.5f;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float x = (transform.position.x - p.position.x) / half;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x = Mathf.Clamp(x, -1f, 1f);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rb.linearVelocity = new Vector3(x, 0f, 1f).normalized * speed;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Ball.cs  3/3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Brick — 코드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스크립트 · 파일로 받았다면 읽기만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벽돌: 공에 맞으면 사라지고, 다 사라지면 성공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각 벽돌 Cube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Brick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score = 10;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breakClip;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breakEffect;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남은 벽돌 수 (자동으로 센다)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int remaining;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OnEnable()  { remaining++;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OnDisable() { remaining--;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Brick.cs  1/2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OnCollisionEnter(Collision collision)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(!collision.gameObject.CompareTag("Player"))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 gm = GameManager.Instance;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gm.AddScore(score);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gm.PlaySfx(breakClip);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gm.SpawnFx(breakEffect, transform.position);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gameObject.SetActive(false);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Destroy(gameObject);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(remaining &lt;= 0) gm.EndGame(true);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Brick.cs  2/2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EndZone — 코드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스크립트 · 파일로 받았다면 읽기만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공통: 공(Player 태그)이 들어오면 게임을 끝내는 구역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골인 지점이면 Is Win 체크, 떨어지는 구역이면 비움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Is Trigger를 켠 Collider가 있는 물체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EndZone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bool isWin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성공 때 남은 시간 1초당 보너스 점수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bonusPerSecond = 10;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effect;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OnTriggerEnter(Collider other)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(!other.CompareTag("Player") || 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 gm = GameManager.Instance;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(isWin)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gm.AddScore(Mathf.CeilToInt(gm.TimeLeft) * bonusPerSecond);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gm.PlaySfx(clip);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gm.SpawnFx(effect, other.transform.position);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gm.EndGame(isWin);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EndZone.cs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한 판 테스트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▶ Play 로 직접 해 봅니다. 이기는 판 · 지는 판을 각각 한 번씩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5F4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벽돌을 모두 깨면 CLEAR!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FCEA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07992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39512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공이 아래로 빠짐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01584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8F0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84464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015984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벽돌 하나 +10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6949440" cy="2743200"/>
          </a:xfrm>
          <a:prstGeom prst="roundRect">
            <a:avLst>
              <a:gd name="adj" fmla="val 4000"/>
            </a:avLst>
          </a:prstGeom>
          <a:solidFill>
            <a:srgbClr val="E5F4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85292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확인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" y="328803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6696" y="3218688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 후 공이 패들 위에서 따라다닌다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" y="355676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6696" y="3487420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Space → 발사, 같은 속도로 계속 튕긴다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" y="382549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6696" y="3756152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벽돌이 깨지며 +10, 15개를 다 깨면 CLEAR!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" y="409422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96696" y="4024884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공을 놓치면 GAME OVER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0" y="2743200"/>
            <a:ext cx="3867912" cy="1600200"/>
          </a:xfrm>
          <a:prstGeom prst="roundRect">
            <a:avLst>
              <a:gd name="adj" fmla="val 6857"/>
            </a:avLst>
          </a:prstGeom>
          <a:solidFill>
            <a:srgbClr val="FCEA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01000" y="2743200"/>
            <a:ext cx="34107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공이 느려지거나 벽에 붙어 미끄러지면 → PM_Bounce가 공의 Sphere Collider에 들어갔는지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0" y="4480560"/>
            <a:ext cx="3867912" cy="1005840"/>
          </a:xfrm>
          <a:prstGeom prst="roundRect">
            <a:avLst>
              <a:gd name="adj" fmla="val 10909"/>
            </a:avLst>
          </a:prstGeom>
          <a:solidFill>
            <a:srgbClr val="F3F5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01000" y="4480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(선택) 벽돌 줄을 늘리거나 Speed를 올려 난이도 조절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797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76272" y="58628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68296" y="57881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여기까지 되면 '한 판 완주'와 '화면 3개'가 끝난 것입니다.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 · 백업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반응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소리 구하기 · 가져오기 · 스피커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어디서 받았는지 꼭 적어 두세요 (발표 때 말합니다)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어디서 구하나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330704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Kenney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(kenney.nl) — CC0, 출처 표기 없이 사용 가능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859532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sfxr.me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버튼으로 효과음 생성 → Export .wav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" y="32340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3162046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Pixabay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효과음 · 음악, 라이선스 확인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45352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배경음 스피커 (새로)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01384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93408" y="2330704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Create Empty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Add Component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01384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2859532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AudioClip = 배경음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 On Awake ✓ · Loop ✓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Volume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0.3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45266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498848"/>
            <a:ext cx="1054303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받은 .wav · .ogg · .mp3 를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_Project/Audio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끌어 넣기 · 이름은 영어 (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SFX_Hit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SFX_Win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SFX_Lose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BGM_Main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05434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510043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0543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5072634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Camera의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Audio Listener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(귀)는 지우지 않습니다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반응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한 번 터지고 사라지는 파티클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FX_Hit 하나를 만들고, 색만 바꾼 FX_Win 을 복제합니다</a:t>
            </a:r>
            <a:endParaRPr lang="en-US" sz="15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21945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위치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값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Main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Duration · Looping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0.5 ·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해제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Start Lifetime · Start Speed · Start Size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0.4 · 4 · 0.2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Start Color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게임에 맞는 색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Stop Action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Destroy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(다 터지면 삭제)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Emission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Rate over Time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Bursts 의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Count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Shape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Shape · Radius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Sphere · 0.2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81848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170992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Effects &gt; Particle System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FX_Hit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0" y="230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818486" y="234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230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32206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표대로 설정 → Scene 뷰에서 '퍽' 터지는지 확인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0" y="2915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2"/>
          <p:cNvSpPr/>
          <p:nvPr/>
        </p:nvSpPr>
        <p:spPr>
          <a:xfrm>
            <a:off x="7818486" y="2962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0" y="291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93420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Hierarchy의 FX_Hit 를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_Project/Prefabs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끌기 → Hierarchy의 FX_Hit 삭제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772400" y="37426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6"/>
          <p:cNvSpPr/>
          <p:nvPr/>
        </p:nvSpPr>
        <p:spPr>
          <a:xfrm>
            <a:off x="7818486" y="37887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0" y="37426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376097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Project의 FX_Hit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FX_Win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더블클릭해 Start Color 변경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반응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칸 채우기 — 이 게임의 소리 · 이펙트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소리는 _Project/Audio 의 파일을, 이펙트는 _Project/Prefabs 의 FX_ 를 끌어다 놓습니다</a:t>
            </a:r>
            <a:endParaRPr lang="en-US" sz="15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선택할 물체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채울 칸 → 넣을 것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Clip · Lose Clip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Ball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Bounce Clip (통)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Brick_01 ~ 15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Break Clip (탁!) · Break Effect (FX_Hit)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DeadZone (EndZone)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Clip (놓친 소리)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3400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4056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3309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칸이 있어도 에러는 나지 않습니다.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득점 · 성공 · 실패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세 가지부터 채우세요.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빌드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Player 설정 → Windows로 빌드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발표는 빌드한 .exe로 합니다. 처음 빌드는 몇 분 걸립니다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 &gt; Project Settings... &gt; Player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맨 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 Name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BrickBreaker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1792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파일 이름이 됩니다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80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626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8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9892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Resolution and Presentation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펼치기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Fullscreen Mode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Fullscreen Window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06120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끄는 키는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ESC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(GameManager에 들어 있음)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23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470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423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44220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왼쪽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67334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 옆에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Active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 없으면 오른쪽 아래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Switch Platform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먼저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360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821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360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5434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Play 씬 체크 · 번호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5664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726" y="46124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4566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584700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오른쪽 아래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프로젝트 폴더 안에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폴더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만들어 선택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4815840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 폴더 안에는 절대 만들지 마세요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3880" y="1737360"/>
            <a:ext cx="3456432" cy="2926080"/>
          </a:xfrm>
          <a:prstGeom prst="roundRect">
            <a:avLst>
              <a:gd name="adj" fmla="val 2500"/>
            </a:avLst>
          </a:prstGeom>
          <a:solidFill>
            <a:srgbClr val="1F263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66760" y="18288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결과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85048" y="2148840"/>
            <a:ext cx="30540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BrickBreaker.exe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실행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BrickBreaker_Data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UnityPlayer.dll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UnityCrashHandler64.exe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D3D12 · MonoBleedingEdge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…_DoNotShip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빼도 됨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83880" y="4800600"/>
            <a:ext cx="3456432" cy="914400"/>
          </a:xfrm>
          <a:prstGeom prst="roundRect">
            <a:avLst>
              <a:gd name="adj" fmla="val 12000"/>
            </a:avLst>
          </a:prstGeom>
          <a:solidFill>
            <a:srgbClr val="FCEA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12480" y="4800600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.exe 하나만 복사하면 실행되지 않습니다.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폴더 통째로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옮기세요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빌드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실행 확인 · 압축 · 다른 PC 테스트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발표 날 처음 실행해 보는 일이 없도록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폴더의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BrickBreaker.exe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더블클릭 → 타이틀 → 한 판 → RETRY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ESC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3990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451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990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1731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"Windows의 PC 보호" 창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정보 → 실행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656713"/>
            <a:ext cx="667512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만든 프로그램이라 뜨는 정상 경고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4596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…_BurstDebugInformation_DoNotShip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폴더가 있으면 지우기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76320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폴더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압축(ZIP)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게임엔진기초_6주차_학번_이름.zip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40883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726" y="413447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08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106672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폴더나 다른 PC에 풀어서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다시 실행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092440" y="1737360"/>
            <a:ext cx="3547872" cy="3017520"/>
          </a:xfrm>
          <a:prstGeom prst="roundRect">
            <a:avLst>
              <a:gd name="adj" fmla="val 3636"/>
            </a:avLst>
          </a:prstGeom>
          <a:solidFill>
            <a:srgbClr val="E5F4E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성공 확인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540496" y="2212848"/>
            <a:ext cx="28712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Unity를 끈 상태에서 .exe만으로 실행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48472" y="27688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699512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타이틀부터 시작한다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303758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968244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소리가 난다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3306318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3236976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RETRY · ESC가 동작한다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완성 체크 — Hierarchy와 필수 네 가지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내 Hierarchy가 왼쪽과 같으면 구조는 끝났습니다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12648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완성된 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724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Camera     (Orthographic)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Directional Light · Global Volume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GameManager · Audio Source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Audio Source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 · EventSystem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 · Wall_L · Wall_R · Wall_T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Paddle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PaddleMove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Ball · Tag Player · PM_Bounce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Bricks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Brick_01 ~ Brick_15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Brick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DeadZone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EndZone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949440" y="173736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202996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판 완주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2128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 → 플레이 → 결과 → RETRY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283464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0" y="312724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3개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310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 · HUD · 결과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393192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0" y="422452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4407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득점 · 성공 · 실패에 소리 + 이펙트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0" y="502920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53218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0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빌드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55046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.exe로 다른 PC에서 실행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막혔을 때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Console의 빨간 줄을 더블클릭하면 문제의 줄로 갑니다. 맨 위 에러부터</a:t>
            </a:r>
            <a:endParaRPr lang="en-US" sz="15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53912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이런 증상 · 메시지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원인 → 해결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Scene 'Play' couldn't be loaded because it has not been added to the build settings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 4의 씬 목록 등록 (Build Profiles &gt; Open Scene List &gt; Add Open Scenes)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NullReferenceException · UnassignedReferenceException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Inspector 칸이 비어 있음 → 메시지에 나온 칸 이름을 찾아 채우기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InvalidOperationException … UnityEngine.Input class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EventSystem 선택 → </a:t>
                      </a:r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Replace with InputSystemUIInputModule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버튼을 눌러도 반응 없음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On Click에 GameManager · 함수 연결 · EventSystem 있는지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글자가 □ 로 나온다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한글 · 중국어 → 영어로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판정(골 · 낙하 · 배수구 등)이 반응 없음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 Tag = Player · Is Trigger ✓ · 공에 Rigidbody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Play 하자마자 물체가 튀거나 떨어진다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표의 Position · Scale 숫자를 다시 확인 (겹치거나 떠 있음)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 게임만: 공이 느려지거나 벽에 붙어 미끄러지면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PM_Bounce가 공의 Sphere Collider에 들어갔는지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yBox">
  <a:themeElements>
    <a:clrScheme name="GrayBox">
      <a:dk1>
        <a:srgbClr val="1E242B"/>
      </a:dk1>
      <a:lt1>
        <a:srgbClr val="FFFFFF"/>
      </a:lt1>
      <a:dk2>
        <a:srgbClr val="3A434D"/>
      </a:dk2>
      <a:lt2>
        <a:srgbClr val="F3F5F7"/>
      </a:lt2>
      <a:accent1>
        <a:srgbClr val="E07A2E"/>
      </a:accent1>
      <a:accent2>
        <a:srgbClr val="2F6FEB"/>
      </a:accent2>
      <a:accent3>
        <a:srgbClr val="23905A"/>
      </a:accent3>
      <a:accent4>
        <a:srgbClr val="D04444"/>
      </a:accent4>
      <a:accent5>
        <a:srgbClr val="8C96A1"/>
      </a:accent5>
      <a:accent6>
        <a:srgbClr val="7A5AF8"/>
      </a:accent6>
      <a:hlink>
        <a:srgbClr val="2F6FEB"/>
      </a:hlink>
      <a:folHlink>
        <a:srgbClr val="7A5AF8"/>
      </a:folHlink>
    </a:clrScheme>
    <a:fontScheme name="GrayBox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박정원</dc:creator>
  <cp:lastModifiedBy>박정원</cp:lastModifiedBy>
  <cp:revision>1</cp:revision>
  <dcterms:created xsi:type="dcterms:W3CDTF">2026-10-19T05:50:52Z</dcterms:created>
  <dcterms:modified xsi:type="dcterms:W3CDTF">2026-10-19T05:50:52Z</dcterms:modified>
</cp:coreProperties>
</file>