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e3bbfda-b03d-fb5c-2ba8-a1db33620069}">
          <p14:sldIdLst>
            <p14:sldId id="256"/>
            <p14:sldId id="257"/>
            <p14:sldId id="258"/>
          </p14:sldIdLst>
        </p14:section>
        <p14:section name="STEP 1" id="{061d3f34-13d7-14c2-8a0f-55d09e986260}">
          <p14:sldIdLst>
            <p14:sldId id="259"/>
            <p14:sldId id="260"/>
            <p14:sldId id="261"/>
          </p14:sldIdLst>
        </p14:section>
        <p14:section name="STEP 2" id="{bd3d33ce-7782-1b14-13d7-36d547fa0784}">
          <p14:sldIdLst>
            <p14:sldId id="262"/>
            <p14:sldId id="263"/>
            <p14:sldId id="264"/>
            <p14:sldId id="265"/>
            <p14:sldId id="266"/>
          </p14:sldIdLst>
        </p14:section>
        <p14:section name="STEP 3" id="{f799a863-9fd9-b8d4-86c1-5c1595765359}">
          <p14:sldIdLst>
            <p14:sldId id="267"/>
            <p14:sldId id="268"/>
            <p14:sldId id="269"/>
          </p14:sldIdLst>
        </p14:section>
        <p14:section name="STEP 4" id="{632413ec-4179-8bfb-5ebc-e9e021cc4c94}">
          <p14:sldIdLst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STEP 5" id="{7b0e642e-5f55-a909-787d-43b85133163b}">
          <p14:sldIdLst>
            <p14:sldId id="277"/>
            <p14:sldId id="278"/>
            <p14:sldId id="279"/>
            <p14:sldId id="280"/>
            <p14:sldId id="281"/>
          </p14:sldIdLst>
        </p14:section>
        <p14:section name="STEP 6" id="{86b88bc4-ef32-efb8-3c0b-04f1c4ddae28}">
          <p14:sldIdLst>
            <p14:sldId id="282"/>
            <p14:sldId id="283"/>
            <p14:sldId id="284"/>
          </p14:sldIdLst>
        </p14:section>
        <p14:section name="STEP 7" id="{53d907e8-a1c9-518b-e245-6d5b5ff8a086}">
          <p14:sldIdLst>
            <p14:sldId id="285"/>
            <p14:sldId id="286"/>
          </p14:sldIdLst>
        </p14:section>
        <p14:section name="마무리" id="{1818ef3a-c3ef-291d-3e88-e4d742e78262}">
          <p14:sldIdLst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E07A2E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E242B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5F6B78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게임엔진기초 · 따라하기 E · 핀볼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WITCH">
    <p:bg>
      <p:bgPr>
        <a:solidFill>
          <a:srgbClr val="FD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게임엔진기초 · 따라하기 E · 핀볼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3" name="Shape 1"/>
          <p:cNvSpPr/>
          <p:nvPr/>
        </p:nvSpPr>
        <p:spPr>
          <a:xfrm>
            <a:off x="852220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41248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46404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6" name="Shape 4"/>
          <p:cNvSpPr/>
          <p:nvPr/>
        </p:nvSpPr>
        <p:spPr>
          <a:xfrm>
            <a:off x="957376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6404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051560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9" name="Shape 7"/>
          <p:cNvSpPr/>
          <p:nvPr/>
        </p:nvSpPr>
        <p:spPr>
          <a:xfrm>
            <a:off x="1062532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893826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12" name="Shape 10"/>
          <p:cNvSpPr/>
          <p:nvPr/>
        </p:nvSpPr>
        <p:spPr>
          <a:xfrm>
            <a:off x="904798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3826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98982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2F6FE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9954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98982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464040" y="146304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9573768" y="157276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6404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8046720" y="4663440"/>
            <a:ext cx="3931920" cy="164592"/>
          </a:xfrm>
          <a:prstGeom prst="roundRect">
            <a:avLst>
              <a:gd name="adj" fmla="val 27778"/>
            </a:avLst>
          </a:prstGeom>
          <a:solidFill>
            <a:srgbClr val="3A434D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7315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따라하기 가이드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EB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동명대학교 게임그래픽학과 · 게임엔진기초 · 게임 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1920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핀볼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26974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프로젝트부터 빌드까지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36576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5DBE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슬라이드를 처음부터 순서대로 따라 하면, 실행 파일(.exe)로 도는 한 판짜리 게임이 완성됩니다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버전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6.3 LTS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017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에디터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017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영문 버전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303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303520" y="5394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박정원 · doo0303@naver.com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시작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완성하면 이런 게임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아래로 굴러오는 공을 플리퍼로 쳐 올려 범퍼에 맞히고, 공 3개로 1000점을 노린다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669280" cy="4206240"/>
          </a:xfrm>
          <a:prstGeom prst="roundRect">
            <a:avLst>
              <a:gd name="adj" fmla="val 1304"/>
            </a:avLst>
          </a:prstGeom>
          <a:solidFill>
            <a:srgbClr val="EEF1F4"/>
          </a:solidFill>
          <a:ln/>
        </p:spPr>
      </p:sp>
      <p:sp>
        <p:nvSpPr>
          <p:cNvPr id="6" name="Shape 4"/>
          <p:cNvSpPr/>
          <p:nvPr/>
        </p:nvSpPr>
        <p:spPr>
          <a:xfrm>
            <a:off x="2213699" y="1923430"/>
            <a:ext cx="2339163" cy="3742660"/>
          </a:xfrm>
          <a:prstGeom prst="rect">
            <a:avLst/>
          </a:prstGeom>
          <a:solidFill>
            <a:srgbClr val="A8B0B9"/>
          </a:solidFill>
          <a:ln/>
        </p:spPr>
      </p:sp>
      <p:sp>
        <p:nvSpPr>
          <p:cNvPr id="7" name="Shape 5"/>
          <p:cNvSpPr/>
          <p:nvPr/>
        </p:nvSpPr>
        <p:spPr>
          <a:xfrm>
            <a:off x="2096740" y="1923430"/>
            <a:ext cx="116958" cy="3742660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8" name="Shape 6"/>
          <p:cNvSpPr/>
          <p:nvPr/>
        </p:nvSpPr>
        <p:spPr>
          <a:xfrm>
            <a:off x="4552861" y="1923430"/>
            <a:ext cx="116958" cy="3742660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9" name="Shape 7"/>
          <p:cNvSpPr/>
          <p:nvPr/>
        </p:nvSpPr>
        <p:spPr>
          <a:xfrm>
            <a:off x="2096740" y="1806472"/>
            <a:ext cx="2573079" cy="116958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10" name="Shape 8"/>
          <p:cNvSpPr/>
          <p:nvPr/>
        </p:nvSpPr>
        <p:spPr>
          <a:xfrm rot="2190000">
            <a:off x="2131828" y="4929254"/>
            <a:ext cx="795315" cy="70175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11" name="Shape 9"/>
          <p:cNvSpPr/>
          <p:nvPr/>
        </p:nvSpPr>
        <p:spPr>
          <a:xfrm rot="-2190000">
            <a:off x="3839417" y="4929254"/>
            <a:ext cx="795315" cy="70175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12" name="Shape 10"/>
          <p:cNvSpPr/>
          <p:nvPr/>
        </p:nvSpPr>
        <p:spPr>
          <a:xfrm rot="1500000">
            <a:off x="2824220" y="5249719"/>
            <a:ext cx="467833" cy="93567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13" name="Shape 11"/>
          <p:cNvSpPr/>
          <p:nvPr/>
        </p:nvSpPr>
        <p:spPr>
          <a:xfrm rot="-1500000">
            <a:off x="3474507" y="5249719"/>
            <a:ext cx="467833" cy="93567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14" name="Shape 12"/>
          <p:cNvSpPr/>
          <p:nvPr/>
        </p:nvSpPr>
        <p:spPr>
          <a:xfrm>
            <a:off x="2892056" y="3069620"/>
            <a:ext cx="280700" cy="280700"/>
          </a:xfrm>
          <a:prstGeom prst="ellipse">
            <a:avLst/>
          </a:prstGeom>
          <a:solidFill>
            <a:srgbClr val="D04444"/>
          </a:solidFill>
          <a:ln/>
        </p:spPr>
      </p:sp>
      <p:sp>
        <p:nvSpPr>
          <p:cNvPr id="15" name="Shape 13"/>
          <p:cNvSpPr/>
          <p:nvPr/>
        </p:nvSpPr>
        <p:spPr>
          <a:xfrm>
            <a:off x="3593805" y="3069620"/>
            <a:ext cx="280700" cy="280700"/>
          </a:xfrm>
          <a:prstGeom prst="ellipse">
            <a:avLst/>
          </a:prstGeom>
          <a:solidFill>
            <a:srgbClr val="D04444"/>
          </a:solidFill>
          <a:ln/>
        </p:spPr>
      </p:sp>
      <p:sp>
        <p:nvSpPr>
          <p:cNvPr id="16" name="Shape 14"/>
          <p:cNvSpPr/>
          <p:nvPr/>
        </p:nvSpPr>
        <p:spPr>
          <a:xfrm>
            <a:off x="3242930" y="2601787"/>
            <a:ext cx="280700" cy="280700"/>
          </a:xfrm>
          <a:prstGeom prst="ellipse">
            <a:avLst/>
          </a:prstGeom>
          <a:solidFill>
            <a:srgbClr val="D04444"/>
          </a:solidFill>
          <a:ln/>
        </p:spPr>
      </p:sp>
      <p:sp>
        <p:nvSpPr>
          <p:cNvPr id="17" name="Shape 15"/>
          <p:cNvSpPr/>
          <p:nvPr/>
        </p:nvSpPr>
        <p:spPr>
          <a:xfrm>
            <a:off x="4143508" y="2215825"/>
            <a:ext cx="116958" cy="116958"/>
          </a:xfrm>
          <a:prstGeom prst="ellipse">
            <a:avLst/>
          </a:prstGeom>
          <a:solidFill>
            <a:srgbClr val="2F6FE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5916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위에서 본 배치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0" y="1783080"/>
            <a:ext cx="5056632" cy="658368"/>
          </a:xfrm>
          <a:prstGeom prst="roundRect">
            <a:avLst>
              <a:gd name="adj" fmla="val 16667"/>
            </a:avLst>
          </a:prstGeom>
          <a:solidFill>
            <a:srgbClr val="E5F4E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12280" y="178308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178308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 3개 후 1000점 이상이면 CLEAR!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83680" y="2551176"/>
            <a:ext cx="5056632" cy="658368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12280" y="2551176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0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2551176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1000점 미달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83680" y="3319272"/>
            <a:ext cx="5056632" cy="658368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12280" y="3319272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F6F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726680" y="3319272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범퍼 +100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0" y="4160520"/>
            <a:ext cx="5056632" cy="777240"/>
          </a:xfrm>
          <a:prstGeom prst="roundRect">
            <a:avLst>
              <a:gd name="adj" fmla="val 14118"/>
            </a:avLst>
          </a:prstGeom>
          <a:solidFill>
            <a:srgbClr val="F3F5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12280" y="41605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조작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726680" y="41605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왼쪽 플리퍼 · → 오른쪽 플리퍼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583680" y="5074920"/>
            <a:ext cx="5056632" cy="777240"/>
          </a:xfrm>
          <a:prstGeom prst="roundRect">
            <a:avLst>
              <a:gd name="adj" fmla="val 14118"/>
            </a:avLst>
          </a:prstGeom>
          <a:solidFill>
            <a:srgbClr val="F3F5F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812280" y="50749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726680" y="507492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타이틀 "MINI PINBALL" → 플레이 → 결과 · 탑뷰 · 위에서 똑바로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시작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진행 순서와 메뉴 이름 안내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한 STEP이 끝날 때마다 Ctrl + S. 막히면 맨 뒤 '막혔을 때' 쪽을 보세요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43800" y="1737360"/>
            <a:ext cx="4096512" cy="4343400"/>
          </a:xfrm>
          <a:prstGeom prst="roundRect">
            <a:avLst>
              <a:gd name="adj" fmla="val 2679"/>
            </a:avLst>
          </a:prstGeom>
          <a:solidFill>
            <a:srgbClr val="FFF7E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6.3 메뉴 이름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99832" y="23069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991856" y="2240280"/>
            <a:ext cx="343814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메뉴는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(Canvas)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입니다. 예전 버전 자료의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GameObject &gt; UI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와 같은 메뉴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99832" y="27895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991856" y="2722880"/>
            <a:ext cx="3438144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글자 · 버튼은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Text - TextMeshPro · Button - TextMeshPro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빌드에 따라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TextMesh Pro - Text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처럼 순서가 바뀌어 보일 수 있음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99832" y="36912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91856" y="3624580"/>
            <a:ext cx="343814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스크립트는 직접 만들지 않고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드라이브에서 받은 파일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씁니다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99832" y="41738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991856" y="4107180"/>
            <a:ext cx="34381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에디터는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영문 버전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기준입니다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7208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754880"/>
                <a:gridCol w="10515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STEP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할 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쪽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새 프로젝트 · 폴더와 씬 · 스크립트 받기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4~6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재질 · 물체 배치 (숫자 그대로) · 카메라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7~11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Canvas · 패널 3개 · 글자와 버튼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12~14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GameManager · 칸 연결 · 버튼 · 씬 목록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15~21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조작과 규칙 스크립트 · 한 판 테스트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22~26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소리 · 배경음 · 파티클 · 칸 채우기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27~29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Player 설정 · Windows 빌드 · 테스트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30~31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끝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완성 체크 · 막혔을 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32~33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1 · 준비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새 프로젝트 만들기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Unity Hub에서 시작합니다. 이 게임 전용 프로젝트입니다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Hub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실행 → 왼쪽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오른쪽 위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New project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위쪽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Editor Version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6000.3.x (6.3 LTS)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인지 확인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7980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84415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816352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 목록에서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Universal 3D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55747"/>
            <a:ext cx="694944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처음이면 오른쪽에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Download template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버튼이 보일 수 있습니다 → 눌러서 받은 뒤 진행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63308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679175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63308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651377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name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MiniPinball_학번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(예: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MiniPinball_20251234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890772"/>
            <a:ext cx="694944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영어 · 숫자 · 밑줄만. 한글 · 띄어쓰기 금지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26173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4307825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26173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280027"/>
            <a:ext cx="694944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Location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확인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Create project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에디터가 열릴 때까지 기다리기 (몇 분)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8321040" y="1737360"/>
            <a:ext cx="3319272" cy="4023360"/>
          </a:xfrm>
          <a:prstGeom prst="roundRect">
            <a:avLst>
              <a:gd name="adj" fmla="val 3306"/>
            </a:avLst>
          </a:prstGeom>
          <a:solidFill>
            <a:srgbClr val="F3F5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549640" y="1938528"/>
            <a:ext cx="2862072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 열린 화면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577072" y="238353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769096" y="2314194"/>
            <a:ext cx="264261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가운데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Scene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뷰 · 옆에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탭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577072" y="289560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769096" y="2826258"/>
            <a:ext cx="264261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왼쪽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Hierarchy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아래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577072" y="340766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769096" y="3338322"/>
            <a:ext cx="26426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오른쪽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Inspector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577072" y="370179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769096" y="3632454"/>
            <a:ext cx="2642616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SampleScene 안에 Main Camera · Directional Light · Global Volume 이 이미 있습니다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1 · 준비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폴더와 씬 정리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내가 만드는 것은 모두 Assets/_Project 안에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창의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Create &gt; Folder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40080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Create &gt; Folder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를 반복해 7개: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Prefabs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Textures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92938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97546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92938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947670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Assets/Scenes/SampleScene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을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_Project/Scenes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끌어다 옮기기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345973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726" y="350582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45973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478022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SampleScene 선택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F2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Enter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399008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726" y="4036172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39900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008374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더블클릭으로 열기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S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7818120" y="1737360"/>
            <a:ext cx="3822192" cy="4206240"/>
          </a:xfrm>
          <a:prstGeom prst="roundRect">
            <a:avLst>
              <a:gd name="adj" fmla="val 1914"/>
            </a:avLst>
          </a:prstGeom>
          <a:solidFill>
            <a:srgbClr val="1F263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01000" y="182880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019288" y="2148840"/>
            <a:ext cx="341985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_Project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Audio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Materials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Models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Prefabs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Scenes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└ Play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Scripts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 Textures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Settings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(템플릿 기본 폴더)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1 · 준비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스크립트 받기 · 입력 설정 확인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이 게임에 필요한 스크립트는 아래 표가 전부입니다. 직접 만들지 마세요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6751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37744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파일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드라이브 폴더 (게임엔진기초_6주차_스크립트)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하는 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GameManager.cs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0_공통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타이틀 · 점수 · 시간 · 결과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Flipper.cs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E_핀볼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플리퍼 (5주차 레시피)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Bumper.cs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E_핀볼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범퍼 점수 · 튕기기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Drain.cs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E_핀볼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 빠짐 · 남은 공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9808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7" name="Shape 4"/>
          <p:cNvSpPr/>
          <p:nvPr/>
        </p:nvSpPr>
        <p:spPr>
          <a:xfrm>
            <a:off x="754416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49808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1755648"/>
            <a:ext cx="359359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드라이브에서 파일 받기 → 파일 탐색기에서 Unity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창의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_Project/Scripts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끌어 넣기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98080" y="256413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8"/>
          <p:cNvSpPr/>
          <p:nvPr/>
        </p:nvSpPr>
        <p:spPr>
          <a:xfrm>
            <a:off x="7544166" y="261021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498080" y="25641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2582418"/>
            <a:ext cx="3593592" cy="858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Edit &gt; Project Settings...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Player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Other Settings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Active Input Handling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System Package (New)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인지 확인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046720" y="3440938"/>
            <a:ext cx="3593592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보기만 하고 바꾸지 않습니다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무대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재질(Material) 만들기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색은 꾸미기가 아니라 '역할 표시'입니다. 아래 표의 재질만 만듭니다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53035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_Project/Materials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Create &gt; Material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입력 (예: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M_Gray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825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4286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82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00808"/>
            <a:ext cx="53035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Inspector의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 Map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오른쪽 흰 칸 클릭 → 색 창의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Hexadecimal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칸에 표의 값 입력 → 창 닫기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027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30737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02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045968"/>
            <a:ext cx="53035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표의 재질을 모두 같은 방법으로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66560" y="1773936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A8B0B9"/>
          </a:solidFill>
          <a:ln/>
        </p:spPr>
      </p:sp>
      <p:sp>
        <p:nvSpPr>
          <p:cNvPr id="18" name="Shape 16"/>
          <p:cNvSpPr/>
          <p:nvPr/>
        </p:nvSpPr>
        <p:spPr>
          <a:xfrm>
            <a:off x="6830202" y="1837578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66560" y="17739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452360" y="1737360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M_Gray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452360" y="203911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바닥 · 벽 · 나머지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875520" y="173736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A8B0B9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766560" y="2450592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2F6FEB"/>
          </a:solidFill>
          <a:ln/>
        </p:spPr>
      </p:sp>
      <p:sp>
        <p:nvSpPr>
          <p:cNvPr id="24" name="Shape 22"/>
          <p:cNvSpPr/>
          <p:nvPr/>
        </p:nvSpPr>
        <p:spPr>
          <a:xfrm>
            <a:off x="6830202" y="2514234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66560" y="2450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2414016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M_Player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2715768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내가 조작하는 것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9875520" y="2414016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2F6FEB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766560" y="3127248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D04444"/>
          </a:solidFill>
          <a:ln/>
        </p:spPr>
      </p:sp>
      <p:sp>
        <p:nvSpPr>
          <p:cNvPr id="30" name="Shape 28"/>
          <p:cNvSpPr/>
          <p:nvPr/>
        </p:nvSpPr>
        <p:spPr>
          <a:xfrm>
            <a:off x="6830202" y="3190890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66560" y="31272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452360" y="3090672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M_Danger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452360" y="3392424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맞히거나 피할 것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875520" y="3090672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D04444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766560" y="3803904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23905A"/>
          </a:solidFill>
          <a:ln/>
        </p:spPr>
      </p:sp>
      <p:sp>
        <p:nvSpPr>
          <p:cNvPr id="36" name="Shape 34"/>
          <p:cNvSpPr/>
          <p:nvPr/>
        </p:nvSpPr>
        <p:spPr>
          <a:xfrm>
            <a:off x="6830202" y="3867546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766560" y="38039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7452360" y="3767328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M_Goal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7452360" y="406908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도착 · 지켜야 하는 것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9875520" y="376732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23905A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무대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물체를 만드는 공통 방법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다음 쪽의 표를 한 줄씩 이 방법으로 만듭니다. 숫자는 Inspector의 Transform 칸에 그대로 입력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도형: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GameObject &gt; 3D Object &gt; Cube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(또는 Sphere · Capsule · Cylinder)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78533"/>
            <a:ext cx="704088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 오브젝트: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GameObject &gt; Create Empty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(Ctrl + Shift + N)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29641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34250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29641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314702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만들자마자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F2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표의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입력 → Enter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279019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283627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27901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808478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Inspector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Transform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의 Position · Rotation · Scale 칸에 표의 숫자 입력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031363"/>
            <a:ext cx="704088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'—' 는 기본값 그대로 (Rotation 0, 0, 0 · Scale 1, 1, 1)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3492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726" y="339533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33492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367532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재질: Project의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M_…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를 Hierarchy의 물체 위로 끌어다 놓기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38430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38891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38430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3861308"/>
            <a:ext cx="704088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└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표시는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자식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만든 뒤 Hierarchy에서 위쪽 부모 위로 끌어다 놓기 → 그다음 숫자 입력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307078"/>
            <a:ext cx="704088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자식의 Position은 부모 기준 좌표입니다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62495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726" y="4671045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4624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" y="4643247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물체 여러 개: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D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복제 → 이름 · 숫자만 고치기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412480" y="1737360"/>
            <a:ext cx="3227832" cy="4023360"/>
          </a:xfrm>
          <a:prstGeom prst="roundRect">
            <a:avLst>
              <a:gd name="adj" fmla="val 3399"/>
            </a:avLst>
          </a:prstGeom>
          <a:solidFill>
            <a:srgbClr val="F3F5F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641080" y="1938528"/>
            <a:ext cx="277063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단축키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668512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860536" y="2330704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이동 ·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회전 ·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크기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668512" y="2705227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860536" y="2633218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선택한 물체로 화면 이동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8668512" y="30077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860536" y="2935732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D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복제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8668512" y="33102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860536" y="3238246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F2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이름 바꾸기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8668512" y="3612769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860536" y="3540760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Z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되돌리기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무대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테이블 · 벽 · 안내벽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표의 한 줄 = 물체 하나. 위에서부터 차례로 (1/2)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51560"/>
                <a:gridCol w="2286000"/>
                <a:gridCol w="1051560"/>
                <a:gridCol w="1645920"/>
                <a:gridCol w="1188720"/>
                <a:gridCol w="217627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이름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도형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Position (X, Y, Z)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Rotation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Scale (X, Y, Z)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재질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메모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Table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0, -0.1, 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10, 0.2, 16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M_Gray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위쪽 면 = Y 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Wall_L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-5.25, 0.5, 0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0.5, 1, 16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M_Gray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Wall_R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5.25, 0.5, 0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0.5, 1, 16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M_Gray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Wall_T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0, 0.5, 8.25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11, 1, 0.5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M_Gray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Guide_L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-3.65, 0.5, -5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0, 36.5, 0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3.4, 1, 0.3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M_Gray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왼쪽 플리퍼로 모아 줌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Guide_R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3.65, 0.5, -5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0, -36.5, 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3.4, 1, 0.3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M_Gray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오른쪽 플리퍼로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무대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플리퍼 · 범퍼 · 공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표의 한 줄 = 물체 하나. 위에서부터 차례로 (2/2)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51560"/>
                <a:gridCol w="2286000"/>
                <a:gridCol w="1051560"/>
                <a:gridCol w="1645920"/>
                <a:gridCol w="1188720"/>
                <a:gridCol w="217627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이름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도형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Position (X, Y, Z)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Rotation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Scale (X, Y, Z)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재질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메모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Flipper_L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빈 오브젝트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-2.3, 0.5, -6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1, 1, 1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회전축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Bar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1, 0, 0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2, 0.5, 0.4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M_Player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Flipper_L의 자식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Flipper_R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빈 오브젝트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2.3, 0.5, -6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1, 1, 1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회전축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Bar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-1, 0, 0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2, 0.5, 0.4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M_Player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Flipper_R의 자식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Bumper_1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Cylinder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-1.5, 0.5, 2.5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1.2, 0.5, 1.2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M_Danger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Bumper_2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Cylinder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1.5, 0.5, 2.5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1.2, 0.5, 1.2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M_Danger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Bumper_3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Cylinder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0, 0.5, 4.5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1.2, 0.5, 1.2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M_Danger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Ball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Sphere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3.5, 0.25, 6.5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0.5, 0.5, 0.5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M_Player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SpawnPoint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빈 오브젝트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3.5, 0.25, 6.5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 출발 위치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DrainZone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0, -1, -9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12, 3, 3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플리퍼 아래 배수구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무대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카메라 고정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이 게임은 카메라가 움직이지 않습니다. 숫자로 한 번에 맞춥니다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탭 위쪽 화면비 칸 (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 Aspect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16:9 Aspect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40080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Hierarchy의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 Camera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 → Transform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Position (0, 16, 0)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Rotation (90, 0, 0)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92938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97546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92938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947670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Camera 컴포넌트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Projection = Orthographic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Size = 8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187065"/>
            <a:ext cx="640080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원근 없이 평면도처럼 보입니다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5580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60411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558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576320"/>
            <a:ext cx="640080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탭에서 확인 → 앞 쪽의 '완성 모습'과 같은 배치면 성공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S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909560" y="1737360"/>
            <a:ext cx="3703320" cy="3291840"/>
          </a:xfrm>
          <a:prstGeom prst="roundRect">
            <a:avLst>
              <a:gd name="adj" fmla="val 1667"/>
            </a:avLst>
          </a:prstGeom>
          <a:solidFill>
            <a:srgbClr val="EEF1F4"/>
          </a:solidFill>
          <a:ln/>
        </p:spPr>
      </p:sp>
      <p:sp>
        <p:nvSpPr>
          <p:cNvPr id="23" name="Shape 21"/>
          <p:cNvSpPr/>
          <p:nvPr/>
        </p:nvSpPr>
        <p:spPr>
          <a:xfrm>
            <a:off x="8857453" y="1937252"/>
            <a:ext cx="1807535" cy="2892056"/>
          </a:xfrm>
          <a:prstGeom prst="rect">
            <a:avLst/>
          </a:prstGeom>
          <a:solidFill>
            <a:srgbClr val="A8B0B9"/>
          </a:solidFill>
          <a:ln/>
        </p:spPr>
      </p:sp>
      <p:sp>
        <p:nvSpPr>
          <p:cNvPr id="24" name="Shape 22"/>
          <p:cNvSpPr/>
          <p:nvPr/>
        </p:nvSpPr>
        <p:spPr>
          <a:xfrm>
            <a:off x="8767076" y="1937252"/>
            <a:ext cx="90377" cy="2892056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25" name="Shape 23"/>
          <p:cNvSpPr/>
          <p:nvPr/>
        </p:nvSpPr>
        <p:spPr>
          <a:xfrm>
            <a:off x="10664987" y="1937252"/>
            <a:ext cx="90377" cy="2892056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26" name="Shape 24"/>
          <p:cNvSpPr/>
          <p:nvPr/>
        </p:nvSpPr>
        <p:spPr>
          <a:xfrm>
            <a:off x="8767076" y="1846875"/>
            <a:ext cx="1988288" cy="90377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27" name="Shape 25"/>
          <p:cNvSpPr/>
          <p:nvPr/>
        </p:nvSpPr>
        <p:spPr>
          <a:xfrm rot="2190000">
            <a:off x="8794189" y="4259934"/>
            <a:ext cx="614562" cy="54226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28" name="Shape 26"/>
          <p:cNvSpPr/>
          <p:nvPr/>
        </p:nvSpPr>
        <p:spPr>
          <a:xfrm rot="-2190000">
            <a:off x="10113689" y="4259934"/>
            <a:ext cx="614562" cy="54226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29" name="Shape 27"/>
          <p:cNvSpPr/>
          <p:nvPr/>
        </p:nvSpPr>
        <p:spPr>
          <a:xfrm rot="1500000">
            <a:off x="9329219" y="4507567"/>
            <a:ext cx="361507" cy="72301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30" name="Shape 28"/>
          <p:cNvSpPr/>
          <p:nvPr/>
        </p:nvSpPr>
        <p:spPr>
          <a:xfrm rot="-1500000">
            <a:off x="9831714" y="4507567"/>
            <a:ext cx="361507" cy="72301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31" name="Shape 29"/>
          <p:cNvSpPr/>
          <p:nvPr/>
        </p:nvSpPr>
        <p:spPr>
          <a:xfrm>
            <a:off x="9381638" y="2822944"/>
            <a:ext cx="216904" cy="216904"/>
          </a:xfrm>
          <a:prstGeom prst="ellipse">
            <a:avLst/>
          </a:prstGeom>
          <a:solidFill>
            <a:srgbClr val="D04444"/>
          </a:solidFill>
          <a:ln/>
        </p:spPr>
      </p:sp>
      <p:sp>
        <p:nvSpPr>
          <p:cNvPr id="32" name="Shape 30"/>
          <p:cNvSpPr/>
          <p:nvPr/>
        </p:nvSpPr>
        <p:spPr>
          <a:xfrm>
            <a:off x="9923898" y="2822944"/>
            <a:ext cx="216904" cy="216904"/>
          </a:xfrm>
          <a:prstGeom prst="ellipse">
            <a:avLst/>
          </a:prstGeom>
          <a:solidFill>
            <a:srgbClr val="D04444"/>
          </a:solidFill>
          <a:ln/>
        </p:spPr>
      </p:sp>
      <p:sp>
        <p:nvSpPr>
          <p:cNvPr id="33" name="Shape 31"/>
          <p:cNvSpPr/>
          <p:nvPr/>
        </p:nvSpPr>
        <p:spPr>
          <a:xfrm>
            <a:off x="9652768" y="2461437"/>
            <a:ext cx="216904" cy="216904"/>
          </a:xfrm>
          <a:prstGeom prst="ellipse">
            <a:avLst/>
          </a:prstGeom>
          <a:solidFill>
            <a:srgbClr val="D04444"/>
          </a:solidFill>
          <a:ln/>
        </p:spPr>
      </p:sp>
      <p:sp>
        <p:nvSpPr>
          <p:cNvPr id="34" name="Shape 32"/>
          <p:cNvSpPr/>
          <p:nvPr/>
        </p:nvSpPr>
        <p:spPr>
          <a:xfrm>
            <a:off x="10348669" y="2163194"/>
            <a:ext cx="90377" cy="90377"/>
          </a:xfrm>
          <a:prstGeom prst="ellipse">
            <a:avLst/>
          </a:prstGeom>
          <a:solidFill>
            <a:srgbClr val="2F6FE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001000" y="50474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위에서 본 배치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44068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DF0E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77240" y="55686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176272" y="56342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2368296" y="55595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숫자를 넣었는데도 다르게 보이면 Rotation의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 · Y · Z 순서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다시 확인하세요.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3 · 화면 3개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Canvas 만들고 화면 크기 기준 정하기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UI는 모두 Canvas 안에 들어갑니다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6751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GameObject &gt; UI (Canvas) &gt; Canvas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86788"/>
            <a:ext cx="6675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EventSystem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도 함께 생깁니다. 지우지 마세요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495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39558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349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367788"/>
            <a:ext cx="66751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Canvas 선택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Canvas Scaler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의 UI Scale Mode =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Scale With Screen Size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830068"/>
            <a:ext cx="6675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 Resolution =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1920 × 1080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Match =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1927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726" y="32388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1927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211068"/>
            <a:ext cx="66751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Canvas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(Canvas) &gt; Text - TextMeshPro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442208"/>
            <a:ext cx="667512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TMP Importer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창이 뜨면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Import TMP Essentials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끝나면 창 닫기 → 방금 생긴 글자는 지워도 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030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726" y="40491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00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021328"/>
            <a:ext cx="66751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Scene 뷰 위쪽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버튼 켜기 → Canvas 더블클릭하면 UI 전체가 보입니다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252468"/>
            <a:ext cx="6675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작업이 끝나면 2D 버튼을 다시 끄면 3D로 돌아옵니다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92440" y="1737360"/>
            <a:ext cx="3547872" cy="1828800"/>
          </a:xfrm>
          <a:prstGeom prst="roundRect">
            <a:avLst>
              <a:gd name="adj" fmla="val 6000"/>
            </a:avLst>
          </a:prstGeom>
          <a:solidFill>
            <a:srgbClr val="FCEAE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21040" y="1737360"/>
            <a:ext cx="30906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한글은 네모(□)로 깨집니다.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기본 TMP 글꼴에 한글이 없습니다. UI 글자는 영어로 쓰세요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3 · 화면 3개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패널 3개 = 화면 3개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이름을 그대로 맞춰 주세요. 글자는 그대로 입력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852160" cy="4389120"/>
          </a:xfrm>
          <a:prstGeom prst="roundRect">
            <a:avLst>
              <a:gd name="adj" fmla="val 1667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Hierarchy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48840"/>
            <a:ext cx="544982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TitlePanel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TitleText     "MINI PINBALL"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GuideText     "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→ : FLIPPERS"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 StartButton   "START"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HudPanel      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배경 투명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ScoreText     "SCORE 0"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TimeText      "TIME 0"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 InfoText      ""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ResultPanel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 ResultTitle   "CLEAR!"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 ResultScore   "SCORE 0"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 RetryButton   "RETRY"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67512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9" name="Shape 7"/>
          <p:cNvSpPr/>
          <p:nvPr/>
        </p:nvSpPr>
        <p:spPr>
          <a:xfrm>
            <a:off x="672120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1755648"/>
            <a:ext cx="44165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Canvas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(Canvas) &gt; Panel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세 번 → 각각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F2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이름 바꾸기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120" y="23495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21206" y="239558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75120" y="2349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2367788"/>
            <a:ext cx="44165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HudPanel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 → Image 컴포넌트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Color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(알파)를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75120" y="2961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7" name="Shape 15"/>
          <p:cNvSpPr/>
          <p:nvPr/>
        </p:nvSpPr>
        <p:spPr>
          <a:xfrm>
            <a:off x="6721206" y="3007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296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2979928"/>
            <a:ext cx="44165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글자: 패널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(Canvas) &gt; Text - TextMeshPro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· 글자 입력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75120" y="35737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6721206" y="36198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75120" y="35737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3592068"/>
            <a:ext cx="441655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버튼: 패널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(Canvas) &gt; Button - TextMeshPro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버튼 아래 자식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(TMP)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에서 글자 바꾸기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3 · 화면 3개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위치 잡기 — 앵커부터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Rect Transform 왼쪽 위 네모(Anchor Presets)를 Alt + Shift 누른 채 클릭하면 위치까지 붙습니다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286000"/>
                <a:gridCol w="1920240"/>
                <a:gridCol w="2103120"/>
                <a:gridCol w="1764792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물체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앵커 (Alt + Shift)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Pos X · Pos Y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Width × Height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Font Size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TitleText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top-center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 · -260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1400 × 160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GuideText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middle-center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 · 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1400 × 80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44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StartButton · RetryButton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bottom-center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 · 200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420 × 110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 (버튼 글자)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ScoreText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top-left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 · -40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600 × 80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52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TimeText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top-right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-40 · -40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500 × 80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52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InfoText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top-center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 · -40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900 × 70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ResultTitle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middle-center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 · 120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1400 × 160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ResultScore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middle-center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 · -40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1000 × 100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71500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8430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90854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83387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 X · Pos Y는 앵커를 붙인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뒤에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입력합니다. 글자 가운데 정렬: TextMeshPro의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Alignment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가운데 버튼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오브젝트 만들기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게임의 시작 · 점수 · 시간 · 끝을 맡는 관리자입니다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12648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GameObject &gt; Create Empty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GameManager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12648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Inspector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 Component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 Source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검색 → 선택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 On Awake 체크 해제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764790"/>
            <a:ext cx="612648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효과음 스피커입니다. AudioClip 칸은 비워 둡니다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135757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3181843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1357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154045"/>
            <a:ext cx="612648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Project의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_Project/Scripts/GameManager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를 GameManager 오브젝트의 Inspector로 끌어다 놓기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3797427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843513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79742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815715"/>
            <a:ext cx="612648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쪽들의 코드는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읽기용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 파일을 받았으면 따라 칠 필요 없습니다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543800" y="1737360"/>
            <a:ext cx="4096512" cy="3931920"/>
          </a:xfrm>
          <a:prstGeom prst="roundRect">
            <a:avLst>
              <a:gd name="adj" fmla="val 2791"/>
            </a:avLst>
          </a:prstGeom>
          <a:solidFill>
            <a:srgbClr val="F3F5F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0" y="1938528"/>
            <a:ext cx="363931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코드에서 볼 곳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799832" y="240538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91856" y="2330704"/>
            <a:ext cx="341985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StartGame()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START 버튼이 부른다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99832" y="271627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991856" y="2641600"/>
            <a:ext cx="341985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AddScore(점수)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점수 올리기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799832" y="3027172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991856" y="2952496"/>
            <a:ext cx="341985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EndGame(true/false)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성공 · 실패로 끝내기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99832" y="357276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991856" y="3498088"/>
            <a:ext cx="341985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Retry()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RETRY 버튼이 부른다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코드 (1/4)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공통 · 붙일 곳: 빈 오브젝트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UnityEngine.InputSystem;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UnityEngine.SceneManagement;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TMPro;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공통: 타이틀 → 플레이 → 결과 흐름, 점수 · 시간 · 소리 · 이펙트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붙일 곳: 빈 오브젝트 GameManager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GameManager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GameManager Instance;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bool IsPlaying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 { return Instance != null &amp;&amp; Instance.playing;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[Header("Panels")]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titlePanel;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hudPanel;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resultPanel;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GameManager.cs  1/7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[Header("Texts")]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scoreText;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timeText;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infoText;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resultTitle;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resultScore;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winMessage = "CLEAR!";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loseMessage = "GAME OVER";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[Header("Time")]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0이면 시간 제한 없음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timeLimit = 60f;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체크: 시간이 끝나면 성공 (두더지처럼 버티는 게임)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bool winWhenTimeUp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[Header("Sound")]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AudioSource sfxSource;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winClip;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loseClip;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Score { get; private set;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TimeLeft { get; private set;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playing;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bool skipTitle;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GameManager.cs  2/7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코드 (2/4)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공통 · 붙일 곳: 빈 오브젝트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Awake()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Instance = this;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Start()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(skipTitle)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skipTitle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StartGame();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타이틀에서는 시간을 멈춰 둔다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Time.timeScale = 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ShowPanel(titlePanel);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GameManager.cs  3/7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Keyboard kb = Keyboard.current;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 != null &amp;&amp; kb.escapeKey.wasPressedThisFrame)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빌드에서 ESC = 게임 종료 (에디터에서는 무시됨)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Application.Quit();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(!playing || timeLimit &lt;= 0f)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TimeLeft -= Time.deltaTime;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(TimeLeft &lt;= 0f)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TimeLeft = 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EndGame(winWhenTimeUp);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RefreshHud();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GameManager.cs  4/7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코드 (3/4)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공통 · 붙일 곳: 빈 오브젝트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타이틀의 START 버튼에 연결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StartGame()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Time.timeScale 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= 0;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TimeLeft = timeLimit;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playing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ShowPanel(hudPanel);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RefreshHud();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AddScore(int amount)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+= amount;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RefreshHud();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SetInfo(string message)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(infoText != null) infoText.text = message;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GameManager.cs  5/7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성공이면 true, 실패면 false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EndGame(bool win)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playing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ShowPanel(resultPanel);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(resultTitle != null)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resultTitle.text = win ? winMessage : loseMessage;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(resultScore != null)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resultScore.text = "SCORE " + Score;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PlaySfx(win ? winClip : loseClip);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결과의 RETRY 버튼에 연결 (타이틀 없이 바로 다시 시작)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Retry()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skipTitle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Time.timeScale 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SceneManager.LoadScene(SceneManager.GetActiveScene().name);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결과의 TITLE 버튼에 연결 (선택)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BackToTitle()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skipTitle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Time.timeScale 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SceneManager.LoadScene(SceneManager.GetActiveScene().name);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GameManager.cs  6/7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코드 (4/4)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공통 · 붙일 곳: 빈 오브젝트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1072591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PlaySfx(AudioClip clip)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(sfxSource != null &amp;&amp; clip != null) sfxSource.PlayOneShot(clip);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SpawnFx(GameObject effectPrefab, Vector3 position)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(effectPrefab == null)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Instantiate(effectPrefab, position, Quaternion.identity);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RefreshHud()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(scoreText != null) scoreText.text = "SCORE " + Score;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(timeText != null)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int sec = Mathf.CeilToInt(TimeLeft);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timeText.text = timeLimit &gt; 0f ? "TIME " + sec : "";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ShowPanel(GameObject target)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(titlePanel != null) titlePanel.SetActive(titlePanel == target);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(hudPanel != null) hudPanel.SetActive(hudPanel == target);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(resultPanel != null) resultPanel.SetActive(resultPanel == target);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GameManager.cs  7/7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Inspector 칸 연결하기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GameManager를 선택하고, Hierarchy의 물체를 같은 이름의 칸으로 끌어다 놓습니다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931920"/>
                <a:gridCol w="551383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묶음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칸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넣을 것 · 값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Panels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Title Panel · Hud Panel · Result Panel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TitlePanel · HudPanel · ResultPanel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Texts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Score Text · Time Text · Info 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ScoreText · TimeText · InfoText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Result Title · Result Score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ResultTitle · ResultScore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Win Message · Lose Message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CLEAR!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· 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GAME OVER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Time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Time Limit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(시간 제한 없음)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Win When Time Up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체크 안 함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Sound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Sfx Source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같은 오브젝트의 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Audio Source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컴포넌트 제목을 끌어다 놓기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Win Clip · Lose Clip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STEP 6에서 채움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85216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9801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604570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97103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칸 이름 앞에 작은 동그라미 버튼을 눌러 목록에서 골라도 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버튼 연결 · 씬 목록 등록 · 첫 테스트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버튼마다 '눌렀을 때 GameManager의 어떤 함수를 부를지' 정합니다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StartButton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 → Button 컴포넌트 아래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 Click ()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의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생긴 칸(None (Object))에 Hierarchy의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끌어다 놓기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27980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84415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816352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 Function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▾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 &gt; StartGame ()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39237"/>
            <a:ext cx="667512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RetryButton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도 같은 방법 →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 &gt; Retry ()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39369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43978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39369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411982"/>
            <a:ext cx="667512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File &gt; Build Profiles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왼쪽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 Scene List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 Open Scenes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Play 씬 체크 확인 → 창 닫기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857752"/>
            <a:ext cx="667512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RETRY가 씬을 다시 불러오려면 씬이 목록에 있어야 합니다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21220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4258295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21220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230497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위쪽 가운데 ▶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타이틀 → START → HUD → ▶ 다시 눌러 Stop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453382"/>
            <a:ext cx="667512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게임은 시간 제한이 없어 결과 화면은 STEP 5에서 확인합니다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92440" y="1737360"/>
            <a:ext cx="3547872" cy="3657600"/>
          </a:xfrm>
          <a:prstGeom prst="roundRect">
            <a:avLst>
              <a:gd name="adj" fmla="val 3093"/>
            </a:avLst>
          </a:prstGeom>
          <a:solidFill>
            <a:srgbClr val="E5F4E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321040" y="184708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 확인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348472" y="228219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40496" y="2212848"/>
            <a:ext cx="287121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타이틀에서는 아무것도 움직이지 않는다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348472" y="2768854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540496" y="2699512"/>
            <a:ext cx="287121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 → 타이틀이 사라지고 SCORE가 보인다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348472" y="3255518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40496" y="3186176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Console에 빨간 에러가 없다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348472" y="352425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540496" y="3454908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Stop →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조작과 규칙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스크립트 붙이고 값 넣기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위에서부터 차례로. 끌어다 놓을 스크립트는 Project의 _Project/Scripts 에 있습니다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Flipper_L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 →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Flipper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끌어다 놓기 → Key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Left Arrow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Rest Angle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Hit Angle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-25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Speed 900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2494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29551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67712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Flipper_R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 →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Flipper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Key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Right Arrow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Rest Angle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-25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Hit Angle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Speed 900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276148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807574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779776"/>
            <a:ext cx="1054303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Ball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 → Add Component →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Rigidbody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(Collision Detection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Continuous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→ Add Component →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Constant Force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Force (0, 0, -6)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225546"/>
            <a:ext cx="10543032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Tag ▾ →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Player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Constant Force가 테이블 기울기 역할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561715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607801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56171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580003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Bumper_1 ~ 3 선택 → Add Component →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Bumper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(Score 100 · Push Force 8)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407377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726" y="4119865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407377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4092067"/>
            <a:ext cx="1054303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DrainZone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Box Collider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 Trigger ✓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Mesh Renderer 해제 →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Drain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Spawn Point ← SpawnPoint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Balls 3 · Target Score 1000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57972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176272" y="58628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368296" y="578815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Tag ▾ → Player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는 Inspector 맨 위 이름 아래에 있습니다.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 Trigger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는 Collider 컴포넌트 안에 있습니다.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조작과 규칙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Flipper — 코드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5주차 조작 레시피 그대로입니다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UnityEngine.InputSystem;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레시피 E: 플리퍼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붙일 곳: 회전축 빈 오브젝트 (막대 Cube는 자식)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[RequireComponent(typeof(Rigidbody))]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Flipper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이 플리퍼를 움직일 키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Key key = Key.LeftArrow;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쉬는 각도 · 쳐올린 각도 (Y축)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restAngle = 25f;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hitAngle = -25f;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초당 회전 각도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speed = 900f;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Rigidbody rb;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angle;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Flipper.cs  1/2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Start()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 = GetComponent&lt;Rigidbody&gt;();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rb.isKinematic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angle = restAngle;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FixedUpdate()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Keyboard kb = Keyboard.current;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 == null)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down = kb[key].isPressed;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target = down ? hitAngle : restAngle;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step = speed * Time.fixedDeltaTime;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angle = Mathf.MoveTowards(angle, target, step);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rb.MoveRotation(Quaternion.Euler(0f, angle, 0f));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Flipper.cs  2/2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조작과 규칙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Bumper — 코드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6주차 스크립트 · 파일로 받았다면 읽기만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1072591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범퍼: 공이 닿으면 점수 + 공을 세게 밀어낸다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붙일 곳: 범퍼 Cylinder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Bumper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score = 100;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pushForce = 8f;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hitClip;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hitEffect;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OnCollisionEnter(Collision collision)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(!collision.gameObject.CompareTag("Player"))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(!GameManager.IsPlaying)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Rigidbody ball = collision.rigidbody;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Vector3 dir = collision.transform.position - transform.position;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dir.y = 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ball.AddForce(dir.normalized * pushForce, ForceMode.Impulse);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GameManager gm = GameManager.Instance;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gm.AddScore(score);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gm.PlaySfx(hitClip);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gm.SpawnFx(hitEffect, collision.transform.position);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Bumper.cs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조작과 규칙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Drain — 코드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6주차 스크립트 · 파일로 받았다면 읽기만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핀볼 아래 배수구: 공이 빠지면 남은 공 -1, 0이 되면 끝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붙일 곳: 플리퍼 아래의 Is Trigger 구역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Drain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Transform spawnPoint;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balls = 3;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이 점수 이상이면 CLEAR, 아니면 GAME OVER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targetScore = 1000;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loseBallClip;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Start()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ShowInfo();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OnTriggerEnter(Collider other)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(!other.CompareTag("Player") || !GameManager.IsPlaying) return;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Drain.cs  1/2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GameManager gm = GameManager.Instance;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balls--;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gm.PlaySfx(loseBallClip);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ShowInfo();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(balls &lt;= 0)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gm.EndGame(gm.Score &gt;= targetScore);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공을 출발 위치로 되돌린다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Rigidbody rb = other.attachedRigidbody;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rb.linearVelocity = Vector3.zero;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rb.angularVelocity = Vector3.zero;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rb.position = spawnPoint.position;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ShowInfo()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info = "BALL " + balls + "   GOAL " + targetScore;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GameManager.Instance.SetInfo(info);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Drain.cs  2/2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조작과 규칙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한 판 테스트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▶ Play 로 직접 해 봅니다. 이기는 판 · 지는 판을 각각 한 번씩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38728" cy="713232"/>
          </a:xfrm>
          <a:prstGeom prst="roundRect">
            <a:avLst>
              <a:gd name="adj" fmla="val 15385"/>
            </a:avLst>
          </a:prstGeom>
          <a:solidFill>
            <a:srgbClr val="E5F4E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8308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 3개 후 1000점 이상이면 CLEAR!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1783080"/>
            <a:ext cx="3538728" cy="713232"/>
          </a:xfrm>
          <a:prstGeom prst="roundRect">
            <a:avLst>
              <a:gd name="adj" fmla="val 15385"/>
            </a:avLst>
          </a:prstGeom>
          <a:solidFill>
            <a:srgbClr val="FCEAE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07992" y="1783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0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239512" y="178308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1000점 미달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01584" y="1783080"/>
            <a:ext cx="3538728" cy="713232"/>
          </a:xfrm>
          <a:prstGeom prst="roundRect">
            <a:avLst>
              <a:gd name="adj" fmla="val 15385"/>
            </a:avLst>
          </a:prstGeom>
          <a:solidFill>
            <a:srgbClr val="E8F0F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84464" y="1783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F6F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015984" y="178308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범퍼 +100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743200"/>
            <a:ext cx="6949440" cy="2743200"/>
          </a:xfrm>
          <a:prstGeom prst="roundRect">
            <a:avLst>
              <a:gd name="adj" fmla="val 4000"/>
            </a:avLst>
          </a:prstGeom>
          <a:solidFill>
            <a:srgbClr val="E5F4E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285292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 확인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" y="328803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96696" y="3218688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 후 공이 오른쪽 위에서 굴러 내려온다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4672" y="3556762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96696" y="3487420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→ 로 플리퍼가 올라가고 공을 칠 수 있다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4672" y="3825494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96696" y="3756152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범퍼에 닿으면 튕기며 +100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4672" y="4094226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96696" y="4024884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빠지면 BALL −1 · 3개 다 쓰면 결과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772400" y="2743200"/>
            <a:ext cx="3867912" cy="1600200"/>
          </a:xfrm>
          <a:prstGeom prst="roundRect">
            <a:avLst>
              <a:gd name="adj" fmla="val 6857"/>
            </a:avLst>
          </a:prstGeom>
          <a:solidFill>
            <a:srgbClr val="FCEAE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01000" y="2743200"/>
            <a:ext cx="34107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공이 플리퍼를 뚫으면 → Continuous 확인. 공이 너무 느리면 Force Z를 −10으로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72400" y="4480560"/>
            <a:ext cx="3867912" cy="1005840"/>
          </a:xfrm>
          <a:prstGeom prst="roundRect">
            <a:avLst>
              <a:gd name="adj" fmla="val 10909"/>
            </a:avLst>
          </a:prstGeom>
          <a:solidFill>
            <a:srgbClr val="F3F5F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001000" y="44805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(선택) 범퍼를 늘리거나 Target Score를 바꿔 난이도 조절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57972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176272" y="58628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368296" y="57881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여기까지 되면 '한 판 완주'와 '화면 3개'가 끝난 것입니다.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S · 백업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6 · 반응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소리 구하기 · 가져오기 · 스피커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어디서 받았는지 꼭 적어 두세요 (발표 때 말합니다)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F3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38528"/>
            <a:ext cx="4937760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어디서 구하나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4672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" y="2330704"/>
            <a:ext cx="471830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Kenney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(kenney.nl) — CC0, 출처 표기 없이 사용 가능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04672" y="29315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6696" y="2859532"/>
            <a:ext cx="471830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sfxr.me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버튼으로 효과음 생성 → Export .wav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4672" y="32340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96696" y="3162046"/>
            <a:ext cx="471830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Pixabay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효과음 · 음악, 라이선스 확인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45352" y="173736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F3F5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73952" y="1938528"/>
            <a:ext cx="4937760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배경음 스피커 (새로)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01384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93408" y="2330704"/>
            <a:ext cx="471830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GameObject &gt; Create Empty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BGM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Add Component → 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 Source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501384" y="29315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93408" y="2859532"/>
            <a:ext cx="471830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AudioClip = 배경음 ·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 On Awake ✓ · Loop ✓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Volume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0.3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726" y="45266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4498848"/>
            <a:ext cx="1054303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받은 .wav · .ogg · .mp3 를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_Project/Audio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끌어 넣기 · 이름은 영어 (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SFX_Hit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SFX_Win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SFX_Lose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BGM_Main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505434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5100432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505434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5072634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 Camera의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Audio Listener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(귀)는 지우지 않습니다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6 · 반응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한 번 터지고 사라지는 파티클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FX_Hit 하나를 만들고, 색만 바꾼 FX_Win 을 복제합니다</a:t>
            </a:r>
            <a:endParaRPr lang="en-US" sz="15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9494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219456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위치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값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Main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Duration · Looping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0.5 ·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해제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Start Lifetime · Start Speed · Start Size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0.4 · 4 · 0.2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Start Color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게임에 맞는 색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Stop Action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Destroy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(다 터지면 삭제)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Emission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Rate over Time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Bursts 의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+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Count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Shape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Shape · Radius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Sphere · 0.2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691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7" name="Shape 4"/>
          <p:cNvSpPr/>
          <p:nvPr/>
        </p:nvSpPr>
        <p:spPr>
          <a:xfrm>
            <a:off x="7818486" y="1737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1709928"/>
            <a:ext cx="331927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GameObject &gt; Effects &gt; Particle System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FX_Hit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72400" y="23037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8"/>
          <p:cNvSpPr/>
          <p:nvPr/>
        </p:nvSpPr>
        <p:spPr>
          <a:xfrm>
            <a:off x="7818486" y="23498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0" y="23037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2322068"/>
            <a:ext cx="331927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왼쪽 표대로 설정 → Scene 뷰에서 '퍽' 터지는지 확인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772400" y="29159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2"/>
          <p:cNvSpPr/>
          <p:nvPr/>
        </p:nvSpPr>
        <p:spPr>
          <a:xfrm>
            <a:off x="7818486" y="29620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0" y="291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2934208"/>
            <a:ext cx="331927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Hierarchy의 FX_Hit 를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_Project/Prefabs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끌기 → Hierarchy의 FX_Hit 삭제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772400" y="374269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6"/>
          <p:cNvSpPr/>
          <p:nvPr/>
        </p:nvSpPr>
        <p:spPr>
          <a:xfrm>
            <a:off x="7818486" y="378877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772400" y="37426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321040" y="3760978"/>
            <a:ext cx="331927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Project의 FX_Hit 선택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D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FX_Win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더블클릭해 Start Color 변경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6 · 반응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칸 채우기 — 이 게임의 소리 · 이펙트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소리는 _Project/Audio 의 파일을, 이펙트는 _Project/Prefabs 의 FX_ 를 끌어다 놓습니다</a:t>
            </a:r>
            <a:endParaRPr lang="en-US" sz="15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선택할 물체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채울 칸 → 넣을 것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GameManager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Win Clip · Lose Clip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Bumper_1 ~ 3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Hit Clip (띵!) · Hit Effect (FX_Hit)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DrainZone (Drain)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Lose Ball Clip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3400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4056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3309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 칸이 있어도 에러는 나지 않습니다.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득점 · 성공 · 실패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세 가지부터 채우세요.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7 · 빌드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Player 설정 → Windows로 빌드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발표는 빌드한 .exe로 합니다. 처음 빌드는 몇 분 걸립니다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76656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Edit &gt; Project Settings... &gt; Player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맨 위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Product Name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MiniPinball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217928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파일 이름이 됩니다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80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626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58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598928"/>
            <a:ext cx="676656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Resolution and Presentation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펼치기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Fullscreen Mode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Fullscreen Window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061208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끄는 키는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ESC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(GameManager에 들어 있음)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239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726" y="34700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423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442208"/>
            <a:ext cx="676656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File &gt; Build Profiles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왼쪽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673348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 옆에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Active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 없으면 오른쪽 아래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Switch Platform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먼저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360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726" y="40821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0360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054348"/>
            <a:ext cx="676656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 Scene List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Play 씬 체크 · 번호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확인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5664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726" y="46124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45664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584700"/>
            <a:ext cx="676656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오른쪽 아래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프로젝트 폴더 안에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폴더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만들어 선택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" y="4815840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Assets 폴더 안에는 절대 만들지 마세요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83880" y="1737360"/>
            <a:ext cx="3456432" cy="2926080"/>
          </a:xfrm>
          <a:prstGeom prst="roundRect">
            <a:avLst>
              <a:gd name="adj" fmla="val 2500"/>
            </a:avLst>
          </a:prstGeom>
          <a:solidFill>
            <a:srgbClr val="1F263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66760" y="182880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빌드 결과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385048" y="2148840"/>
            <a:ext cx="305409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MiniPinball.exe 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실행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MiniPinball_Data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UnityPlayer.dll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UnityCrashHandler64.exe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D3D12 · MonoBleedingEdge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…_DoNotShip 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빼도 됨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83880" y="4800600"/>
            <a:ext cx="3456432" cy="914400"/>
          </a:xfrm>
          <a:prstGeom prst="roundRect">
            <a:avLst>
              <a:gd name="adj" fmla="val 12000"/>
            </a:avLst>
          </a:prstGeom>
          <a:solidFill>
            <a:srgbClr val="FCEAE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412480" y="4800600"/>
            <a:ext cx="2999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.exe 하나만 복사하면 실행되지 않습니다.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 폴더 통째로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옮기세요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7 · 빌드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실행 확인 · 압축 · 다른 PC 테스트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발표 날 처음 실행해 보는 일이 없도록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67512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 폴더의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MiniPinball.exe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더블클릭 → 타이틀 → 한 판 → RETRY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ESC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39903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44511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990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17318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"Windows의 PC 보호" 창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정보 → 실행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656713"/>
            <a:ext cx="667512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만든 프로그램이라 뜨는 정상 경고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27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30737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02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45968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…_BurstDebugInformation_DoNotShip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폴더가 있으면 지우기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35580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60411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558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576320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 폴더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압축(ZIP)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게임엔진기초_6주차_학번_이름.zip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" y="408838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726" y="413447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4088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4106672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폴더나 다른 PC에 풀어서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다시 실행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8092440" y="1737360"/>
            <a:ext cx="3547872" cy="3017520"/>
          </a:xfrm>
          <a:prstGeom prst="roundRect">
            <a:avLst>
              <a:gd name="adj" fmla="val 3636"/>
            </a:avLst>
          </a:prstGeom>
          <a:solidFill>
            <a:srgbClr val="E5F4E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21040" y="184708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빌드 성공 확인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348472" y="228219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540496" y="2212848"/>
            <a:ext cx="287121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Unity를 끈 상태에서 .exe만으로 실행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348472" y="2768854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40496" y="2699512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타이틀부터 시작한다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348472" y="3037586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540496" y="2968244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소리가 난다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348472" y="3306318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40496" y="3236976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RETRY · ESC가 동작한다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마무리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완성 체크 — Hierarchy와 필수 네 가지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내 Hierarchy가 왼쪽과 같으면 구조는 끝났습니다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126480" cy="4389120"/>
          </a:xfrm>
          <a:prstGeom prst="roundRect">
            <a:avLst>
              <a:gd name="adj" fmla="val 1667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완성된 Hierarchy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48840"/>
            <a:ext cx="572414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Camera     (Orthographic)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Directional Light · Global Volume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GameManager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GameManager · Audio Source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BGM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Audio Source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 · EventSystem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 · Wall_L · Wall_R · Wall_T · Guide_L · Guide_R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Flipper_L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Flipper  (└ Bar)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Flipper_R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Flipper  (└ Bar)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Bumper_1 ~ 3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Bumper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Ball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Rigidbody · Constant Force · Tag Player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SpawnPoint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DrainZone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Drain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949440" y="173736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0" y="202996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8096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판 완주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22128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타이틀 → 플레이 → 결과 → RETRY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49440" y="283464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0" y="312724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0" y="2926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3개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33101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타이틀 · HUD · 결과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49440" y="393192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0" y="422452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0" y="4023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반응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44074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득점 · 성공 · 실패에 소리 + 이펙트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49440" y="502920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0" y="532180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80960" y="5120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Windows 빌드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55046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.exe로 다른 PC에서 실행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마무리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막혔을 때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Console의 빨간 줄을 더블클릭하면 문제의 줄로 갑니다. 맨 위 에러부터</a:t>
            </a:r>
            <a:endParaRPr lang="en-US" sz="15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6153912"/>
              </a:tblGrid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이런 증상 · 메시지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원인 → 해결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Scene 'Play' couldn't be loaded because it has not been added to the build settings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STEP 4의 씬 목록 등록 (Build Profiles &gt; Open Scene List &gt; Add Open Scenes)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NullReferenceException · UnassignedReferenceException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Inspector 칸이 비어 있음 → 메시지에 나온 칸 이름을 찾아 채우기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InvalidOperationException … UnityEngine.Input class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EventSystem 선택 → </a:t>
                      </a:r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Replace with InputSystemUIInputModule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버튼을 눌러도 반응 없음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On Click에 GameManager · 함수 연결 · EventSystem 있는지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글자가 □ 로 나온다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한글 · 중국어 → 영어로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판정(골 · 낙하 · 배수구 등)이 반응 없음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 Tag = Player · Is Trigger ✓ · 공에 Rigidbody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Play 하자마자 물체가 튀거나 떨어진다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표의 Position · Scale 숫자를 다시 확인 (겹치거나 떠 있음)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 게임만: 공이 플리퍼를 뚫으면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Continuous 확인. 공이 너무 느리면 Force Z를 −10으로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yBox">
  <a:themeElements>
    <a:clrScheme name="GrayBox">
      <a:dk1>
        <a:srgbClr val="1E242B"/>
      </a:dk1>
      <a:lt1>
        <a:srgbClr val="FFFFFF"/>
      </a:lt1>
      <a:dk2>
        <a:srgbClr val="3A434D"/>
      </a:dk2>
      <a:lt2>
        <a:srgbClr val="F3F5F7"/>
      </a:lt2>
      <a:accent1>
        <a:srgbClr val="E07A2E"/>
      </a:accent1>
      <a:accent2>
        <a:srgbClr val="2F6FEB"/>
      </a:accent2>
      <a:accent3>
        <a:srgbClr val="23905A"/>
      </a:accent3>
      <a:accent4>
        <a:srgbClr val="D04444"/>
      </a:accent4>
      <a:accent5>
        <a:srgbClr val="8C96A1"/>
      </a:accent5>
      <a:accent6>
        <a:srgbClr val="7A5AF8"/>
      </a:accent6>
      <a:hlink>
        <a:srgbClr val="2F6FEB"/>
      </a:hlink>
      <a:folHlink>
        <a:srgbClr val="7A5AF8"/>
      </a:folHlink>
    </a:clrScheme>
    <a:fontScheme name="GrayBox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박정원</dc:creator>
  <cp:lastModifiedBy>박정원</cp:lastModifiedBy>
  <cp:revision>1</cp:revision>
  <dcterms:created xsi:type="dcterms:W3CDTF">2026-10-19T05:50:53Z</dcterms:created>
  <dcterms:modified xsi:type="dcterms:W3CDTF">2026-10-19T05:50:53Z</dcterms:modified>
</cp:coreProperties>
</file>