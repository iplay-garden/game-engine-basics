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d4c128af-0e30-9a08-6067-64531cefce9a}">
          <p14:sldIdLst>
            <p14:sldId id="256"/>
            <p14:sldId id="257"/>
          </p14:sldIdLst>
        </p14:section>
        <p14:section name="实操 1" id="{9cd2b1c8-37e4-5d18-0279-804a9cb6643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实操 2" id="{02074ed0-5fff-9eb5-d94d-02cc43e8460d}">
          <p14:sldIdLst>
            <p14:sldId id="269"/>
            <p14:sldId id="270"/>
            <p14:sldId id="271"/>
          </p14:sldIdLst>
        </p14:section>
        <p14:section name="实操 3" id="{82db6cf5-ef93-bf8f-9129-08ad030976b0}">
          <p14:sldIdLst>
            <p14:sldId id="272"/>
            <p14:sldId id="273"/>
            <p14:sldId id="274"/>
          </p14:sldIdLst>
        </p14:section>
        <p14:section name="实操 4" id="{0b0a200d-f278-97a8-15de-326c23dea67b}">
          <p14:sldIdLst>
            <p14:sldId id="275"/>
            <p14:sldId id="276"/>
            <p14:sldId id="277"/>
          </p14:sldIdLst>
        </p14:section>
        <p14:section name="实操 5" id="{7ca6a20a-b28d-2240-6f31-30db1b432092}">
          <p14:sldIdLst>
            <p14:sldId id="278"/>
            <p14:sldId id="279"/>
            <p14:sldId id="280"/>
            <p14:sldId id="281"/>
            <p14:sldId id="282"/>
          </p14:sldIdLst>
        </p14:section>
        <p14:section name="实操 6" id="{69086a09-2863-5c57-9ed7-d7d12e9373a2}">
          <p14:sldIdLst>
            <p14:sldId id="283"/>
            <p14:sldId id="284"/>
          </p14:sldIdLst>
        </p14:section>
        <p14:section name="实操 7" id="{3f9d9847-22c5-57a9-6c89-52b2c3158fc9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收尾" id="{01546498-392f-248f-ab63-8d1cc1b59b60}">
          <p14:sldIdLst>
            <p14:sldId id="293"/>
            <p14:sldId id="294"/>
          </p14:sldIdLst>
        </p14:section>
        <p14:section name="作业" id="{9822e5c6-37f4-cdc1-e670-040c4a805967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第 8 周 实操与作业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第 8 周 实操与作业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实操与作业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东明大学 游戏美术系 · 游戏引擎基础 第 8 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783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从今天开始。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514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AI 和素材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花一个月做一款游戏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9319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DB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 AI 一起做策划、做主视觉，然后在新项目中让换上素材的玩家动起来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基准版本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任课教师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朴炡垣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今天会出现的词 — 先整理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遇到不懂的词就回到这一页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39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词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意思（简单说）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素材（Asset）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游戏中使用的材料文件 — 3D 模型 · 图片 · 声音 · 特效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模型（FBX）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装有 3D 形状的文件。FBX 是最常见的格式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 · 贴图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 = 表面颜色 · 质感的设置 / 贴图 = 贴在表面的图片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预制体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为了重复使用而保存的物体“模板”。大部分素材以预制体形式提供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URP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我们项目绘制画面的方式。素材也要符合这个方式才能正常显示（不符合就是粉色）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低多边形（low poly）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面数少的简单 3D 风格。轻量，混用也协调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主视觉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展示游戏氛围的代表图片（类似海报）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提示词（Prompt）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发给 AI 的提问 · 指令。越详细越能得到想要的回答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1 · 28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 AI 一起做策划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 AI 一起拓展点子，由自己做决定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拓展 — 让 AI 给 5 个点子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挑选并缩小 — 自己挑，和 AI 一起缩小规模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写出并请 AI 检查 — 一页策划 → 让 AI 点评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先要知道的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游戏越简单，越能做得好看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时间是固定的。没花在规则上的时间，就是“美化的时间”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周的时间分配（示例）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2周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3周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4周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5周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6周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77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复杂的策划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7520" y="2377440"/>
            <a:ext cx="6858000" cy="566928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17520" y="23774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 · bug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75520" y="2377440"/>
            <a:ext cx="1371600" cy="566928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5520" y="23774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美化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五个规则 · 多种敌人 · 多个关卡 → 用灰色画面演示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37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简单的策划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17520" y="3337560"/>
            <a:ext cx="2743200" cy="566928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017520" y="3337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 · bug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0720" y="3337560"/>
            <a:ext cx="5486400" cy="566928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60720" y="33375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美化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3941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一个核心动作 · 少量物体种类 → 剩下 4 周做素材 · 光照 · 标题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3547872" cy="109728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有时间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773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规则早点完成才有时间美化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0" y="4343400"/>
            <a:ext cx="3547872" cy="109728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056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风格容易统一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4773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出现的物体种类越少，越容易找到风格一致的素材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46720" y="4343400"/>
            <a:ext cx="3547872" cy="109728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bug 少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773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功能越少，演示当天出问题的可能越小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705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176272" y="5771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368296" y="56967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一个规则 + 好看的画面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，比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五个规则 + 灰色画面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看起来好得多。策划要精简，把时间花在美化上。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先要知道的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看真实案例 — 小而简单的游戏的力量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许多知名游戏也是靠“简单的规则 + 用心的画面”受到喜爱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47872" cy="3886200"/>
          </a:xfrm>
          <a:prstGeom prst="roundRect">
            <a:avLst>
              <a:gd name="adj" fmla="val 3093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3547872" cy="91440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简单操作 + 美丽画面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58952" y="2489835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0976" y="2423160"/>
            <a:ext cx="29809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Alto's Adventure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（2015）— 点一下跳跃，按住做特技，操作基本只有一个。评测最常称赞的是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画面和氛围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" y="3220085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0976" y="3153410"/>
            <a:ext cx="29809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Monument Valley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（2014）— 1~3 小时就能通关的短篇解谜游戏。凭借美丽画面获得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2014 Apple Design Award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547872" cy="3886200"/>
          </a:xfrm>
          <a:prstGeom prst="roundRect">
            <a:avLst>
              <a:gd name="adj" fmla="val 3093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737360"/>
            <a:ext cx="3547872" cy="91440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056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计划总会拖长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507992" y="248983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00016" y="2423160"/>
            <a:ext cx="29809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Crossy Road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（2014）— 过马路躲车的简单游戏。原计划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周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，实际花了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周以上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07992" y="322008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0016" y="3153410"/>
            <a:ext cx="29809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专业开发者的日程也会翻倍。我们必须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一开始就定得小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1737360"/>
            <a:ext cx="3547872" cy="3886200"/>
          </a:xfrm>
          <a:prstGeom prst="roundRect">
            <a:avLst>
              <a:gd name="adj" fmla="val 3093"/>
            </a:avLst>
          </a:prstGeom>
          <a:solidFill>
            <a:srgbClr val="F3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1737360"/>
            <a:ext cx="3547872" cy="9144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梦想中的大游戏要好几年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257032" y="2489835"/>
            <a:ext cx="73152" cy="7315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49056" y="2423160"/>
            <a:ext cx="29809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Stardew Valley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（2016）— 充满农场 · 村庄 · 故事的游戏。一位开发者独自做了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四年半以上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57032" y="3220085"/>
            <a:ext cx="73152" cy="7315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49056" y="3153410"/>
            <a:ext cx="29809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想做的大游戏很珍贵，但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不是一个月作业的规模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150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来源：各游戏的 Wikipedia 条目（开发周期 · 获奖 · 评测内容）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98932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FDF0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61173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76272" y="61828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368296" y="61081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启示：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规则要小，画面要用心。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计划会拖长，所以一开始就要更小。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先要知道的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如果有想做的大游戏？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不用放弃，只取出那个游戏里“最有趣的一个瞬间”来做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657600"/>
                <a:gridCol w="45994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想做的游戏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最有趣的一个瞬间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变成一个月的期末游戏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开放世界 RPG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躲开怪物拿到宝物的瞬间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一个房间 · 躲开 3 只怪物拿到一个宝物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赛车（多条赛道）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快速过弯的瞬间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一条赛道 · 3 个检查点 · 计时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射击 + 技能 + Boss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清扫涌来的敌人的瞬间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一个画面 · 射击靠近的敌人坚持 60 秒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农场经营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收获成熟作物的瞬间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一块田 · 60 秒内收获 10 个作物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恐怖游戏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黑暗中被什么追赶的瞬间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黑暗迷宫 · 手电筒 · 逃到出口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2395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期末游戏是大游戏的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“试玩版”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。做得漂亮完整，假期就能从这里继续扩展。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先要知道的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一个月游戏的一句话公式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能用这一句话说清，就是合适的规模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F0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[谁]  [躲开 · 收集 · 击中什么]  [在几秒内]  达成 [目标]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91672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1737360"/>
                <a:gridCol w="331927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一句话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唯一的规则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机器人在 60 秒内收集 20 个金币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WASD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碰到金币 +1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小猫躲开掉落的花盆，坚持 60 秒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← →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碰到花盆就失败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猎人在 30 秒内击中出现的靶子得分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鼠标点击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点中靶子 +10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探险家在 90 秒内找到钥匙开门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WASD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拿着钥匙碰到门就成功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吊车投下方块，堆到 10 层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Space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方块掉下就失败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68296" y="58338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直接选例子也可以。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规则相同，素材 · 颜色 · 标题不同，就会成为完全不同的游戏。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先要知道的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基础路线与挑战路线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所有人先做基础路线。基础全部完成后，才逐个加挑战路线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3749040"/>
          </a:xfrm>
          <a:prstGeom prst="roundRect">
            <a:avLst>
              <a:gd name="adj" fmla="val 2927"/>
            </a:avLst>
          </a:prstGeom>
          <a:solidFill>
            <a:srgbClr val="FDF0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基础路线 — 所有人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4672" y="236334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 1~2 个 · 目标 1 个 · 失败条件 1 个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" y="268262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05278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三个画面（标题 · HUD · 结果）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" y="300189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24556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用素材装饰的地图 · 角色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" y="332117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43834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按主视觉调整光照 · 颜色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36404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6696" y="3563112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AI 图片美化的标题画面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04672" y="395973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6696" y="3882390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声音 · 特效 · Windows 打包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45352" y="173736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3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7395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挑战路线 — 只限完成基础的人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01384" y="2363343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2286000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随时间变难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01384" y="2682621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2605278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会移动的敌人 · 障碍物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501384" y="3001899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93408" y="2924556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记录最高分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01384" y="3321177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93408" y="3243834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摄像机震动 · 出场效果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501384" y="3640455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93408" y="3563112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增加背景装饰（云 · 树 · 粒子）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目标是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把基础路线漂亮地完成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。挑战路线只在美化全部完成、还有时间时才做。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AI 策划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策划四步 — AI 是每一步的搭档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 不是替你决定，而是帮你更快地拓展和打磨想法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6FEB"/>
          </a:solidFill>
          <a:ln/>
        </p:spPr>
      </p:sp>
      <p:sp>
        <p:nvSpPr>
          <p:cNvPr id="7" name="Shape 5"/>
          <p:cNvSpPr/>
          <p:nvPr/>
        </p:nvSpPr>
        <p:spPr>
          <a:xfrm>
            <a:off x="810158" y="202631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拓展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给出条件，让 AI 给出多个点子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63824" y="3017520"/>
            <a:ext cx="201168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DF0E4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35654" y="202631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7530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挑选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575304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自己挑一个想做的（不让 AI 选）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89320" y="3017520"/>
            <a:ext cx="201168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6FE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1150" y="202631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缩小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 AI 一起删减功能，保证 6 周能完成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14816" y="3017520"/>
            <a:ext cx="201168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26" name="Shape 24"/>
          <p:cNvSpPr/>
          <p:nvPr/>
        </p:nvSpPr>
        <p:spPr>
          <a:xfrm>
            <a:off x="9025128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9226296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6FEB"/>
          </a:solidFill>
          <a:ln/>
        </p:spPr>
      </p:sp>
      <p:sp>
        <p:nvSpPr>
          <p:cNvPr id="28" name="Shape 26"/>
          <p:cNvSpPr/>
          <p:nvPr/>
        </p:nvSpPr>
        <p:spPr>
          <a:xfrm>
            <a:off x="9286646" y="202631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26296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检查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 AI 点评完成的策划书，自己修改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111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76272" y="51770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68296" y="51023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只有 B（挑选）一定要自己来。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自己想做的游戏才能坚持 6 周。其余步骤和 AI 一起快速推进。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A 拓展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获取 5 个点子 — 提问模板 ①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条件给得越准确，得到的点子越“做得出来”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我是第一次学 Unity 的大学生。请给我期末作业游戏的点子。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[条件] Unity 6.3 · 3D · 一个人 6 周完成 · 一局 3 分钟以内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操作键 5 个以内 · 只有 1 个场景 · 能用免费素材（低多边形）做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[重要] 规则尽量简单 — 核心动作只有 1 个（例：躲避、收集）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[我喜欢的] （例：可爱的风格、收集、躲避……自由填写）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[请求] 5 个点子，用表格列出：游戏名称 / 一句话介绍 / 操作 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成功 · 失败条件 / 需要的素材 / 新手容易卡住的地方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提问模板 ① 拓展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594726" y="42523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224528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ChatGPT · Gemini · Claude 之一，粘贴上面的模板 · 只把 [我喜欢的] 改成自己的话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726" y="474610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718304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没有喜欢的就说“再给 5 个” · “把第○和第○个结合一下”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726" y="52398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212080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自己挑一个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写一句为什么选它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C 缩小 · D 检查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缩小、写出、请 AI 点评 — 提问模板 ② ③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 特别擅长“缩小规模”和“找弱点”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我选了这个点子：（粘贴选中的那一行）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新手一个人 6 周要做完。只留 3 个必需功能，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其余列为“有时间再做”。并填写下面的一页策划表。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（粘贴一页策划表的项目）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提问模板 ② 缩小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511296"/>
            <a:ext cx="10725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这是我的策划书。（粘贴）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请指出新手 6 周内最可能卡住的 3 个地方，以及简化的办法。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3456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提问模板 ③ 点评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726" y="4572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544568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AI 填好的内容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移到模板文件里，并改成自己的话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（不直接复制粘贴）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01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504785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20056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只采纳 ③ 中认同的意见 → 下一页规模检查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策划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一页策划表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模板文件里有同样的表格。今天课上把格子都填满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23951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写法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例（收集游戏）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游戏名称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用英文（直接用于 UI 文字）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COIN RUSH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一句话介绍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谁 · 做什么 · 怎么做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机器人在 60 秒内收集 20 个金币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只用几个键 · 鼠标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WASD 移动 · Space 跳跃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成功 · 失败 · 分数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用数字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收集 20 个成功 · 超过 60 秒失败 · 金币 +10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三个画面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标题 · HUD · 结果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COIN RUSH / SCORE · TIME / CLEAR! · RETRY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摄像机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固定或跟随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从斜上方俯视，跟随玩家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画面风格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 个关键词（实操 2 决定）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low poly · 粉彩色 · 明亮白天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需要的素材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玩家 · 场景 · 目标物 · 声音 · 特效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机器人 · 地砖 · 金币 · 拾取音 · 闪光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03504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6163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2285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61539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例子中的名称 · 数字只用于说明表格。请按自己的游戏决定。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策划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规模检查 — 一个人 6 周能完成吗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只要有一个“否”，就让 AI “按这个条件缩小”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914400"/>
                <a:gridCol w="469087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问题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是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如果是“否”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能用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一句话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说清规则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只留一个规则，其他删掉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一局在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 分钟内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结束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减少目标数 · 时间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操作键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 个以内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合并操作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只有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 个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场景（不做多个关卡）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关卡等期末之后再说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需要新学的功能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 个以内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其他用已学的方法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需要的素材能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免费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获得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改成有类似免费素材的方案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E5F4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5046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" y="59397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96696" y="5870448"/>
            <a:ext cx="104150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表格全部填好 · 规模检查全部为“是” · 写了一句选择理由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2 · 15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AI 做主视觉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先画出完成后游戏的“一个画面”，风格就定下来了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用图像生成 AI 做标题背景候选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确定 3 个风格关键词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这张图会成为第 12 周标题画面的背景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2 · 主视觉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图像提问模板 — 不要文字，只要画面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ChatGPT · Gemini · Copilot 等能生成图片的 AI 都可以（免费额度各服务不同）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2057400"/>
          </a:xfrm>
          <a:prstGeom prst="roundRect">
            <a:avLst>
              <a:gd name="adj" fmla="val 3556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请为 3D 游戏标题画面画一张背景图。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[游戏] （一句话介绍，例：机器人在漂浮的小岛上收集金币）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[风格] low poly 3D · 粉彩色 · 明亮的白天（← 写自己的风格关键词）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[构图] 16:9 横图 · 画面中央上方留出放游戏名称的空位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[禁止] 不要任何文字 · 字母 · 标志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图像提问模板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594726" y="3978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50208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重新生成 2~3 次，选最满意的一张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存为 PNG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181348"/>
            <a:ext cx="6217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文件名：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KeyVisual_01.png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44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4590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44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562348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从图中提炼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个风格关键词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写进策划书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793488"/>
            <a:ext cx="6217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例：low poly · 粉彩色 · 明亮白天 — 实操 4 用这些词搜索素材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3931920"/>
            <a:ext cx="4050792" cy="2103120"/>
          </a:xfrm>
          <a:prstGeom prst="roundRect">
            <a:avLst>
              <a:gd name="adj" fmla="val 5217"/>
            </a:avLst>
          </a:prstGeom>
          <a:solidFill>
            <a:srgbClr val="F3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8120" y="413308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要避免的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45552" y="45780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37576" y="4508754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要求模仿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知名游戏 · 角色 · 标志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45552" y="4872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37576" y="4802886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带文字的图片（文字在 Unity 里加）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45552" y="516636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7576" y="5097018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不记录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在哪里生成的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2 · 主视觉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主视觉的作用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一张图会成为 6 周的“方向”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素材搜索词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用风格关键词搜索 Asset Store · Kenney → 更容易选到风格一致的素材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0" y="2075688"/>
            <a:ext cx="1554480" cy="438912"/>
          </a:xfrm>
          <a:prstGeom prst="roundRect">
            <a:avLst>
              <a:gd name="adj" fmla="val 41667"/>
            </a:avLst>
          </a:prstGeom>
          <a:solidFill>
            <a:srgbClr val="FDF0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0" y="20756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今天实操 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063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 · 光照标准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63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按这张图的天空色 · 光线方向 · 氛围设置光照和后期处理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0" y="3264408"/>
            <a:ext cx="1554480" cy="438912"/>
          </a:xfrm>
          <a:prstGeom prst="roundRect">
            <a:avLst>
              <a:gd name="adj" fmla="val 41667"/>
            </a:avLst>
          </a:prstGeom>
          <a:solidFill>
            <a:srgbClr val="FDF0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0" y="32644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11 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51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标题画面背景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2519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放在 Canvas 的 Image 上，再加游戏名称 · START 按钮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75520" y="4453128"/>
            <a:ext cx="1554480" cy="438912"/>
          </a:xfrm>
          <a:prstGeom prst="roundRect">
            <a:avLst>
              <a:gd name="adj" fmla="val 41667"/>
            </a:avLst>
          </a:prstGeom>
          <a:solidFill>
            <a:srgbClr val="FDF0E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0" y="44531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12 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E5F4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55040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4672" y="598551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5916168"/>
            <a:ext cx="104150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保存了 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KeyVisual_01.png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3 个风格关键词 · 1 行 AI 使用记录（什么工具 · 怎么问的）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3 · 10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新建项目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期中项目保持不动，完全新建一个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 → Universal 3D → Final_学号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建立自己的文件夹 _Project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确认编辑器已登录 Unity 账号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3 · 新项目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新项目 · 文件夹 · 场景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与第 6 周跟做指南 STEP 1 顺序相同，只是名字不同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 Editor Version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6000.3.x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模板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Project name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Final_学号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（例：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Final_20251234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project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Project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7632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里建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203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2492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203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2148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SampleScene 移到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并改名为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打开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3657600"/>
          </a:xfrm>
          <a:prstGeom prst="roundRect">
            <a:avLst>
              <a:gd name="adj" fmla="val 2000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0" y="182880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2148840"/>
            <a:ext cx="34655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自己做的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Scripts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(导入的素材)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自动生成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Settings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05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771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6967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导入的素材文件夹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保留在 Assets 下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。不要移进 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（更新时会出问题）。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3 · 新项目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在编辑器里登录 Unity 账号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在 Asset Store 获取的素材，要用“同一个账号”登录编辑器才能看到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点击编辑器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左上角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的账号按钮（人形图标或姓名首字母）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未登录时点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Sign in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在浏览器中用 Unity 账号登录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确认与 Unity Hub 登录的是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同一个账号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06640" y="1737360"/>
            <a:ext cx="4233672" cy="3108960"/>
          </a:xfrm>
          <a:prstGeom prst="roundRect">
            <a:avLst>
              <a:gd name="adj" fmla="val 3529"/>
            </a:avLst>
          </a:prstGeom>
          <a:solidFill>
            <a:srgbClr val="F3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1938528"/>
            <a:ext cx="377647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如果没有账号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62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54696" y="2330704"/>
            <a:ext cx="355701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可在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id.unity.com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免费注册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6267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54696" y="2633218"/>
            <a:ext cx="355701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也可以用学校邮箱注册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6267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54696" y="2935732"/>
            <a:ext cx="3557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 · 编辑器 · Asset Store 都用同一个账号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6583680" cy="822960"/>
          </a:xfrm>
          <a:prstGeom prst="roundRect">
            <a:avLst>
              <a:gd name="adj" fmla="val 13333"/>
            </a:avLst>
          </a:prstGeom>
          <a:solidFill>
            <a:srgbClr val="E5F4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389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" y="5574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6696" y="5504688"/>
            <a:ext cx="59070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账号按钮显示我的首字母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4 · 20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Asset Store 挑选并添加素材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先在网页加入“我的素材” → 再在编辑器中导入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免费筛选 · 确认 URP 兼容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 My Assets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马上记录到素材清单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4 · Asset 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搜索并只看免费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在网页浏览器中进行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assetstore.unity.com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右上角登录（与编辑器同一账号）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2179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在搜索框用英文输入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风格关键词 + 物品名称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poly robot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pastel island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…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96108"/>
            <a:ext cx="62179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low poly = 面数少的简单模型。轻量，适合新手项目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6707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313161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2670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85363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在左侧筛选中只选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价格（Pricing）→ Free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分类缩小到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（声音选 Audio，特效选 VFX）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89520" y="1737360"/>
            <a:ext cx="4050792" cy="384048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18120" y="1938528"/>
            <a:ext cx="359359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不要选这样的素材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4555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7576" y="2330704"/>
            <a:ext cx="33741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完整游戏模板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（Kit · Template · Complete Project）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4555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37576" y="2859532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容量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1GB 以上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84555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37576" y="3162046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没有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URP 兼容标记的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845552" y="35365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37576" y="3464560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最后更新很久以前的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888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76272" y="59542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68296" y="58795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只要避开完整游戏模板，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用于游戏的材料都可以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。不确定就先问老师。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4 · Asset 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在商品页确认 → 添加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添加前看三件事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查看位置（页面下方）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看什么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Render pipeline compatibility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URP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一栏是否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Compatible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File size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是否在几百 MB 以内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License agreement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是否为 Standard Unity Asset Store EULA（大多数是）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三项都没问题就点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 My Assets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0" y="2221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2680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240280"/>
            <a:ext cx="331927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出现许可协议窗口点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Accept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0" y="27523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7984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770632"/>
            <a:ext cx="331927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马上把素材名称 · 网址记到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素材清单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43484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DF0E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562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176272" y="4628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368296" y="45537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按钮名称可能因页面略有不同。免费素材无需付款即可加入“我的素材（My Assets）”。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176272" y="490118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368296" y="4826508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URP 为 Not compatible 的素材可能显示为粉色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实操 5 介绍转换方法。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5 · 15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导入编辑器 · 修复粉色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Package Manager → My Assets → Download → Import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Package Manager 导入我的素材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显示粉色就转换为 URP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 Kenney 免费模型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5 · 导入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Package Manager → My Assets → Import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6.3 的菜单位置。与旧资料中的 Window &gt; Package Manager 是同一个窗口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 &gt; Package Management &gt; Package Manager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在左侧列表选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Assets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能看到刚添加的素材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17140"/>
            <a:ext cx="6217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看不到时确认账号登录 · 点窗口上方刷新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798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92593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79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98140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选中素材 → 右侧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等待完成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102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5629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102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28492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#.# to project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405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398664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9405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958844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窗口：先保持全部勾选 → 点下方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0" y="1737360"/>
            <a:ext cx="4050792" cy="3566160"/>
          </a:xfrm>
          <a:prstGeom prst="roundRect">
            <a:avLst>
              <a:gd name="adj" fmla="val 3077"/>
            </a:avLst>
          </a:prstGeom>
          <a:solidFill>
            <a:srgbClr val="2B2B2B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0" y="1737360"/>
            <a:ext cx="4050792" cy="365760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26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Package Manager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Project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Registry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35240" y="2916936"/>
            <a:ext cx="1554480" cy="310896"/>
          </a:xfrm>
          <a:prstGeom prst="rect">
            <a:avLst/>
          </a:prstGeom>
          <a:solidFill>
            <a:srgbClr val="2C5D8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26680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Assets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3282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Built-in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3630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Services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81160" y="2148840"/>
            <a:ext cx="18288" cy="30632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（素材名称）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18320" y="2651760"/>
            <a:ext cx="1143000" cy="329184"/>
          </a:xfrm>
          <a:prstGeom prst="roundRect">
            <a:avLst>
              <a:gd name="adj" fmla="val 11111"/>
            </a:avLst>
          </a:prstGeom>
          <a:solidFill>
            <a:srgbClr val="4A4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18320" y="26517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18320" y="310896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4A4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0" y="31089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1.0 to project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3949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示意图为简化版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34924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E5F4E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45896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4672" y="589407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96696" y="5824728"/>
            <a:ext cx="608990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窗口 Assets 下出现了新的素材文件夹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5 · 导入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检查导入的素材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每个素材的文件夹结构都不同。先找模型 · 预制体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打开新文件夹，找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（或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Demo 场景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就双击打开看看效果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再回到自己的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场景（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_Project/Scenes/Play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3284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37450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346704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把要用的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预制体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拖到 Scene 视图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589520" y="1737360"/>
            <a:ext cx="4050792" cy="2011680"/>
          </a:xfrm>
          <a:prstGeom prst="roundRect">
            <a:avLst>
              <a:gd name="adj" fmla="val 5455"/>
            </a:avLst>
          </a:prstGeom>
          <a:solidFill>
            <a:srgbClr val="FCEA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18120" y="1737360"/>
            <a:ext cx="3593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导入素材后 Console 出现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红色错误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：多半是该素材的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Scripts · Demo 文件夹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造成的 → 见最后“遇到问题时”表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3931920"/>
            <a:ext cx="4050792" cy="1737360"/>
          </a:xfrm>
          <a:prstGeom prst="roundRect">
            <a:avLst>
              <a:gd name="adj" fmla="val 6316"/>
            </a:avLst>
          </a:prstGeom>
          <a:solidFill>
            <a:srgbClr val="F3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413308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素材的 Demo 场景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845552" y="45780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37576" y="4508754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只看，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不修改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45552" y="4872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37576" y="4802886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自己的游戏始终在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场景里做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5 · 导入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显示为粉色 — 转换为 URP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因为是 Built-in 用材质，URP 找不到着色器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 A — 全部转换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8" name="Shape 6"/>
          <p:cNvSpPr/>
          <p:nvPr/>
        </p:nvSpPr>
        <p:spPr>
          <a:xfrm>
            <a:off x="823326" y="2286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585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 &gt; Rendering &gt; Render Pipeline Converter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326" y="27435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157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上方下拉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Built-in to URP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勾选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Material Upgrade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326" y="3200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1729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Initialize and Convert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73952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 B — 只转换选中的材质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3952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90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20038" y="2286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7395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2585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Project 窗口选中粉色的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材质（Material）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905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20038" y="27435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3952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2715768"/>
            <a:ext cx="44805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Rendering &gt; Materials &gt; Convert Selected Built-in Materials to URP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FCEA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97764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转换后仍是粉色：说明素材使用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自己的着色器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无法自动转换。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换一个素材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最快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89520" y="3977640"/>
            <a:ext cx="4050792" cy="123444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18120" y="417880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转换前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45552" y="462381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37576" y="4554474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保存 · 备份项目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所以实操 4 先确认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URP Compatible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。一开始就选 URP 兼容的素材最简单。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5 · 导入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Kenney — 可免署名使用的免费模型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CC0（公共领域）许可。但仍要记到素材清单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浏览器打开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kenney.nl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分类选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选择喜欢的套件（Kit）→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08885"/>
            <a:ext cx="640080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出现捐赠窗口时，捐赠是自愿的，也可以不捐赠直接下载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633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9094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633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8163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解压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下载的 zip → 找到里面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FBX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格式的文件夹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FBX 文件拖进 Unity 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_Project/Models/套件名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4867"/>
            <a:ext cx="640080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如有同目录的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文件夹也一起拖入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893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0354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89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07612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把模型拖到 Scene 视图检查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72400" y="1737360"/>
            <a:ext cx="3867912" cy="3749040"/>
          </a:xfrm>
          <a:prstGeom prst="roundRect">
            <a:avLst>
              <a:gd name="adj" fmla="val 2927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01000" y="1938528"/>
            <a:ext cx="34107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模型显示为白色时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28432" y="240004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330704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说明贴图没有连接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28432" y="269417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2624836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选中模型的材质 → 把贴图拖到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Map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28432" y="320624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0456" y="3136900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不用 GLB · OBJ，使用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FBX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最简单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6 · 10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给灰色玩家换上模型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物理由灰色物体负责，外观由模型负责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制作 Capsule 玩家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把模型放为子物体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只关闭 Capsule 的外观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6 · 换模型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只换外观的最安全方法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直接给模型加物理，常因大小 · 方向出问题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0" cy="1645920"/>
          </a:xfrm>
          <a:prstGeom prst="roundRect">
            <a:avLst>
              <a:gd name="adj" fmla="val 4444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998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Capsule · Rigidbody · Collider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（关闭 Mesh Renderer）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Model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导入的模型（只负责外观）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594726" y="36122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844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3D Object &gt; Capsule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Position (0, 1, 0)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726" y="40877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599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Component &gt; Rigidbody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726" y="456322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53542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把导入的模型拖到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 上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成为子物体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92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50387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01091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的 Position 设在 (0, -1, 0) 附近 → 让脚碰到 Capsule 底部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233797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Capsule 高度为 2，从中心向下 1 就是底部。大小不对只调 Model 的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333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726" y="55794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5333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555167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Player → 取消勾选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Mesh Renderer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灰色胶囊消失，只看到模型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223760" y="1737360"/>
            <a:ext cx="4416552" cy="16459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52360" y="1938528"/>
            <a:ext cx="395935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为什么这样？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79792" y="23808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71816" y="2314194"/>
            <a:ext cx="3739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Collider · 物理不变 → 操作不变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79792" y="266661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71816" y="2599944"/>
            <a:ext cx="3739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模型随时可以换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7 · 25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 AI、检验、变成自己的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AI 获得玩家移动脚本，变成自己理解的代码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用提问模板提问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五项检验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每行用自己的话写注释 · AI 使用记录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提问模板 — 直接复制使用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ChatGPT · Gemini · Claude 都可以。[环境] 这一行最重要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2971800"/>
          </a:xfrm>
          <a:prstGeom prst="roundRect">
            <a:avLst>
              <a:gd name="adj" fmla="val 2462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[环境] Unity 6.3 LTS · URP · 英文编辑器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只使用 New Input System（不要使用 UnityEngine.Input 类）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[情况] 俯视角 3D 游戏。玩家是 Capsule + Rigidbody。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模型是 Player 的子物体 Model。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[想要] 用 WASD / 方向键移动玩家的 C# 脚本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[条件] 新手用。类名 PlayerMove。每行加中文注释。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Rigidbody 使用 linearVelocity。移动时 Model 朝向移动方向。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[说明] 代码下面按步骤写出在 Unity 里挂载和设置的方法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提问模板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57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行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为什么需要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[环境]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 常给旧版本代码。必须写死版本 · 输入方式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[情况]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 看不到你的场景。要用文字说明物体结构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[条件]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规定名称 · 注释 · 难度，更容易直接使用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检验得到的代码 — 五项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有一项不通过，挂载前就再问一次 AI</a:t>
            </a:r>
            <a:endParaRPr lang="en-US" sz="1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5422392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#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检查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不通过时这样再问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没有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Input.GetKey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Input.GetAxis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“不要用 Input 类，改成 Keyboard.current”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Rigidbody 速度用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linearVelocity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（不是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velocity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“改成 Unity 6 的名称（linearVelocity）”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 class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后的名称 =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文件名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让文件名与类名一致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没有看不懂的行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“请给新手解释第○行是什么意思”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挂上后 ▶ Play → Console 没有红色错误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复制完整错误信息去问（下一页）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4 项最重要。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看不懂的行先问 AI，理解后再用。理解后使用的代码就是自己的实力。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挂到 Unity 上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文件名与类名不同就无法挂载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Scripting &gt; MonoBehaviour Script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命名为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PlayerMove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（大小写也要一致）→ Enter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12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5895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12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31160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双击打开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全部删除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原内容，粘贴得到的代码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432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4893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43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61512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回到 Unity，把 PlayerMove 拖到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上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735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1966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73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991864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把子物体 Model 拖到 Inspector 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 → ▶ Play → WASD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27432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938528"/>
            <a:ext cx="34107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出错时怎么问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2843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0456" y="2330704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复制 Console 红字的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完整句子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2843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633218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粘贴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整个脚本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02843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2935732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一句话说明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做了什么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之后出错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72400" y="4663440"/>
            <a:ext cx="3867912" cy="1097280"/>
          </a:xfrm>
          <a:prstGeom prst="roundRect">
            <a:avLst>
              <a:gd name="adj" fmla="val 10000"/>
            </a:avLst>
          </a:prstGeom>
          <a:solidFill>
            <a:srgbClr val="E5F4E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01000" y="47731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28432" y="520827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0456" y="5138928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WASD 能移动，模型朝向移动方向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对照用参考答案 — PlayerMove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 的答案不必完全一样。通过五项检验即可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玩家移动（WASD · 方向键）— 用于俯视角 3D 游戏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挂载位置：玩家（需要 Rigidbody + Collider）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PlayerMove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每秒移动速度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朝向移动方向的模型（子物体，可留空）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 model;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input;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锁定旋转，碰撞时不会倒下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rb.constraints = RigidbodyConstraints.FreezeRotation;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PlayerMove.cs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0f, v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(kb.aKey.isPressed || kb.leftArrowKey.isPressed) h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(kb.dKey.isPressed || kb.rightArrowKey.isPressed) h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(kb.wKey.isPressed || kb.upArrowKey.isPressed) v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(kb.sKey.isPressed || kb.downArrowKey.isPressed) v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= new Vector3(h, 0f, v).normalized;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让模型转向移动方向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(model != null &amp;&amp; input != Vector3.zero) model.forward = input;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vel = input * speed;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vel.y = rb.linearVelocity.y;   // 保留下落速度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PlayerMove.cs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变成自己的 — 重写注释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删掉 AI 写的注释，用自己的话重写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2331720"/>
          </a:xfrm>
          <a:prstGeom prst="roundRect">
            <a:avLst>
              <a:gd name="adj" fmla="val 313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64008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我的说明：按键方向 × 速度 = 这一帧要移动的速度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vel = input * speed;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我的说明：上下（Y）速度保留原值，这样跳跃 · 下落不会被打断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vel.y = rb.linearVelocity.y;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vel;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8" name="Shape 6"/>
          <p:cNvSpPr/>
          <p:nvPr/>
        </p:nvSpPr>
        <p:spPr>
          <a:xfrm>
            <a:off x="763560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709928"/>
            <a:ext cx="35021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每行用自己的话写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做什么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0" y="2221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35606" y="22680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240280"/>
            <a:ext cx="35021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解释不了的行 → 问 AI → 理解后再写注释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89520" y="28506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35606" y="28967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28506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868930"/>
            <a:ext cx="35021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改改数字（speed 等）看结果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334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76272" y="4399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68296" y="4325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期末演示时要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亲自讲解自己脚本的一部分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。从今天开始这样练习。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 使用记录（一行示例）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问了什么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PlayerMove 移动脚本（使用提问模板）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得到 → 我改了什么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要求把 velocity 改成 linearVelocity · speed 5→7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7 · 选做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（选做）摄像机跟随玩家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这次自己填提问模板去问。下面是对照用的例子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49440" cy="4434840"/>
          </a:xfrm>
          <a:prstGeom prst="roundRect">
            <a:avLst>
              <a:gd name="adj" fmla="val 1649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6583680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摄像机保持一定距离跟随玩家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挂载位置：Main Camera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CameraFollow : MonoBehaviour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跟随目标（玩家）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Transform target;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目标到摄像机的距离（向上 10，向后 8）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Vector3 offset = new Vector3(0f, 10f, -8f);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跟随平滑度（越大跟得越快）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smooth = 5f;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LateUpdate()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(target == null)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Vector3 goal = target.position + offset;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k = smooth * Time.deltaTime;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transform.position = Vector3.Lerp(transform.position, goal, k);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transform.LookAt(target);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CameraFollow.cs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709928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只改 [想要] 一栏来提问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924558"/>
            <a:ext cx="33192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例：摄像机从上方 · 后方平滑跟随玩家的脚本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2270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8486" y="23168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2270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289048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五项检验 → 挂到 Main Camera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2801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486" y="28471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0" y="2801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819400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Player 拖到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Target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 → ▶ Play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3331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818486" y="33775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3331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349752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改改 Offset 数字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选做 · 预览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（选做）把主视觉铺成标题背景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 12 周会详细讲。有时间可以先试试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KeyVisual_01.png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拖进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_Project/Textures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文件夹（没有就新建）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选中图片 →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Texture Type = Sprite (2D and UI)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UI (Canvas) &gt; Image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TitleBG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3284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37450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346704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把主视觉拖到 Image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Source Image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858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390485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877056"/>
            <a:ext cx="64008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Rect Transform 锚点预设中按住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点右下角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stretch-stretch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铺满画面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301752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938528"/>
            <a:ext cx="341071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12 周再加的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2843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0456" y="2314194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游戏名称文字 · 阴影 · 描边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28432" y="2677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608326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制作能显示中韩文的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字体资源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（解决 □ 问题）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28432" y="318973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3120390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按钮美化 · 出场效果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DF0E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68296" y="52395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标题是游戏的第一印象。组合 AI 图片 + 素材 + Unity UI，一个人也能做出好看的画面。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今天结束时应该有的东西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没做完就作为作业继续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745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一页策划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783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表格全部填好 · 规模检查全是“是”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主视觉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KeyVisual_01.png · 3 个风格关键词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3375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新项目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246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Final_学号 · _Project 文件夹 · Play 场景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0690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至少 1 个素材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已导入并放进 Play 场景 · 已记入素材清单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8006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4709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能移动的玩家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4709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换上模型的 Player 能用 WASD 移动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5321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71600" y="5440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行 AI 使用记录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5440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策划 · 图片 · 代码各 1 行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遇到问题时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从上往下检查</a:t>
            </a:r>
            <a:endParaRPr lang="en-US" sz="15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7025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现象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解决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Package Manager 的 My Assets 是空的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确认编辑器左上角账号与 Asset Store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是同一个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点窗口上方刷新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素材是粉色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Window &gt; Rendering &gt; Render Pipeline Converter → Built-in to URP → Material Upgrade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导入后出现红色错误（素材文件夹里的脚本）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删除错误指向的素材的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Scripts · Demo 文件夹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。只留模型 · 贴图 · 材质就够了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 时出现 InvalidOperationException … Input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某个脚本用了旧 Input 类 → 改成 Keyboard.current 或删除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脚本挂不上物体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文件名 = 类名吗 · Console 有没有红色错误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玩家会倒下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勾选 Rigidbody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Constraints &gt; Freeze Rotation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X · Y · Z（参考代码已自动设置）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模型陷进地面或悬空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只调子物体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Model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的 Position Y（Player 不动）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!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作业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期末项目第 1 阶段作业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11/9（周一）上课前提交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交什么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到期末的日程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完成标准 · 工具使用原则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本次作业 — 六项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填写项目笔记（模板），整理成一个 PDF 提交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47088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37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一页策划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73736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把和 AI 一起做的策划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用自己的话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 + 规模检查 + 选择理由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FEB"/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" y="2505456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3957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主视觉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395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AI 做的标题背景候选 1 张 + 3 个风格关键词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39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" y="3163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540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素材清单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0540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个以上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候选，其中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个以上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导入并放进场景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" y="3822192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124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第一个操作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371246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换上模型的玩家能移动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42569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0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480560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3708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使用记录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43708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行以上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策划 · 图片 · 代码各 1 行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0840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31" name="Shape 29"/>
          <p:cNvSpPr/>
          <p:nvPr/>
        </p:nvSpPr>
        <p:spPr>
          <a:xfrm>
            <a:off x="603504" y="5138928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8640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029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截图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5029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视图 1 张 + Game 视图（▶ Play 中）1 张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FDF0E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文件名 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게임엔진기초_8주차_学号_姓名.pdf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提交到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LMS 作业栏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游戏越简单，越能做得好看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时间是固定的。没花在规则上的时间，就是“美化的时间”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周的时间分配（示例）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2周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3周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4周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5周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6周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77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复杂的策划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7520" y="2377440"/>
            <a:ext cx="6858000" cy="566928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17520" y="23774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 · bug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75520" y="2377440"/>
            <a:ext cx="1371600" cy="566928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5520" y="23774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美化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五个规则 · 多种敌人 · 多个关卡 → 用灰色画面演示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37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简单的策划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17520" y="3337560"/>
            <a:ext cx="2743200" cy="566928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017520" y="3337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 · bug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0720" y="3337560"/>
            <a:ext cx="5486400" cy="566928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60720" y="33375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美化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3941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一个核心动作 · 少量物体种类 → 剩下 4 周做素材 · 光照 · 标题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3547872" cy="109728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有时间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773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规则早点完成才有时间美化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0" y="4343400"/>
            <a:ext cx="3547872" cy="109728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056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风格容易统一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4773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出现的物体种类越少，越容易找到风格一致的素材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46720" y="4343400"/>
            <a:ext cx="3547872" cy="109728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bug 少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773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功能越少，演示当天出问题的可能越小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705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176272" y="5771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368296" y="56967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一个规则 + 好看的画面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，比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五个规则 + 灰色画面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看起来好得多。策划要精简，把时间花在美化上。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基础路线与挑战路线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所有人先做基础路线。基础全部完成后，才逐个加挑战路线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3749040"/>
          </a:xfrm>
          <a:prstGeom prst="roundRect">
            <a:avLst>
              <a:gd name="adj" fmla="val 2927"/>
            </a:avLst>
          </a:prstGeom>
          <a:solidFill>
            <a:srgbClr val="FDF0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基础路线 — 所有人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4672" y="236334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 1~2 个 · 目标 1 个 · 失败条件 1 个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" y="268262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05278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三个画面（标题 · HUD · 结果）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" y="300189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24556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用素材装饰的地图 · 角色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" y="332117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43834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按主视觉调整光照 · 颜色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36404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6696" y="3563112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AI 图片美化的标题画面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04672" y="395973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6696" y="3882390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声音 · 特效 · Windows 打包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45352" y="173736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3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7395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挑战路线 — 只限完成基础的人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01384" y="2363343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2286000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随时间变难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01384" y="2682621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2605278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会移动的敌人 · 障碍物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501384" y="3001899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93408" y="2924556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记录最高分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01384" y="3321177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93408" y="3243834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摄像机震动 · 出场效果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501384" y="3640455"/>
            <a:ext cx="73152" cy="7315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93408" y="3563112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增加背景装饰（云 · 树 · 粒子）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目标是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把基础路线漂亮地完成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。挑战路线只在美化全部完成、还有时间时才做。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到期末的日程（计划）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一个多月的时间 — 前 2 周做“能玩的游戏”，后面做“好看的游戏”</a:t>
            </a:r>
            <a:endParaRPr lang="en-US" sz="15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8348472"/>
              </a:tblGrid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日期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要完成的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8 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11/2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和 AI 做策划 · 主视觉 · 新项目 · 首次使用素材 · 第一个操作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9 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11/9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核心规则 · 胜负（用灰色方块玩完一局）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10 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11/16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用素材装饰地图 · 角色（统一风格）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11 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11/23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美化 ① 光照 · 后期处理 · 摄像机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12 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11/30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美化 ② 用 AI 做标题画面 · HUD · 结果画面 · 字体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13 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12/7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声音 · 特效 · 试玩 · 难度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14 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12/14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收尾 · Windows 打包 · 演示练习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15 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12/21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期末演示（期末考试）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0644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344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999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253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5 周是公休日，课程周次顺延了一周。请以日期为准。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期末完成标准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在期中四项基础上，增加“好看的游戏”和“善用工具的过程”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与期中相同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360676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44398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完整一局 — 标题 → 游戏 → 结果 → RETRY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671572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596896"/>
            <a:ext cx="444398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 — 标题 · HUD · 结果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2982468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07792"/>
            <a:ext cx="444398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 — 得分 · 成功 · 失败有声音 + 特效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293364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18688"/>
            <a:ext cx="444398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 打包 — 用 .exe 演示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79592" y="1737360"/>
            <a:ext cx="5760720" cy="3657600"/>
          </a:xfrm>
          <a:prstGeom prst="roundRect">
            <a:avLst>
              <a:gd name="adj" fmla="val 3000"/>
            </a:avLst>
          </a:prstGeom>
          <a:solidFill>
            <a:srgbClr val="FDF0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08192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这次增加的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35624" y="23606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7648" y="2286000"/>
            <a:ext cx="508406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新游戏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与期中不同的新项目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35624" y="26715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7648" y="2596896"/>
            <a:ext cx="508406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好看的画面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用素材 · 光照统一风格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35624" y="29824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27648" y="2907792"/>
            <a:ext cx="508406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美化的标题画面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利用 AI 图片等打造第一印象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35624" y="32933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7648" y="3218688"/>
            <a:ext cx="508406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两种记录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素材清单 · AI 使用记录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35624" y="360426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27648" y="3529584"/>
            <a:ext cx="508406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过程讲解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用什么工具做了什么 + 自己脚本的一部分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5778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705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76272" y="5771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368296" y="56967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评价按上述项目的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角度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进行。不按游戏类型区分分数。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会用 AI 也是实力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工具尽管用。但“导演”是自己</a:t>
            </a:r>
            <a:endParaRPr lang="en-US" sz="15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4873752"/>
              </a:tblGrid>
              <a:tr h="71323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尽管用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一定要做到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策划点子 · 点评 · 图片 · 代码 · 解决错误 · 讲解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结果由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自己挑选和修改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放入的代码要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理解后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再放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素材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 · 贴图 · 材质 · 声音 · 特效 · 字体 · UI 图片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不把完整游戏模板只改名字就提交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课程资料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复用课上发的 GameManager 等脚本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不拿别的同学的项目 · 成果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共同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混合使用多种工具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用过的要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记录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不模仿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知名游戏 · 角色 · 标志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拿不准时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用之前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先问。问过的不会有问题。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记录格式 — 各一行示例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模板文件里有同样的表格。每次使用后马上记录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素材清单</a:t>
            </a:r>
            <a:endParaRPr lang="en-US" sz="15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3017520"/>
                <a:gridCol w="1828800"/>
                <a:gridCol w="25877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类型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来源 · 网址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许可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用在哪里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(Robot Kit)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kenney.nl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CC0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玩家模型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KeyVisual_01.png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图片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（图像生成 AI 名称）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服务条款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标题背景候选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使用记录</a:t>
            </a:r>
            <a:endParaRPr lang="en-US" sz="1500" dirty="0"/>
          </a:p>
        </p:txBody>
      </p:sp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2377440"/>
                <a:gridCol w="3383280"/>
                <a:gridCol w="29535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日期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工具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问了什么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得到 → 我改了什么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学到的（自己的话）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（聊天 AI）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 个策划点子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选第 3 个 → 缩小到 3 个功能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条件越详细，回答越实用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9377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7240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76272" y="51313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368296" y="50566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括号里是例子。不要整段粘贴 AI 的回答，要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概括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提交前检查 · 常见问题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11/9（周一）上课前提交到 LMS 作业栏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" y="181470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37360"/>
            <a:ext cx="544982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 PDF 里包含策划 · 主视觉 · 素材清单 · AI 记录 · 2 张截图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6072" y="237705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299716"/>
            <a:ext cx="544982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文件名：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게임엔진기초_8주차_学号_姓名.pdf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76072" y="269633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618994"/>
            <a:ext cx="544982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已把项目文件夹（Assets · Packages · ProjectSettings）备份到 U 盘或云盘</a:t>
            </a:r>
            <a:endParaRPr lang="en-US" sz="145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480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5351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问题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回答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能继续做期中的游戏吗？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这次期末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全部做新项目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 几乎全做了，可以吗？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可以。但要能讲清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自己挑选和修改了什么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、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理解了什么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必须用付费素材 · 付费 AI 吗？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不用，免费的就够了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能把素材上传到 GitHub 吗？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Asset Store 素材文件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不要上传到公开仓库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（打包后的游戏可以）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2026-11-01T18:48:25Z</dcterms:created>
  <dcterms:modified xsi:type="dcterms:W3CDTF">2026-11-01T18:48:25Z</dcterms:modified>
</cp:coreProperties>
</file>