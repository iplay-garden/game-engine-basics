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始" id="{edf967ed-564b-0f8e-2d62-1583751fb407}">
          <p14:sldIdLst>
            <p14:sldId id="256"/>
          </p14:sldIdLst>
        </p14:section>
        <p14:section name="实操 1" id="{ff763d44-135d-dd40-ef58-9fef7164369c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实操 2" id="{a40efa15-17da-6bb6-d1ec-1757404f3e04}">
          <p14:sldIdLst>
            <p14:sldId id="263"/>
            <p14:sldId id="264"/>
            <p14:sldId id="265"/>
          </p14:sldIdLst>
        </p14:section>
        <p14:section name="实操 3" id="{39502f2b-db78-2751-82b9-4784683bb16e}">
          <p14:sldIdLst>
            <p14:sldId id="266"/>
            <p14:sldId id="267"/>
            <p14:sldId id="268"/>
          </p14:sldIdLst>
        </p14:section>
        <p14:section name="实操 4" id="{78c12d76-2350-893c-ad5e-c23b44661b97}">
          <p14:sldIdLst>
            <p14:sldId id="269"/>
            <p14:sldId id="270"/>
            <p14:sldId id="271"/>
          </p14:sldIdLst>
        </p14:section>
        <p14:section name="实操 5" id="{eaddd22c-1254-a625-73e2-45d75a560ce3}">
          <p14:sldIdLst>
            <p14:sldId id="272"/>
            <p14:sldId id="273"/>
            <p14:sldId id="274"/>
            <p14:sldId id="275"/>
            <p14:sldId id="276"/>
          </p14:sldIdLst>
        </p14:section>
        <p14:section name="实操 6" id="{91d21af2-3832-0da7-14a7-b67f248fb6fc}">
          <p14:sldIdLst>
            <p14:sldId id="277"/>
            <p14:sldId id="278"/>
          </p14:sldIdLst>
        </p14:section>
        <p14:section name="实操 7" id="{8751dd56-9714-bd52-de5a-da7a701d615d}">
          <p14:sldIdLst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收尾" id="{c69c5b06-ec60-260f-2209-79dee762059d}">
          <p14:sldIdLst>
            <p14:sldId id="287"/>
            <p14:sldId id="288"/>
          </p14:sldIdLst>
        </p14:section>
        <p14:section name="作业" id="{1d4af599-7175-5a7f-5d55-77350c87a69e}">
          <p14:sldIdLst>
            <p14:sldId id="289"/>
            <p14:sldId id="290"/>
            <p14:sldId id="291"/>
            <p14:sldId id="292"/>
            <p14:sldId id="293"/>
            <p14:sldId id="294"/>
            <p14:sldId id="29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E07A2E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E242B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rgbClr val="5F6B78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游戏引擎基础 · 第 8 周 实操与作业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E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WITCH">
    <p:bg>
      <p:bgPr>
        <a:solidFill>
          <a:srgbClr val="FDF0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游戏引擎基础 · 第 8 周 实操与作业 · Unity 6.3 LTS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3" name="Shape 1"/>
          <p:cNvSpPr/>
          <p:nvPr/>
        </p:nvSpPr>
        <p:spPr>
          <a:xfrm>
            <a:off x="852220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41248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46404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6" name="Shape 4"/>
          <p:cNvSpPr/>
          <p:nvPr/>
        </p:nvSpPr>
        <p:spPr>
          <a:xfrm>
            <a:off x="957376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46404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10515600" y="356616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9" name="Shape 7"/>
          <p:cNvSpPr/>
          <p:nvPr/>
        </p:nvSpPr>
        <p:spPr>
          <a:xfrm>
            <a:off x="10625328" y="367588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35661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893826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8C96A1"/>
          </a:solidFill>
          <a:ln/>
        </p:spPr>
      </p:sp>
      <p:sp>
        <p:nvSpPr>
          <p:cNvPr id="12" name="Shape 10"/>
          <p:cNvSpPr/>
          <p:nvPr/>
        </p:nvSpPr>
        <p:spPr>
          <a:xfrm>
            <a:off x="904798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93826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989820" y="251460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2F6FEB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99548" y="262432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9898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464040" y="1463040"/>
            <a:ext cx="914400" cy="914400"/>
          </a:xfrm>
          <a:prstGeom prst="roundRect">
            <a:avLst>
              <a:gd name="adj" fmla="val 6000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573768" y="1572768"/>
            <a:ext cx="694944" cy="694944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464040" y="146304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8046720" y="4663440"/>
            <a:ext cx="3931920" cy="164592"/>
          </a:xfrm>
          <a:prstGeom prst="roundRect">
            <a:avLst>
              <a:gd name="adj" fmla="val 27778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731520" y="73152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7315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实操与作业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1325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东明大学 游戏美术系 · 游戏引擎基础 第 8 周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19202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期末项目开始</a:t>
            </a:r>
            <a:endParaRPr lang="en-US" sz="4000" dirty="0"/>
          </a:p>
        </p:txBody>
      </p:sp>
      <p:sp>
        <p:nvSpPr>
          <p:cNvPr id="25" name="Text 23"/>
          <p:cNvSpPr txBox="1"/>
          <p:nvPr/>
        </p:nvSpPr>
        <p:spPr>
          <a:xfrm>
            <a:off x="731520" y="26974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和 AI 策划 · 主视觉 · 素材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3657600"/>
            <a:ext cx="7132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D5DBE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和 AI 一起做策划、做主视觉，然后在新项目中让换上素材的玩家动起来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基准版本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6.3 LTS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3017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编辑器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3017520" y="5394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英文版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303520" y="5120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8C96A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任课教师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303520" y="5394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朴炡垣 · doo0303@naver.com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1 · 35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和 AI 一起做策划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和 AI 一起拓展点子，由自己做决定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拓展 — 让 AI 给 5 个点子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挑选并缩小 — 自己挑，和 AI 一起缩小规模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写出并请 AI 检查 — 一页策划 → 让 AI 点评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AI 策划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策划四步 — AI 是每一步的搭档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不是替你决定，而是帮你更快地拓展和打磨想法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49808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7" name="Shape 5"/>
          <p:cNvSpPr/>
          <p:nvPr/>
        </p:nvSpPr>
        <p:spPr>
          <a:xfrm>
            <a:off x="810158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拓展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给出条件，让 AI 给出多个点子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163824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74136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DF0E4"/>
          </a:solidFill>
          <a:ln w="19050">
            <a:solidFill>
              <a:srgbClr val="E07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75304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3635654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75304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575304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挑选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3575304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自己挑一个想做的（不让 AI 选）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89320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19" name="Shape 17"/>
          <p:cNvSpPr/>
          <p:nvPr/>
        </p:nvSpPr>
        <p:spPr>
          <a:xfrm>
            <a:off x="6199632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00800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21" name="Shape 19"/>
          <p:cNvSpPr/>
          <p:nvPr/>
        </p:nvSpPr>
        <p:spPr>
          <a:xfrm>
            <a:off x="6461150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400800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缩小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6400800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和 AI 一起删减功能，保证 6 周能完成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8814816" y="3017520"/>
            <a:ext cx="201168" cy="292608"/>
          </a:xfrm>
          <a:prstGeom prst="rightArrow">
            <a:avLst/>
          </a:prstGeom>
          <a:solidFill>
            <a:srgbClr val="D9DEE4"/>
          </a:solidFill>
          <a:ln/>
        </p:spPr>
      </p:sp>
      <p:sp>
        <p:nvSpPr>
          <p:cNvPr id="26" name="Shape 24"/>
          <p:cNvSpPr/>
          <p:nvPr/>
        </p:nvSpPr>
        <p:spPr>
          <a:xfrm>
            <a:off x="9025128" y="1783080"/>
            <a:ext cx="2606040" cy="2926080"/>
          </a:xfrm>
          <a:prstGeom prst="roundRect">
            <a:avLst>
              <a:gd name="adj" fmla="val 4211"/>
            </a:avLst>
          </a:prstGeom>
          <a:solidFill>
            <a:srgbClr val="F3F5F7"/>
          </a:solidFill>
          <a:ln/>
        </p:spPr>
      </p:sp>
      <p:sp>
        <p:nvSpPr>
          <p:cNvPr id="27" name="Shape 25"/>
          <p:cNvSpPr/>
          <p:nvPr/>
        </p:nvSpPr>
        <p:spPr>
          <a:xfrm>
            <a:off x="9226296" y="1965960"/>
            <a:ext cx="502920" cy="502920"/>
          </a:xfrm>
          <a:prstGeom prst="roundRect">
            <a:avLst>
              <a:gd name="adj" fmla="val 10909"/>
            </a:avLst>
          </a:prstGeom>
          <a:solidFill>
            <a:srgbClr val="2F6FEB"/>
          </a:solidFill>
          <a:ln/>
        </p:spPr>
      </p:sp>
      <p:sp>
        <p:nvSpPr>
          <p:cNvPr id="28" name="Shape 26"/>
          <p:cNvSpPr/>
          <p:nvPr/>
        </p:nvSpPr>
        <p:spPr>
          <a:xfrm>
            <a:off x="9286646" y="2026310"/>
            <a:ext cx="382219" cy="382219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226296" y="1965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26517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检查</a:t>
            </a:r>
            <a:endParaRPr lang="en-US" sz="1900" dirty="0"/>
          </a:p>
        </p:txBody>
      </p:sp>
      <p:sp>
        <p:nvSpPr>
          <p:cNvPr id="31" name="Text 29"/>
          <p:cNvSpPr txBox="1"/>
          <p:nvPr/>
        </p:nvSpPr>
        <p:spPr>
          <a:xfrm>
            <a:off x="9226296" y="31546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让 AI 点评完成的策划书，自己修改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48640" y="49834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1114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1770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1023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只有 B（挑选）一定要自己来。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自己想做的游戏才能坚持 6 周。其余步骤和 AI 一起快速推进。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A 拓展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获取 5 个点子 — 提问模板 ①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条件给得越准确，得到的点子越“做得出来”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我是第一次学 Unity 的大学生。请给我期末作业游戏的点子。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[条件] Unity 6.3 · 3D · 一个人 6 周完成 · 一局 3 分钟以内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操作键 5 个以内 · 只有 1 个场景 · 能用免费素材（低多边形）做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[我喜欢的] （例：可爱的风格、收集、躲避……自由填写）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[请求] 5 个点子，用表格列出：游戏名称 / 一句话介绍 / 操作 /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成功 · 失败条件 / 需要的素材 / 新手容易卡住的地方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提问模板 ① 拓展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42062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42523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224528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打开 ChatGPT · Gemini · Claude 之一，粘贴上面的模板 · 只把 [我喜欢的] 改成自己的话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47000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74610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7000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718304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没有喜欢的就说“再给 5 个” · “把第○和第○个结合一下”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51937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52398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51937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212080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自己挑一个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写一句为什么选它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C 缩小 · D 检查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缩小、写出、请 AI 点评 — 提问模板 ② ③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特别擅长“缩小规模”和“找弱点”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1554480"/>
          </a:xfrm>
          <a:prstGeom prst="roundRect">
            <a:avLst>
              <a:gd name="adj" fmla="val 4706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我选了这个点子：（粘贴选中的那一行）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新手一个人 6 周要做完。只留 3 个必需功能，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其余列为“有时间再做”。并填写下面的一页策划表。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（粘贴一页策划表的项目）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提问模板 ② 缩小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3511296"/>
            <a:ext cx="1072591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③ 这是我的策划书。（粘贴）</a:t>
            </a:r>
            <a:endParaRPr lang="en-US" sz="13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请指出新手 6 周内最可能卡住的 3 个地方，以及简化的办法。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345643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提问模板 ③ 点评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4526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594726" y="4572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544568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AI 填好的内容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移到模板文件里，并改成自己的话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（不直接复制粘贴）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5001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726" y="504785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001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020056"/>
            <a:ext cx="10543032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只采纳 ③ 中认同的意见 → 下一页规模检查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策划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一页策划表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模板文件里有同样的表格。今天课上把格子都填满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523951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项目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写法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例（收集游戏）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游戏名称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用英文（直接用于 UI 文字）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COIN RUSH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一句话介绍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谁 · 做什么 · 怎么做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机器人在 60 秒内收集 20 个金币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操作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只用几个键 · 鼠标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WASD 移动 · Space 跳跃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成功 · 失败 · 分数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用数字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收集 20 个成功 · 超过 60 秒失败 · 金币 +10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三个画面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标题 · HUD · 结果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COIN RUSH / SCORE · TIME / CLEAR! · RETRY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摄像机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固定或跟随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从斜上方俯视，跟随玩家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画面风格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 个关键词（实操 2 决定）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low poly · 粉彩色 · 明亮白天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需要的素材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玩家 · 场景 · 目标物 · 声音 · 特效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机器人 · 地砖 · 金币 · 拾取音 · 闪光</a:t>
                      </a:r>
                      <a:endParaRPr lang="en-US" sz="13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603504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61630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62285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61539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例子中的名称 · 数字只用于说明表格。请按自己的游戏决定。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1 · 策划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规模检查 — 一个人 6 周能完成吗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只要有一个“否”，就让 AI “按这个条件缩小”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914400"/>
                <a:gridCol w="4690872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问题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如果是“否”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能用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一句话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说清规则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只留一个规则，其他删掉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一局在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 分钟内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结束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减少目标数 · 时间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操作键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 个以内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合并操作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只有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 个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场景（不做多个关卡）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关卡等期末之后再说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需要新学的功能 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 个以内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其他用已学的方法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需要的素材能</a:t>
                      </a:r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免费</a:t>
                      </a:r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获得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☐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改成有类似免费素材的方案</a:t>
                      </a:r>
                      <a:endParaRPr lang="en-US" sz="140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14118"/>
            </a:avLst>
          </a:prstGeom>
          <a:solidFill>
            <a:srgbClr val="E5F4E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50468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04672" y="593979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96696" y="587044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表格全部填好 · 规模检查全部为“是” · 写了一句选择理由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2 · 15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 AI 做主视觉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先画出完成后游戏的“一个画面”，风格就定下来了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用图像生成 AI 做标题背景候选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确定 3 个风格关键词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这张图会成为第 12 周标题画面的背景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2 · 主视觉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图像提问模板 — 不要文字，只要画面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Copilot 等能生成图片的 AI 都可以（免费额度各服务不同）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057400"/>
          </a:xfrm>
          <a:prstGeom prst="roundRect">
            <a:avLst>
              <a:gd name="adj" fmla="val 3556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请为 3D 游戏标题画面画一张背景图。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[游戏] （一句话介绍，例：机器人在漂浮的小岛上收集金币）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[风格] low poly 3D · 粉彩色 · 明亮的白天（← 写自己的风格关键词）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[构图] 16:9 横图 · 画面中央上方留出放游戏名称的空位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[禁止] 不要任何文字 · 字母 · 标志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图像提问模板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9780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95020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重新生成 2~3 次，选最满意的一张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存为 PNG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4181348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文件名：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5440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45901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5440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45623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从图中提炼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个风格关键词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写进策划书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793488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例：low poly · 粉彩色 · 明亮白天 — 实操 4 用这些词搜索素材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589520" y="3931920"/>
            <a:ext cx="4050792" cy="2103120"/>
          </a:xfrm>
          <a:prstGeom prst="roundRect">
            <a:avLst>
              <a:gd name="adj" fmla="val 5217"/>
            </a:avLst>
          </a:prstGeom>
          <a:solidFill>
            <a:srgbClr val="F3F5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要避免的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37576" y="450875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要求模仿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知名游戏 · 角色 · 标志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45552" y="4872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037576" y="4802886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带文字的图片（文字在 Unity 里加）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45552" y="516636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5097018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不记录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在哪里生成的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2 · 主视觉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主视觉的作用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一张图会成为 6 周的“方向”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素材搜索词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87452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用风格关键词搜索 Asset Store · Kenney → 更容易选到风格一致的素材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875520" y="207568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875520" y="207568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今天实操 4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0632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颜色 · 光照标准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06324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按这张图的天空色 · 光线方向 · 氛围设置光照和后期处理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875520" y="326440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875520" y="326440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11 周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160520"/>
            <a:ext cx="11091672" cy="1024128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2960" y="42519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标题画面背景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25196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放在 Canvas 的 Image 上，再加游戏名称 · START 按钮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9875520" y="4453128"/>
            <a:ext cx="1554480" cy="438912"/>
          </a:xfrm>
          <a:prstGeom prst="roundRect">
            <a:avLst>
              <a:gd name="adj" fmla="val 41667"/>
            </a:avLst>
          </a:prstGeom>
          <a:solidFill>
            <a:srgbClr val="FDF0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875520" y="445312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12 周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5000"/>
            </a:avLst>
          </a:prstGeom>
          <a:solidFill>
            <a:srgbClr val="E5F4E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5550408"/>
            <a:ext cx="10634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04672" y="598551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96696" y="5916168"/>
            <a:ext cx="1041501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保存了 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3 个风格关键词 · 1 行 AI 使用记录（什么工具 · 怎么问的）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3 · 10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新建项目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期中项目保持不动，完全新建一个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Hub → Universal 3D → Final_学号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建立自己的文件夹 _Project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确认编辑器已登录 Unity 账号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3 · 新项目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新项目 · 文件夹 · 场景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与第 6 周跟做指南 STEP 1 顺序相同，只是名字不同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Hub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New 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确认 Editor Version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6000.3.x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模板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Universal 3D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Project name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Final_学号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（例：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Final_20251234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Create project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027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30737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302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04596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右键 Project 窗口的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Create &gt; Folder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55803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60411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558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57632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里建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Materials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Audio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2031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2492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4203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221480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SampleScene 移到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并改名为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打开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Ctrl + 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657600"/>
          </a:xfrm>
          <a:prstGeom prst="roundRect">
            <a:avLst>
              <a:gd name="adj" fmla="val 2000"/>
            </a:avLst>
          </a:prstGeom>
          <a:solidFill>
            <a:srgbClr val="1F263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955280" y="1828800"/>
            <a:ext cx="3502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7973568" y="2148840"/>
            <a:ext cx="346557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_Project     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自己做的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Audio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Materials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Models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Prefabs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├ Scenes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└ Scripts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 (导入的素材)  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自动生成</a:t>
            </a:r>
            <a:endParaRPr lang="en-US" sz="12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Settings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1091672" cy="640080"/>
          </a:xfrm>
          <a:prstGeom prst="roundRect">
            <a:avLst>
              <a:gd name="adj" fmla="val 14286"/>
            </a:avLst>
          </a:prstGeom>
          <a:solidFill>
            <a:srgbClr val="FDF0E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368296" y="5696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导入的素材文件夹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保留在 Assets 下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。不要移进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（更新时会出问题）。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3 · 新项目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在编辑器里登录 Unity 账号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在 Asset Store 获取的素材，要用“同一个账号”登录编辑器才能看到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点击编辑器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左上角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的账号按钮（人形图标或姓名首字母）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未登录时点 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Sign in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在浏览器中用 Unity 账号登录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27980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8441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816352"/>
            <a:ext cx="603504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确认与 Unity Hub 登录的是</a:t>
            </a:r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同一个账号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7406640" y="1737360"/>
            <a:ext cx="4233672" cy="3108960"/>
          </a:xfrm>
          <a:prstGeom prst="roundRect">
            <a:avLst>
              <a:gd name="adj" fmla="val 3529"/>
            </a:avLst>
          </a:prstGeom>
          <a:solidFill>
            <a:srgbClr val="F3F5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35240" y="1938528"/>
            <a:ext cx="377647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如果没有账号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66267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854696" y="2330704"/>
            <a:ext cx="355701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可在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id.unity.com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免费注册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62672" y="270522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54696" y="2633218"/>
            <a:ext cx="355701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也可以用学校邮箱注册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7662672" y="30077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54696" y="2935732"/>
            <a:ext cx="355701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Hub · 编辑器 · Asset Store 都用同一个账号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029200"/>
            <a:ext cx="658368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77240" y="5138928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04672" y="557403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996696" y="5504688"/>
            <a:ext cx="590702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账号按钮显示我的首字母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4 · 20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Asset Store 挑选并添加素材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先在网页加入“我的素材” → 再在编辑器中导入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免费筛选 · 确认 URP 兼容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to My Assets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马上记录到素材清单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4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搜索并只看免费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在网页浏览器中进行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浏览器打开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assetstore.unity.com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右上角登录（与编辑器同一账号）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39903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4511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9903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17318"/>
            <a:ext cx="6217920" cy="47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在搜索框用英文输入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风格关键词 + 物品名称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 poly robot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pastel island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…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896108"/>
            <a:ext cx="621792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low poly = 面数少的简单模型。轻量，适合新手项目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267075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3313161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26707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285363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在左侧筛选中只选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价格（Pricing）→ Free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48640" y="3797427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843513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79742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815715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分类缩小到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3D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（声音选 Audio，特效选 VFX）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7589520" y="1737360"/>
            <a:ext cx="4050792" cy="3840480"/>
          </a:xfrm>
          <a:prstGeom prst="roundRect">
            <a:avLst>
              <a:gd name="adj" fmla="val 2857"/>
            </a:avLst>
          </a:prstGeom>
          <a:solidFill>
            <a:srgbClr val="F3F5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1938528"/>
            <a:ext cx="359359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不要选这样的素材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784555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037576" y="2330704"/>
            <a:ext cx="3374136" cy="452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完整游戏模板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（Kit · Template · Complete Project）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845552" y="29315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037576" y="2859532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容量 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1GB 以上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的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7845552" y="3234055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37576" y="3162046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没有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URP 兼容标记的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845552" y="35365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37576" y="3464560"/>
            <a:ext cx="337413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最后更新很久以前的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77240" y="58887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2176272" y="59542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368296" y="587959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只要避开完整游戏模板，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用于游戏的材料都可以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。不确定就先问老师。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4 · Asset Store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在商品页确认 → 添加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添加前看三件事</a:t>
            </a:r>
            <a:endParaRPr lang="en-US" sz="15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查看位置（页面下方）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看什么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Render pipeline compatibility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URP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一栏是否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Compatible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File size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是否在几百 MB 以内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License agreement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是否为 Standard Unity Asset Store EULA（大多数是）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7" name="Shape 4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1709928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三项都没问题就点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to My Assets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77240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1" name="Shape 8"/>
          <p:cNvSpPr/>
          <p:nvPr/>
        </p:nvSpPr>
        <p:spPr>
          <a:xfrm>
            <a:off x="7818486" y="22680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2240280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出现许可协议窗口点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Accept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772400" y="275234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2"/>
          <p:cNvSpPr/>
          <p:nvPr/>
        </p:nvSpPr>
        <p:spPr>
          <a:xfrm>
            <a:off x="7818486" y="279843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0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2770632"/>
            <a:ext cx="331927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马上把素材名称 · 网址记到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素材清单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43484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FDF0E4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4562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2176272" y="4628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2368296" y="4553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按钮名称可能因页面略有不同。免费素材无需付款即可加入“我的素材（My Assets）”。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2176272" y="490118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368296" y="4826508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URP 为 Not compatible 的素材可能显示为粉色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实操 5 介绍转换方法。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5 · 15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导入编辑器 · 修复粉色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Package Manager → My Assets → Download → Import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 Package Manager 导入我的素材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显示粉色就转换为 URP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 Kenney 免费模型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5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Package Manager → My Assets → Import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Unity 6.3 的菜单位置。与旧资料中的 Window &gt; Package Manager 是同一个窗口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Window &gt; Package Management &gt; Package Manager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在左侧列表选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Assets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能看到刚添加的素材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17140"/>
            <a:ext cx="6217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看不到时确认账号登录 · 点窗口上方刷新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87985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2593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798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98140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选中素材 → 右侧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Download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等待完成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341020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5629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4102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28492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点击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 #.# to project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94055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594726" y="398664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9405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3958844"/>
            <a:ext cx="621792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窗口：先保持全部勾选 → 点下方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589520" y="1737360"/>
            <a:ext cx="4050792" cy="3566160"/>
          </a:xfrm>
          <a:prstGeom prst="roundRect">
            <a:avLst>
              <a:gd name="adj" fmla="val 3077"/>
            </a:avLst>
          </a:prstGeom>
          <a:solidFill>
            <a:srgbClr val="2B2B2B"/>
          </a:solidFill>
          <a:ln/>
        </p:spPr>
      </p:sp>
      <p:sp>
        <p:nvSpPr>
          <p:cNvPr id="27" name="Shape 25"/>
          <p:cNvSpPr/>
          <p:nvPr/>
        </p:nvSpPr>
        <p:spPr>
          <a:xfrm>
            <a:off x="7589520" y="1737360"/>
            <a:ext cx="4050792" cy="365760"/>
          </a:xfrm>
          <a:prstGeom prst="rect">
            <a:avLst/>
          </a:prstGeom>
          <a:solidFill>
            <a:srgbClr val="3C3C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2668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DDDD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Package Manager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72668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 Project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726680" y="2587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Unity Registry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635240" y="2916936"/>
            <a:ext cx="1554480" cy="310896"/>
          </a:xfrm>
          <a:prstGeom prst="rect">
            <a:avLst/>
          </a:prstGeom>
          <a:solidFill>
            <a:srgbClr val="2C5D8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726680" y="29352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My Assets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726680" y="3282696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Built-in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726680" y="3630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BBBB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Services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281160" y="2148840"/>
            <a:ext cx="18288" cy="3063240"/>
          </a:xfrm>
          <a:prstGeom prst="rect">
            <a:avLst/>
          </a:prstGeom>
          <a:solidFill>
            <a:srgbClr val="44444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418320" y="2240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（素材名称）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9418320" y="2651760"/>
            <a:ext cx="114300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9418320" y="2651760"/>
            <a:ext cx="1143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Download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418320" y="3108960"/>
            <a:ext cx="2103120" cy="329184"/>
          </a:xfrm>
          <a:prstGeom prst="roundRect">
            <a:avLst>
              <a:gd name="adj" fmla="val 11111"/>
            </a:avLst>
          </a:prstGeom>
          <a:solidFill>
            <a:srgbClr val="4A4A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18320" y="3108960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Import 1.0 to project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589520" y="5394960"/>
            <a:ext cx="4050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示意图为简化版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48640" y="5349240"/>
            <a:ext cx="6766560" cy="822960"/>
          </a:xfrm>
          <a:prstGeom prst="roundRect">
            <a:avLst>
              <a:gd name="adj" fmla="val 13333"/>
            </a:avLst>
          </a:prstGeom>
          <a:solidFill>
            <a:srgbClr val="E5F4EC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77240" y="5458968"/>
            <a:ext cx="6309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44" name="Shape 42"/>
          <p:cNvSpPr/>
          <p:nvPr/>
        </p:nvSpPr>
        <p:spPr>
          <a:xfrm>
            <a:off x="804672" y="58940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96696" y="5824728"/>
            <a:ext cx="6089904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Project 窗口 Assets 下出现了新的素材文件夹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5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检查导入的素材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每个素材的文件夹结构都不同。先找模型 · 预制体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打开新文件夹，找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Prefabs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（或 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Scenes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如有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Demo 场景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就双击打开看看效果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48640" y="27980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8441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816352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再回到自己的 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场景（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_Project/Scenes/Play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）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48640" y="33284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37450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346704"/>
            <a:ext cx="6217920" cy="2393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把要用的</a:t>
            </a:r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预制体</a:t>
            </a:r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拖到 Scene 视图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7589520" y="1737360"/>
            <a:ext cx="4050792" cy="2011680"/>
          </a:xfrm>
          <a:prstGeom prst="roundRect">
            <a:avLst>
              <a:gd name="adj" fmla="val 5455"/>
            </a:avLst>
          </a:prstGeom>
          <a:solidFill>
            <a:srgbClr val="FCEAE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818120" y="1737360"/>
            <a:ext cx="359359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导入素材后 Console 出现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红色错误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：多半是该素材的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Scripts · Demo 文件夹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造成的 → 见最后“遇到问题时”表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589520" y="3931920"/>
            <a:ext cx="4050792" cy="1737360"/>
          </a:xfrm>
          <a:prstGeom prst="roundRect">
            <a:avLst>
              <a:gd name="adj" fmla="val 6316"/>
            </a:avLst>
          </a:prstGeom>
          <a:solidFill>
            <a:srgbClr val="F3F5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818120" y="413308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素材的 Demo 场景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7845552" y="457809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37576" y="450875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只看，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不修改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845552" y="4872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37576" y="4802886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自己的游戏始终在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场景里做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5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显示为粉色 — 转换为 URP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因为是 Built-in 用材质，URP 找不到着色器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F6F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方法 A — 全部转换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77240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8" name="Shape 6"/>
          <p:cNvSpPr/>
          <p:nvPr/>
        </p:nvSpPr>
        <p:spPr>
          <a:xfrm>
            <a:off x="823326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Window &gt; Rendering &gt; Render Pipeline Converter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77240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2" name="Shape 10"/>
          <p:cNvSpPr/>
          <p:nvPr/>
        </p:nvSpPr>
        <p:spPr>
          <a:xfrm>
            <a:off x="823326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27157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上方下拉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Built-in to URP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勾选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Material Upgrade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31546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F6FEB"/>
          </a:solidFill>
          <a:ln/>
        </p:spPr>
      </p:sp>
      <p:sp>
        <p:nvSpPr>
          <p:cNvPr id="16" name="Shape 14"/>
          <p:cNvSpPr/>
          <p:nvPr/>
        </p:nvSpPr>
        <p:spPr>
          <a:xfrm>
            <a:off x="823326" y="32007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7724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31729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点击 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Initialize and Convert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45352" y="17373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3952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方法 B — 只转换选中的材质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73952" y="22402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2" name="Shape 20"/>
          <p:cNvSpPr/>
          <p:nvPr/>
        </p:nvSpPr>
        <p:spPr>
          <a:xfrm>
            <a:off x="6520038" y="22863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47395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22592" y="2258568"/>
            <a:ext cx="4480560" cy="20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Project 窗口选中粉色的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材质（Material）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473952" y="269748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23905A"/>
          </a:solidFill>
          <a:ln/>
        </p:spPr>
      </p:sp>
      <p:sp>
        <p:nvSpPr>
          <p:cNvPr id="26" name="Shape 24"/>
          <p:cNvSpPr/>
          <p:nvPr/>
        </p:nvSpPr>
        <p:spPr>
          <a:xfrm>
            <a:off x="6520038" y="274356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473952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22592" y="2715768"/>
            <a:ext cx="4480560" cy="412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Edit &gt; Rendering &gt; Materials &gt; Convert Selected Built-in Materials to URP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3977640"/>
            <a:ext cx="6766560" cy="1234440"/>
          </a:xfrm>
          <a:prstGeom prst="roundRect">
            <a:avLst>
              <a:gd name="adj" fmla="val 8889"/>
            </a:avLst>
          </a:prstGeom>
          <a:solidFill>
            <a:srgbClr val="FCEAE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7240" y="3977640"/>
            <a:ext cx="6309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转换后仍是粉色：说明素材使用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自己的着色器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无法自动转换。</a:t>
            </a:r>
            <a:pPr algn="l"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换一个素材</a:t>
            </a:r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最快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589520" y="3977640"/>
            <a:ext cx="4050792" cy="1234440"/>
          </a:xfrm>
          <a:prstGeom prst="roundRect">
            <a:avLst>
              <a:gd name="adj" fmla="val 8889"/>
            </a:avLst>
          </a:prstGeom>
          <a:solidFill>
            <a:srgbClr val="F3F5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818120" y="4178808"/>
            <a:ext cx="359359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转换前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845552" y="462381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7576" y="4554474"/>
            <a:ext cx="337413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Ctrl + S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保存 · 备份项目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48640" y="5440680"/>
            <a:ext cx="11091672" cy="685800"/>
          </a:xfrm>
          <a:prstGeom prst="roundRect">
            <a:avLst>
              <a:gd name="adj" fmla="val 13333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56869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563422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55955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所以实操 4 先确认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URP Compatible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。一开始就选 URP 兼容的素材最简单。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5 · 导入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Kenney — 可免署名使用的免费模型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CC0（公共领域）许可。但仍要记到素材清单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浏览器打开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kenney.nl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Assets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分类选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3D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选择喜欢的套件（Kit）→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Download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508885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出现捐赠窗口时，捐赠是自愿的，也可以不捐赠直接下载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8633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726" y="29094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28633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288163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解压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下载的 zip → 找到里面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FBX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格式的文件夹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339369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9" name="Shape 17"/>
          <p:cNvSpPr/>
          <p:nvPr/>
        </p:nvSpPr>
        <p:spPr>
          <a:xfrm>
            <a:off x="594726" y="343978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339369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41198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FBX 文件拖进 Unity 的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_Project/Models/套件名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3634867"/>
            <a:ext cx="6400800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如有同目录的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Textures</a:t>
            </a:r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文件夹也一起拖入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9893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726" y="40354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9893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400761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把模型拖到 Scene 视图检查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772400" y="1737360"/>
            <a:ext cx="3867912" cy="3749040"/>
          </a:xfrm>
          <a:prstGeom prst="roundRect">
            <a:avLst>
              <a:gd name="adj" fmla="val 2927"/>
            </a:avLst>
          </a:prstGeom>
          <a:solidFill>
            <a:srgbClr val="F3F5F7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模型显示为白色时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028432" y="240004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33070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说明贴图没有连接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269417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62483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选中模型的材质 → 把贴图拖到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Base Map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028432" y="320624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0456" y="3136900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不用 GLB · OBJ，使用 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FBX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最简单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6 · 10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给灰色玩家换上模型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物理由灰色物体负责，外观由模型负责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制作 Capsule 玩家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把模型放为子物体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只关闭 Capsule 的外观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6 · 换模型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只换外观的最安全方法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直接给模型加物理，常因大小 · 方向出问题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6400800" cy="1645920"/>
          </a:xfrm>
          <a:prstGeom prst="roundRect">
            <a:avLst>
              <a:gd name="adj" fmla="val 4444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Hierarchy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59984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Capsule · Rigidbody · Collider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                 （关闭 Mesh Renderer）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 Model           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2A6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← 导入的模型（只负责外观）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5661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594726" y="36122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8444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GameObject &gt; 3D Object &gt; Capsule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命名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· Position (0, 1, 0)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04164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3" name="Shape 11"/>
          <p:cNvSpPr/>
          <p:nvPr/>
        </p:nvSpPr>
        <p:spPr>
          <a:xfrm>
            <a:off x="594726" y="408773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059936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Add Component &gt; Rigidbody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51713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4726" y="456322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535424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把导入的模型拖到 Hierarchy 中的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 上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成为子物体 → 命名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48640" y="49926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726" y="50387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4992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5010912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 的 Position 设在 (0, -1, 0) 附近 → 让脚碰到 Capsule 底部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5233797"/>
            <a:ext cx="10543032" cy="1898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大小不对只调 Model 的 </a:t>
            </a:r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Scale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553339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726" y="557947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553339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1097280" y="5551678"/>
            <a:ext cx="1054303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 Player → 取消勾选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Mesh Renderer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灰色胶囊消失，只看到模型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7223760" y="1737360"/>
            <a:ext cx="4416552" cy="1645920"/>
          </a:xfrm>
          <a:prstGeom prst="roundRect">
            <a:avLst>
              <a:gd name="adj" fmla="val 6667"/>
            </a:avLst>
          </a:prstGeom>
          <a:solidFill>
            <a:srgbClr val="F3F5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52360" y="1938528"/>
            <a:ext cx="395935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为什么这样？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479792" y="238086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671816" y="231419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Collider · 物理不变 → 操作不变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479792" y="266661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71816" y="2599944"/>
            <a:ext cx="373989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模型随时可以换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7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实操 7 · 25 分钟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问 AI、检验、变成自己的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从 AI 获得玩家移动脚本，变成自己理解的代码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用提问模板提问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五项检验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每行用自己的话写注释 · AI 使用记录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提问模板 — 直接复制使用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ChatGPT · Gemini · Claude 都可以。[环境] 这一行最重要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2971800"/>
          </a:xfrm>
          <a:prstGeom prst="roundRect">
            <a:avLst>
              <a:gd name="adj" fmla="val 2462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10725912" cy="2715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[环境] Unity 6.3 LTS · URP · 英文编辑器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只使用 New Input System（不要使用 UnityEngine.Input 类）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[情况] 俯视角 3D 游戏。玩家是 Capsule + Rigidbody。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模型是 Player 的子物体 Model。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[想要] 用 WASD / 方向键移动玩家的 C# 脚本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[条件] 新手用。类名 PlayerMove。每行加中文注释。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Rigidbody 使用 linearVelocity。移动时 Model 朝向移动方向。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[说明] 代码下面按步骤写出在 Unity 里挂载和设置的方法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提问模板</a:t>
            </a:r>
            <a:endParaRPr lang="en-US" sz="10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00600"/>
          <a:ext cx="11091672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9445752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行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为什么需要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[环境]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常给旧版本代码。必须写死版本 · 输入方式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[情况]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看不到你的场景。要用文字说明物体结构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[条件]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规定名称 · 注释 · 难度，更容易直接使用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检验得到的代码 — 五项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有一项不通过，挂载前就再问一次 AI</a:t>
            </a:r>
            <a:endParaRPr lang="en-US" sz="15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120640"/>
                <a:gridCol w="5422392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#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检查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不通过时这样再问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没有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Input.GetKey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Input.GetAxis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“不要用 Input 类，改成 Keyboard.current”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2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Rigidbody 速度用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linearVelocity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（不是 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velocity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“改成 Unity 6 的名称（linearVelocity）”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3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B5481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public class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后的名称 =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文件名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让文件名与类名一致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4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没有看不懂的行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“请给新手解释第○行是什么意思”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挂上后 ▶ Play → Console 没有红色错误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复制完整错误信息去问（下一页）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94360"/>
          </a:xfrm>
          <a:prstGeom prst="roundRect">
            <a:avLst>
              <a:gd name="adj" fmla="val 15385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4 项最重要。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看不懂的行先问 AI，理解后再用。理解后使用的代码就是自己的实力。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挂到 Unity 上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文件名与类名不同就无法挂载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右键 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_Project/Scripts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Create &gt; Scripting &gt; MonoBehaviour Script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238252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42860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382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400808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命名为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PlayerMove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（大小写也要一致）→ Enter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291287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95895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912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931160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双击打开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全部删除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原内容，粘贴得到的代码 →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Ctrl + 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344322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48931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443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461512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回到 Unity，把 PlayerMove 拖到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上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397357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401966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3973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3991864"/>
            <a:ext cx="6400800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把子物体 Model 拖到 Inspector 的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Model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 → ▶ Play → WASD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2743200"/>
          </a:xfrm>
          <a:prstGeom prst="roundRect">
            <a:avLst>
              <a:gd name="adj" fmla="val 4000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出错时怎么问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8028432" y="240271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30704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复制 Console 红字的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完整句子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8028432" y="270522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33218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粘贴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整个脚本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8028432" y="3007741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2935732"/>
            <a:ext cx="3191256" cy="2263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一句话说明</a:t>
            </a:r>
            <a:pPr algn="l"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做了什么</a:t>
            </a:r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之后出错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7772400" y="4663440"/>
            <a:ext cx="3867912" cy="1097280"/>
          </a:xfrm>
          <a:prstGeom prst="roundRect">
            <a:avLst>
              <a:gd name="adj" fmla="val 10000"/>
            </a:avLst>
          </a:prstGeom>
          <a:solidFill>
            <a:srgbClr val="E5F4E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01000" y="4773168"/>
            <a:ext cx="34107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3905A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成功标志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028432" y="5208270"/>
            <a:ext cx="73152" cy="73152"/>
          </a:xfrm>
          <a:prstGeom prst="rect">
            <a:avLst/>
          </a:prstGeom>
          <a:solidFill>
            <a:srgbClr val="23905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8220456" y="5138928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WASD 能移动，模型朝向移动方向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对照用参考答案 — PlayerMove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AI 的答案不必完全一样。通过五项检验即可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UnityEngine.InputSystem;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玩家移动（WASD · 方向键）— 用于俯视角 3D 游戏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挂载位置：玩家（需要 Rigidbody + Collider）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[RequireComponent(typeof(Rigidbody))]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PlayerMove : MonoBehaviour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每秒移动速度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float speed = 5f;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// 朝向移动方向的模型（子物体，可留空）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Transform model;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Rigidbody rb;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Vector3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Start()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 = GetComponent&lt;Rigidbody&gt;();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锁定旋转，碰撞时不会倒下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rb.constraints = RigidbodyConstraints.FreezeRotation;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368503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PlayerMove.cs  1/2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126480" y="1691640"/>
            <a:ext cx="5513832" cy="4572000"/>
          </a:xfrm>
          <a:prstGeom prst="roundRect">
            <a:avLst>
              <a:gd name="adj" fmla="val 1600"/>
            </a:avLst>
          </a:prstGeom>
          <a:solidFill>
            <a:srgbClr val="1F263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09360" y="1819656"/>
            <a:ext cx="5148072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Keyboard kb = Keyboard.current;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 == null) return;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float h = 0f, v = 0f;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(kb.aKey.isPressed || kb.leftArrowKey.isPressed) h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(kb.dKey.isPressed || kb.rightArrowKey.isPressed) h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(kb.wKey.isPressed || kb.upArrowKey.isPressed) v +=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(kb.sKey.isPressed || kb.downArrowKey.isPressed) v -= 1f;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input = new Vector3(h, 0f, v).normalized;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让模型转向移动方向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(model != null &amp;&amp; input != Vector3.zero) model.forward = input;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void FixedUpdate()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   // 保留下落速度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62872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PlayerMove.cs  2/2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变成自己的 — 重写注释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删掉 AI 写的注释，用自己的话重写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766560" cy="2331720"/>
          </a:xfrm>
          <a:prstGeom prst="roundRect">
            <a:avLst>
              <a:gd name="adj" fmla="val 3137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400800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void FixedUpdate()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我的说明：按键方向 × 速度 = 这一帧要移动的速度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Vector3 vel = input * speed;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我的说明：上下（Y）速度保留原值，这样跳跃 · 下落不会被打断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vel.y = rb.linearVelocity.y;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rb.linearVelocity = vel;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58952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8" name="Shape 6"/>
          <p:cNvSpPr/>
          <p:nvPr/>
        </p:nvSpPr>
        <p:spPr>
          <a:xfrm>
            <a:off x="763560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58952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709928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每行用自己的话写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做什么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589520" y="222199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2" name="Shape 10"/>
          <p:cNvSpPr/>
          <p:nvPr/>
        </p:nvSpPr>
        <p:spPr>
          <a:xfrm>
            <a:off x="7635606" y="226807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589520" y="2221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0" y="2240280"/>
            <a:ext cx="3502152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解释不了的行 → 问 AI → 理解后再写注释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89520" y="285064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7635606" y="289672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589520" y="285064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2868930"/>
            <a:ext cx="3502152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改改数字（speed 等）看结果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48640" y="42062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77240" y="4334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176272" y="43997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2368296" y="43251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期末演示时要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亲自讲解自己脚本的一部分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。从今天开始这样练习。</a:t>
            </a:r>
            <a:endParaRPr lang="en-US" sz="14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3776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9983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使用记录（一行示例）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PlayerMove 移动脚本（使用提问模板）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得到 → 我改了什么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要求把 velocity 改成 linearVelocity · speed 5→7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实操 7 · 选做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（选做）摄像机跟随玩家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这次自己填提问模板去问。下面是对照用的例子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949440" cy="4434840"/>
          </a:xfrm>
          <a:prstGeom prst="roundRect">
            <a:avLst>
              <a:gd name="adj" fmla="val 1649"/>
            </a:avLst>
          </a:prstGeom>
          <a:solidFill>
            <a:srgbClr val="1F263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819656"/>
            <a:ext cx="6583680" cy="4178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UnityEngine;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摄像机保持一定距离跟随玩家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挂载位置：Main Camera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FC4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CameraFollow : MonoBehaviour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跟随目标（玩家）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Transform target;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目标到摄像机的距离（向上 10，向后 8）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Vector3 offset = new Vector3(0f, 10f, -8f);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B9A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跟随平滑度（越大跟得越快）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float smooth = 5f;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LateUpdate()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(target == null) return;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Vector3 goal = target.position + offset;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float k = smooth * Time.deltaTime;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transform.position = Vector3.Lerp(transform.position, goal, k);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transform.LookAt(target);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64792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AA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CameraFollow.cs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772400" y="169164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9" name="Shape 7"/>
          <p:cNvSpPr/>
          <p:nvPr/>
        </p:nvSpPr>
        <p:spPr>
          <a:xfrm>
            <a:off x="7818486" y="173772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7724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170992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只改 [想要] 一栏来提问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1924558"/>
            <a:ext cx="3319272" cy="18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例：摄像机从上方 · 后方平滑跟随玩家的脚本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772400" y="22707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7818486" y="23168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0" y="2270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289048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五项检验 → 挂到 Main Camera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28011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7818486" y="28471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772400" y="28011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819400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Player 拖到 </a:t>
            </a:r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Target</a:t>
            </a:r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 → ▶ Play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33314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7818486" y="33775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0" y="3331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8321040" y="3349752"/>
            <a:ext cx="3319272" cy="2146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改改 Offset 数字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选做 · 预览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（选做）把主视觉铺成标题背景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第 12 周会详细讲。有时间可以先试试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594726" y="1783446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755648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KeyVisual_01.png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拖进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_Project/Textures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文件夹（没有就新建）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267712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0" name="Shape 8"/>
          <p:cNvSpPr/>
          <p:nvPr/>
        </p:nvSpPr>
        <p:spPr>
          <a:xfrm>
            <a:off x="594726" y="2313798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267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286000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选中图片 → Inspector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Texture Type = Sprite (2D and UI)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Apply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2798064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4" name="Shape 12"/>
          <p:cNvSpPr/>
          <p:nvPr/>
        </p:nvSpPr>
        <p:spPr>
          <a:xfrm>
            <a:off x="594726" y="2844150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2798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816352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GameObject &gt; UI (Canvas) &gt; Image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命名 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TitleBG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328416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726" y="3374502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3346704"/>
            <a:ext cx="6400800" cy="2228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把主视觉拖到 Image 的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Source Image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栏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858768"/>
            <a:ext cx="384048" cy="384048"/>
          </a:xfrm>
          <a:prstGeom prst="roundRect">
            <a:avLst>
              <a:gd name="adj" fmla="val 14286"/>
            </a:avLst>
          </a:prstGeom>
          <a:solidFill>
            <a:srgbClr val="E07A2E"/>
          </a:solidFill>
          <a:ln/>
        </p:spPr>
      </p:sp>
      <p:sp>
        <p:nvSpPr>
          <p:cNvPr id="22" name="Shape 20"/>
          <p:cNvSpPr/>
          <p:nvPr/>
        </p:nvSpPr>
        <p:spPr>
          <a:xfrm>
            <a:off x="594726" y="3904854"/>
            <a:ext cx="291876" cy="291876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3858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3877056"/>
            <a:ext cx="6400800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在 Rect Transform 锚点预设中按住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Alt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点右下角 </a:t>
            </a:r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stretch-stretch</a:t>
            </a:r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铺满画面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7772400" y="1737360"/>
            <a:ext cx="3867912" cy="3017520"/>
          </a:xfrm>
          <a:prstGeom prst="roundRect">
            <a:avLst>
              <a:gd name="adj" fmla="val 3636"/>
            </a:avLst>
          </a:prstGeom>
          <a:solidFill>
            <a:srgbClr val="F3F5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01000" y="1938528"/>
            <a:ext cx="3410712" cy="302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12 周再加的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028432" y="238353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220456" y="2314194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游戏名称文字 · 阴影 · 描边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028432" y="26776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20456" y="2608326"/>
            <a:ext cx="3191256" cy="435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制作能显示中韩文的</a:t>
            </a:r>
            <a:pPr algn="l"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字体资源</a:t>
            </a:r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（解决 □ 问题）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8028432" y="318973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220456" y="3120390"/>
            <a:ext cx="3191256" cy="217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按钮美化 · 出场效果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091672" cy="777240"/>
          </a:xfrm>
          <a:prstGeom prst="roundRect">
            <a:avLst>
              <a:gd name="adj" fmla="val 11765"/>
            </a:avLst>
          </a:prstGeom>
          <a:solidFill>
            <a:srgbClr val="FDF0E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77240" y="52486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176272" y="53141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368296" y="52395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标题是游戏的第一印象。组合 AI 图片 + 素材 + Unity UI，一个人也能做出好看的画面。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收尾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今天结束时应该有的东西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没做完就作为作业继续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18745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17830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一页策划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17830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表格全部填好 · 规模检查全是“是”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246888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0" name="Shape 8"/>
          <p:cNvSpPr/>
          <p:nvPr/>
        </p:nvSpPr>
        <p:spPr>
          <a:xfrm>
            <a:off x="777240" y="260604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5146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主视觉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120640" y="251460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KeyVisual_01.png · 3 个风格关键词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320040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4" name="Shape 12"/>
          <p:cNvSpPr/>
          <p:nvPr/>
        </p:nvSpPr>
        <p:spPr>
          <a:xfrm>
            <a:off x="777240" y="333756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71600" y="3246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新项目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20640" y="32461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Final_学号 · _Project 文件夹 · Play 场景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18" name="Shape 16"/>
          <p:cNvSpPr/>
          <p:nvPr/>
        </p:nvSpPr>
        <p:spPr>
          <a:xfrm>
            <a:off x="777240" y="406908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71600" y="3977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至少 1 个素材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120640" y="397764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已导入并放进 Play 场景 · 已记入素材清单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480060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47091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能移动的玩家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120640" y="4709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换上模型的 Player 能用 WASD 移动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548640" y="5394960"/>
            <a:ext cx="11091672" cy="640080"/>
          </a:xfrm>
          <a:prstGeom prst="roundRect">
            <a:avLst>
              <a:gd name="adj" fmla="val 17143"/>
            </a:avLst>
          </a:prstGeom>
          <a:solidFill>
            <a:srgbClr val="F3F5F7"/>
          </a:solidFill>
          <a:ln/>
        </p:spPr>
      </p:sp>
      <p:sp>
        <p:nvSpPr>
          <p:cNvPr id="26" name="Shape 24"/>
          <p:cNvSpPr/>
          <p:nvPr/>
        </p:nvSpPr>
        <p:spPr>
          <a:xfrm>
            <a:off x="777240" y="5532120"/>
            <a:ext cx="36576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8C96A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371600" y="54406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行 AI 使用记录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120640" y="54406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策划 · 图片 · 代码各 1 行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收尾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遇到问题时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从上往下检查</a:t>
            </a:r>
            <a:endParaRPr lang="en-US" sz="15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670255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现象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解决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Package Manager 的 My Assets 是空的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确认编辑器左上角账号与 Asset Store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是同一个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点窗口上方刷新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素材是粉色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Window &gt; Rendering &gt; Render Pipeline Converter → Built-in to URP → Material Upgrade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导入后出现红色错误（素材文件夹里的脚本）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删除错误指向的素材的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Scripts · Demo 文件夹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。只留模型 · 贴图 · 材质就够了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Play 时出现 InvalidOperationException … Input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某个脚本用了旧 Input 类 → 改成 Keyboard.current 或删除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脚本挂不上物体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文件名 = 类名吗 · Console 有没有红色错误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玩家会倒下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勾选 Rigidbody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Constraints &gt; Freeze Rotation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X · Y · Z（参考代码已自动设置）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模型陷进地面或悬空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只调子物体 </a:t>
                      </a:r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Model</a:t>
                      </a:r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的 Position Y（Player 不动）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097280"/>
            <a:ext cx="1188720" cy="1188720"/>
          </a:xfrm>
          <a:prstGeom prst="roundRect">
            <a:avLst>
              <a:gd name="adj" fmla="val 4615"/>
            </a:avLst>
          </a:prstGeom>
          <a:solidFill>
            <a:srgbClr val="E07A2E"/>
          </a:solidFill>
          <a:ln/>
        </p:spPr>
      </p:sp>
      <p:sp>
        <p:nvSpPr>
          <p:cNvPr id="3" name="Shape 1"/>
          <p:cNvSpPr/>
          <p:nvPr/>
        </p:nvSpPr>
        <p:spPr>
          <a:xfrm>
            <a:off x="874166" y="1239926"/>
            <a:ext cx="903427" cy="903427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097280"/>
            <a:ext cx="1188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!</a:t>
            </a:r>
            <a:endParaRPr lang="en-US" sz="4800" dirty="0"/>
          </a:p>
        </p:txBody>
      </p:sp>
      <p:sp>
        <p:nvSpPr>
          <p:cNvPr id="5" name="Text 3"/>
          <p:cNvSpPr txBox="1"/>
          <p:nvPr/>
        </p:nvSpPr>
        <p:spPr>
          <a:xfrm>
            <a:off x="2194560" y="1188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作业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194560" y="160020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期末项目第 1 阶段作业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237744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AEB7C2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11/9（周一）上课前提交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194560" y="33375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9" name="Shape 7"/>
          <p:cNvSpPr/>
          <p:nvPr/>
        </p:nvSpPr>
        <p:spPr>
          <a:xfrm>
            <a:off x="2229673" y="33726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94560" y="33375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697480" y="32918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交什么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2194560" y="40233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3" name="Shape 11"/>
          <p:cNvSpPr/>
          <p:nvPr/>
        </p:nvSpPr>
        <p:spPr>
          <a:xfrm>
            <a:off x="2229673" y="40584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697480" y="39776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到期末的日程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194560" y="470916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5B6672"/>
          </a:solidFill>
          <a:ln/>
        </p:spPr>
      </p:sp>
      <p:sp>
        <p:nvSpPr>
          <p:cNvPr id="17" name="Shape 15"/>
          <p:cNvSpPr/>
          <p:nvPr/>
        </p:nvSpPr>
        <p:spPr>
          <a:xfrm>
            <a:off x="2229673" y="4744273"/>
            <a:ext cx="222382" cy="22238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2194560" y="47091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697480" y="4663440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完成标准 · 工具使用原则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本次作业 — 六项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填写项目笔记（模板），整理成一个 PDF 提交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9222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E07A2E"/>
          </a:solidFill>
          <a:ln/>
        </p:spPr>
      </p:sp>
      <p:sp>
        <p:nvSpPr>
          <p:cNvPr id="6" name="Shape 4"/>
          <p:cNvSpPr/>
          <p:nvPr/>
        </p:nvSpPr>
        <p:spPr>
          <a:xfrm>
            <a:off x="603504" y="1847088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922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73736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一页策划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173736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把和 AI 一起做的策划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用自己的话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整理 + 规模检查 + 选择理由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450592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F6FEB"/>
          </a:solidFill>
          <a:ln/>
        </p:spPr>
      </p:sp>
      <p:sp>
        <p:nvSpPr>
          <p:cNvPr id="11" name="Shape 9"/>
          <p:cNvSpPr/>
          <p:nvPr/>
        </p:nvSpPr>
        <p:spPr>
          <a:xfrm>
            <a:off x="603504" y="2505456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450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39572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主视觉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840480" y="2395728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 AI 做的标题背景候选 1 张 + 3 个风格关键词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10896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23905A"/>
          </a:solidFill>
          <a:ln/>
        </p:spPr>
      </p:sp>
      <p:sp>
        <p:nvSpPr>
          <p:cNvPr id="16" name="Shape 14"/>
          <p:cNvSpPr/>
          <p:nvPr/>
        </p:nvSpPr>
        <p:spPr>
          <a:xfrm>
            <a:off x="603504" y="3163824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3108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5409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素材清单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3054096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 个以上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候选，其中 </a:t>
            </a:r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个以上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导入并放进场景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767328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3A434D"/>
          </a:solidFill>
          <a:ln/>
        </p:spPr>
      </p:sp>
      <p:sp>
        <p:nvSpPr>
          <p:cNvPr id="21" name="Shape 19"/>
          <p:cNvSpPr/>
          <p:nvPr/>
        </p:nvSpPr>
        <p:spPr>
          <a:xfrm>
            <a:off x="603504" y="3822192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3767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371246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第一个操作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3840480" y="3712464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换上模型的玩家能移动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48640" y="4425696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D04444"/>
          </a:solidFill>
          <a:ln/>
        </p:spPr>
      </p:sp>
      <p:sp>
        <p:nvSpPr>
          <p:cNvPr id="26" name="Shape 24"/>
          <p:cNvSpPr/>
          <p:nvPr/>
        </p:nvSpPr>
        <p:spPr>
          <a:xfrm>
            <a:off x="603504" y="4480560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44256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37083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使用记录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840480" y="437083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3 行以上</a:t>
            </a:r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策划 · 图片 · 代码各 1 行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48640" y="5084064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8C96A1"/>
          </a:solidFill>
          <a:ln/>
        </p:spPr>
      </p:sp>
      <p:sp>
        <p:nvSpPr>
          <p:cNvPr id="31" name="Shape 29"/>
          <p:cNvSpPr/>
          <p:nvPr/>
        </p:nvSpPr>
        <p:spPr>
          <a:xfrm>
            <a:off x="603504" y="5138928"/>
            <a:ext cx="347472" cy="347472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48640" y="50840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6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1188720" y="50292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E242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截图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3840480" y="5029200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Scene 视图 1 张 + Game 视图（▶ Play 中）1 张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48640" y="5852160"/>
            <a:ext cx="11091672" cy="457200"/>
          </a:xfrm>
          <a:prstGeom prst="roundRect">
            <a:avLst>
              <a:gd name="adj" fmla="val 20000"/>
            </a:avLst>
          </a:prstGeom>
          <a:solidFill>
            <a:srgbClr val="FDF0E4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777240" y="59801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176272" y="60457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368296" y="59710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文件名 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게임엔진기초_8주차_学号_姓名.pdf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→ 提交到 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LMS 作业栏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到期末的日程（计划）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一个多月的时间 — 前 2 周做“能玩的游戏”，后面做“好看的游戏”</a:t>
            </a:r>
            <a:endParaRPr lang="en-US" sz="15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280160"/>
                <a:gridCol w="8348472"/>
              </a:tblGrid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日期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要完成的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8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11/2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和 AI 做策划 · 主视觉 · 新项目 · 首次使用素材 · 第一个操作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9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11/9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核心规则 · 胜负（用灰色方块玩完一局）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10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11/16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用素材装饰地图 · 角色（统一风格）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11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11/23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美化 ① 光照 · 后期处理 · 摄像机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12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11/30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美化 ② 用 AI 做标题画面 · HUD · 结果画面 · 字体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13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12/7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声音 · 特效 · 试玩 · 难度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14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12/14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收尾 · Windows 打包 · 演示练习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第 15 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12/21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期末演示（期末考试）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806440"/>
            <a:ext cx="11091672" cy="411480"/>
          </a:xfrm>
          <a:prstGeom prst="roundRect">
            <a:avLst>
              <a:gd name="adj" fmla="val 2222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9344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9999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9253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第 5 周是公休日，课程周次顺延了一周。请以日期为准。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期末完成标准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在期中四项基础上，增加“好看的游戏”和“善用工具的过程”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F3F5F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5F6B78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与期中相同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04672" y="2360676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96696" y="2286000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完整一局 — 标题 → 游戏 → 结果 → RETRY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04672" y="2671572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96696" y="2596896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三个画面 — 标题 · HUD · 结果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4672" y="2982468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96696" y="2907792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反馈 — 得分 · 成功 · 失败有声音 + 特效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" y="3293364"/>
            <a:ext cx="73152" cy="73152"/>
          </a:xfrm>
          <a:prstGeom prst="rect">
            <a:avLst/>
          </a:prstGeom>
          <a:solidFill>
            <a:srgbClr val="8C96A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96696" y="3218688"/>
            <a:ext cx="444398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Windows 打包 — 用 .exe 演示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879592" y="1737360"/>
            <a:ext cx="5760720" cy="3657600"/>
          </a:xfrm>
          <a:prstGeom prst="roundRect">
            <a:avLst>
              <a:gd name="adj" fmla="val 3000"/>
            </a:avLst>
          </a:prstGeom>
          <a:solidFill>
            <a:srgbClr val="FDF0E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08192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这次增加的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35624" y="2360676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327648" y="2286000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新游戏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与期中不同的新项目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135624" y="2671572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27648" y="2596896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好看的画面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用素材 · 光照统一风格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35624" y="298246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327648" y="2907792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美化的标题画面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利用 AI 图片等打造第一印象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35624" y="3293364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27648" y="3218688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两种记录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素材清单 · AI 使用记录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35624" y="3604260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327648" y="3529584"/>
            <a:ext cx="5084064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过程讲解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 — 用什么工具做了什么 + 自己脚本的一部分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5577840"/>
            <a:ext cx="11091672" cy="548640"/>
          </a:xfrm>
          <a:prstGeom prst="roundRect">
            <a:avLst>
              <a:gd name="adj" fmla="val 16667"/>
            </a:avLst>
          </a:prstGeom>
          <a:solidFill>
            <a:srgbClr val="FDF0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77240" y="57058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176272" y="577138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2368296" y="569671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评价按上述项目的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角度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进行。不按游戏类型区分分数。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会用 AI 也是实力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工具尽管用。但“导演”是自己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754880"/>
                <a:gridCol w="4873752"/>
              </a:tblGrid>
              <a:tr h="713232">
                <a:tc>
                  <a:txBody>
                    <a:bodyPr/>
                    <a:lstStyle/>
                    <a:p>
                      <a:endParaRPr/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尽管用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一定要做到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策划点子 · 点评 · 图片 · 代码 · 解决错误 · 讲解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结果由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自己挑选和修改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放入的代码要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理解后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再放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素材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 · 贴图 · 材质 · 声音 · 特效 · 字体 · UI 图片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不把完整游戏模板只改名字就提交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课程资料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复用课上发的 GameManager 等脚本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不拿别的同学的项目 · 成果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共同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混合使用多种工具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用过的要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记录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 · </a:t>
                      </a:r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不模仿</a:t>
                      </a:r>
                      <a:pPr algn="l" indent="0" marL="0">
                        <a:buNone/>
                      </a:pPr>
                      <a:r>
                        <a:rPr lang="en-US" sz="13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知名游戏 · 角色 · 标志</a:t>
                      </a:r>
                      <a:endParaRPr lang="en-US" sz="13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48640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" y="561441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176272" y="567994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368296" y="560527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拿不准时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用之前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先问。问过的不会有问题。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记录格式 — 各一行示例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模板文件里有同样的表格。每次使用后马上记录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F6FEB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素材清单</a:t>
            </a:r>
            <a:endParaRPr lang="en-US" sz="15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280160"/>
                <a:gridCol w="3017520"/>
                <a:gridCol w="1828800"/>
                <a:gridCol w="25877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名称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类型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来源 · 网址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许可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用在哪里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(Robot Kit)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模型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kenney.nl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CC0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玩家模型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KeyVisual_01.png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图片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（图像生成 AI 名称）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服务条款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标题背景候选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4290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D04444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AI 使用记录</a:t>
            </a:r>
            <a:endParaRPr lang="en-US" sz="1500" dirty="0"/>
          </a:p>
        </p:txBody>
      </p:sp>
      <p:graphicFrame>
        <p:nvGraphicFramePr>
          <p:cNvPr id="7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2377440"/>
                <a:gridCol w="3383280"/>
                <a:gridCol w="295351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日期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工具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得到 → 我改了什么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学到的（自己的话）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11/2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（聊天 AI）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5 个策划点子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选第 3 个 → 缩小到 3 个功能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条件越详细，回答越实用</a:t>
                      </a:r>
                      <a:endParaRPr lang="en-US" sz="12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4937760"/>
            <a:ext cx="11091672" cy="502920"/>
          </a:xfrm>
          <a:prstGeom prst="roundRect">
            <a:avLst>
              <a:gd name="adj" fmla="val 18182"/>
            </a:avLst>
          </a:prstGeom>
          <a:solidFill>
            <a:srgbClr val="FDF0E4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777240" y="506577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E07A2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要点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2176272" y="5131308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368296" y="5056632"/>
            <a:ext cx="9089136" cy="234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括号里是例子。不要整段粘贴 AI 的回答，要</a:t>
            </a:r>
            <a:pPr algn="l"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概括</a:t>
            </a:r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记录。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7A2E"/>
                </a:solidFill>
              </a:rPr>
              <a:t>作业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85216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42B"/>
                </a:solidFill>
              </a:rPr>
              <a:t>提交前检查 · 常见问题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1170432"/>
            <a:ext cx="11064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B78"/>
                </a:solidFill>
              </a:rPr>
              <a:t>11/9（周一）上课前提交到 LMS 作业栏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76072" y="1814703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" y="1737360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一个 PDF 里包含策划 · 主视觉 · 素材清单 · AI 记录 · 2 张截图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76072" y="2377059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2299716"/>
            <a:ext cx="5449824" cy="2430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文件名：</a:t>
            </a:r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B548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게임엔진기초_8주차_学号_姓名.pdf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76072" y="2696337"/>
            <a:ext cx="73152" cy="73152"/>
          </a:xfrm>
          <a:prstGeom prst="rect">
            <a:avLst/>
          </a:prstGeom>
          <a:solidFill>
            <a:srgbClr val="E07A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" y="2618994"/>
            <a:ext cx="5449824" cy="486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A434D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已把项目文件夹（Assets · Packages · ProjectSettings）备份到 U 盘或云盘</a:t>
            </a:r>
            <a:endParaRPr lang="en-US" sz="145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737360"/>
          <a:ext cx="51480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53512"/>
              </a:tblGrid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问题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回答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42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能继续做期中的游戏吗？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这次期末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全部做新项目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AI 几乎全做了，可以吗？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可以。但要能讲清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自己挑选和修改了什么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、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理解了什么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必须用付费素材 · 付费 AI 吗？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不用，免费的就够了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能把素材上传到 GitHub 吗？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Asset Store 素材文件</a:t>
                      </a:r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不要上传到公开仓库</a:t>
                      </a:r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3A434D"/>
                          </a:solidFill>
                          <a:latin typeface="Noto Sans SC" pitchFamily="34" charset="0"/>
                          <a:ea typeface="Noto Sans SC" pitchFamily="34" charset="-122"/>
                          <a:cs typeface="Noto Sans SC" pitchFamily="34" charset="-120"/>
                        </a:rPr>
                        <a:t>（打包后的游戏可以）</a:t>
                      </a:r>
                      <a:endParaRPr lang="en-US" sz="1150" dirty="0">
                        <a:latin typeface="Noto Sans SC" charset="0"/>
                        <a:ea typeface="Noto Sans SC" charset="0"/>
                        <a:cs typeface="Noto Sans SC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50292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6A1"/>
                </a:solidFill>
                <a:latin typeface="Noto Sans SC"/>
                <a:ea typeface="Noto Sans SC"/>
                <a:cs typeface="Noto Sans SC"/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ayBox">
  <a:themeElements>
    <a:clrScheme name="GrayBox">
      <a:dk1>
        <a:srgbClr val="1E242B"/>
      </a:dk1>
      <a:lt1>
        <a:srgbClr val="FFFFFF"/>
      </a:lt1>
      <a:dk2>
        <a:srgbClr val="3A434D"/>
      </a:dk2>
      <a:lt2>
        <a:srgbClr val="F3F5F7"/>
      </a:lt2>
      <a:accent1>
        <a:srgbClr val="E07A2E"/>
      </a:accent1>
      <a:accent2>
        <a:srgbClr val="2F6FEB"/>
      </a:accent2>
      <a:accent3>
        <a:srgbClr val="23905A"/>
      </a:accent3>
      <a:accent4>
        <a:srgbClr val="D04444"/>
      </a:accent4>
      <a:accent5>
        <a:srgbClr val="8C96A1"/>
      </a:accent5>
      <a:accent6>
        <a:srgbClr val="7A5AF8"/>
      </a:accent6>
      <a:hlink>
        <a:srgbClr val="2F6FEB"/>
      </a:hlink>
      <a:folHlink>
        <a:srgbClr val="7A5AF8"/>
      </a:folHlink>
    </a:clrScheme>
    <a:fontScheme name="GrayBox">
      <a:majorFont>
        <a:latin typeface="Noto Sans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박정원</dc:creator>
  <cp:lastModifiedBy>박정원</cp:lastModifiedBy>
  <cp:revision>1</cp:revision>
  <dcterms:created xsi:type="dcterms:W3CDTF">2026-11-01T18:30:36Z</dcterms:created>
  <dcterms:modified xsi:type="dcterms:W3CDTF">2026-11-01T18:30:36Z</dcterms:modified>
</cp:coreProperties>
</file>