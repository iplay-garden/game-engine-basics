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오리엔테이션" id="{ea4265cc-8a2d-b841-7dba-9d3cc11e130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AI를 쓰는 태도" id="{ba172625-d822-258d-045b-1efb0db86813}">
          <p14:sldIdLst>
            <p14:sldId id="267"/>
            <p14:sldId id="268"/>
            <p14:sldId id="269"/>
            <p14:sldId id="270"/>
            <p14:sldId id="271"/>
          </p14:sldIdLst>
        </p14:section>
        <p14:section name="예쁘게" id="{3236bc1a-39a7-6a5c-01af-ecd8b9203c26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가져오기 · AI 코드" id="{3d219a36-8faf-eff9-9ae6-65a8e0d2b8ad}">
          <p14:sldIdLst>
            <p14:sldId id="278"/>
            <p14:sldId id="279"/>
            <p14:sldId id="280"/>
            <p14:sldId id="281"/>
          </p14:sldIdLst>
        </p14:section>
        <p14:section name="과제" id="{4a40ad19-03fb-2fa6-a301-6f484b938158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5주차가 공휴일이어서 수업 주차가 한 주씩 밀렸습니다. 오늘이 8주차이고 기말 시연은 15주차인 12/21입니다. 중간은 '만드는 흐름'을 익혔다면, 기말은 같은 흐름을 새 게임으로 다시 하면서 AI와 에셋으로 결과물의 수준을 끌어올리는 연습입니다.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E07A2E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E242B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5F6B78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강의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WITCH">
    <p:bg>
      <p:bgPr>
        <a:solidFill>
          <a:srgbClr val="FD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강의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3" name="Shape 1"/>
          <p:cNvSpPr/>
          <p:nvPr/>
        </p:nvSpPr>
        <p:spPr>
          <a:xfrm>
            <a:off x="852220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46404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6" name="Shape 4"/>
          <p:cNvSpPr/>
          <p:nvPr/>
        </p:nvSpPr>
        <p:spPr>
          <a:xfrm>
            <a:off x="957376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640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51560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9" name="Shape 7"/>
          <p:cNvSpPr/>
          <p:nvPr/>
        </p:nvSpPr>
        <p:spPr>
          <a:xfrm>
            <a:off x="1062532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93826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12" name="Shape 10"/>
          <p:cNvSpPr/>
          <p:nvPr/>
        </p:nvSpPr>
        <p:spPr>
          <a:xfrm>
            <a:off x="904798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3826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98982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2F6F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9954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898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464040" y="146304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573768" y="157276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46404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046720" y="4663440"/>
            <a:ext cx="3931920" cy="164592"/>
          </a:xfrm>
          <a:prstGeom prst="roundRect">
            <a:avLst>
              <a:gd name="adj" fmla="val 27778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7315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7315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슬라이드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동명대학교 게임그래픽학과 · 게임엔진기초 8주차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1783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오늘부터 시작.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514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에셋으로 한 달간</a:t>
            </a: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만들어 보는 게임 프로젝트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39319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5DBE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모두 새 프로젝트로 두 번째 게임을 만듭니다. 기획부터 그래픽까지 AI와 에셋을 도구로 쓰는 법을 함께 익힙니다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버전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6.3 LTS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시연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12/21 (월)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303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303520" y="5394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박정원 · doo0303@naver.com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오리엔테이션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오늘 답할 질문 네 개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질문마다 실습이 붙어 있습니다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0116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7" name="Shape 5"/>
          <p:cNvSpPr/>
          <p:nvPr/>
        </p:nvSpPr>
        <p:spPr>
          <a:xfrm>
            <a:off x="832104" y="20665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24328"/>
            <a:ext cx="2148840" cy="616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기말은 무엇을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언제까지?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313684"/>
            <a:ext cx="2148840" cy="1578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게임 1개 · 12/21 시연. 중간의 4가지 + 그래픽 · 타이틀 · 기록 · 과정 설명.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74136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602736" y="20116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3657600" y="20665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02736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02736" y="2624328"/>
            <a:ext cx="2148840" cy="616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쓰면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실력이 아닐까?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602736" y="3313684"/>
            <a:ext cx="2148840" cy="1578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아닙니다. 도구를 잘 쓰는 것도 실력입니다. 대신 '감독'은 내가 합니다.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99632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6428232" y="20116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6483096" y="20665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8232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28232" y="2624328"/>
            <a:ext cx="2148840" cy="616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기획을 AI와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하나?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28232" y="3313684"/>
            <a:ext cx="2148840" cy="1578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넓히기 → 고르기 → 줄이기 → 검토받기. 고르기만은 꼭 내가.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025128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24" name="Shape 22"/>
          <p:cNvSpPr/>
          <p:nvPr/>
        </p:nvSpPr>
        <p:spPr>
          <a:xfrm>
            <a:off x="9253728" y="20116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25" name="Shape 23"/>
          <p:cNvSpPr/>
          <p:nvPr/>
        </p:nvSpPr>
        <p:spPr>
          <a:xfrm>
            <a:off x="9308592" y="20665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25372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253728" y="2624328"/>
            <a:ext cx="2148840" cy="616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예쁜 게임은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만드나?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253728" y="3313684"/>
            <a:ext cx="2148840" cy="1578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 비주얼로 방향을 정하고, 에셋 · 조명 · 타이틀로 완성한다.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525780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53858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176272" y="54513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368296" y="53766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목표: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만든 기획 1페이지 + 키 비주얼 + 새 프로젝트 + 에셋을 입혀 움직이는 플레이어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오리엔테이션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오늘의 시간표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개념은 짧게, 실습은 길게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4297680"/>
                <a:gridCol w="139903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교시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개념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슬라이드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1교시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기말 안내 · 작게 만드는 이유 · 사례 · AI를 쓰는 태도 (22분)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1 · AI와 함께 기획 (28분)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3~13쪽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2교시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키 비주얼 · 예쁘게 만드는 요소 · 에셋 (12분)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2 · 키 비주얼 (15분)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3 · 4 · 새 프로젝트 · 에셋 고르기 (23분)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14~22쪽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3교시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 가져오기 · AI 코드 확인법 (8분)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5 · 6 · 7 · 가져오기 · 모델 입히기 · AI 첫 스크립트 (35분)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과제 안내 (7분)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23~37쪽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34924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477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5427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4681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쉬는 시간은 1교시 뒤 10분, 2교시 뒤 10분. 에셋 다운로드는 시간이 걸리니 고르자마자 받아 둡니다.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왜 새 프로젝트로 다시 시작하나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중간 게임을 고치는 것보다 '처음부터 한 번 더'가 더 많이 남습니다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47872" cy="3291840"/>
          </a:xfrm>
          <a:prstGeom prst="roundRect">
            <a:avLst>
              <a:gd name="adj" fmla="val 3333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65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7" name="Shape 5"/>
          <p:cNvSpPr/>
          <p:nvPr/>
        </p:nvSpPr>
        <p:spPr>
          <a:xfrm>
            <a:off x="832104" y="2020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번째는 빠르다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0632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만들기 · 화면 3개 · GameManager · 빌드를 이미 한 번 해 봤습니다. 같은 일은 빨리 끝내고 남는 시간을 그래픽과 완성도에 씁니다.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297680" y="1783080"/>
            <a:ext cx="3547872" cy="3291840"/>
          </a:xfrm>
          <a:prstGeom prst="roundRect">
            <a:avLst>
              <a:gd name="adj" fmla="val 3333"/>
            </a:avLst>
          </a:prstGeom>
          <a:solidFill>
            <a:srgbClr val="F3F5F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26280" y="1965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4581144" y="2020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26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처음부터 '보이는 것'을 설계한다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30632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중간은 회색 큐브로 시작해 나중에 꾸몄습니다. 이번엔 기획 단계에서 키 비주얼로 스타일을 먼저 정하고 시작합니다.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046720" y="1783080"/>
            <a:ext cx="3547872" cy="3291840"/>
          </a:xfrm>
          <a:prstGeom prst="roundRect">
            <a:avLst>
              <a:gd name="adj" fmla="val 3333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8275320" y="1965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8330184" y="2020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753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모두 같은 출발선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0632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이어서 하는 사람과 새로 하는 사람이 섞이면 진도를 맞추기 어렵습니다. 모두 새 프로젝트로 같은 일정을 갑니다.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48640" y="530352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77240" y="54315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176272" y="54970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368296" y="54223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 프로젝트는 지우지 말고 보관하세요.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GameManager 같은 내 스크립트는 다시 가져와 써도 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기말까지 한 달 남짓 — 앞은 '돌아가게', 뒤는 '예쁘게'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5주차 공휴일로 주차가 한 주씩 밀렸습니다. 계획이며 진행에 따라 조정할 수 있습니다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FDF0E4"/>
          </a:solidFill>
          <a:ln w="25400">
            <a:solidFill>
              <a:srgbClr val="E07A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8주차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기획 · 키 비주얼 · 첫 조작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947672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F3F5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57400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9주차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057400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11/9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057400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규칙 · 승패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46704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E8F0F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56432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10주차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456432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11/16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456432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에셋으로 맵 · 캐릭터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45736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E8F0F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11주차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55464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11/23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55464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조명 · 포스트 프로세싱 · 카메라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44768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54496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54496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11/30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254496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타이틀 · UI · 폰트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543800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53528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13주차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653528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12/7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653528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· 이펙트 · 플레이테스트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942832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F3F5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052560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14주차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052560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12/14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마무리 · 빌드 · 연습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0341864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FCEAE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51592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0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15주차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451592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12/21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451592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시연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(기말고사)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4663440"/>
            <a:ext cx="2679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돌아가는 게임 →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3346704" y="4663440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예쁜 게임 (파란 칸) →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48640" y="512064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77240" y="52486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176272" y="53141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368296" y="52395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9주차까지 '회색으로 한 판이 도는 게임'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 먼저입니다. 그 뒤 3주 동안 마음껏 예쁘게 만듭니다.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단순한 게임일수록 더 예쁘게 만들 수 있다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시간은 정해져 있습니다. 규칙에 쓰지 않은 시간이 '꾸미는 시간'이 됩니다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6주를 쓰는 방법 (예시)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377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기획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· 버그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꾸미기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2980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다섯 개 · 적 여러 종류 · 스테이지 여러 개 → 회색 화면으로 시연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3375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기획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· 버그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꾸미기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017520" y="39410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동작 하나 · 오브젝트 몇 종류 → 남은 4주로 에셋 · 조명 · 타이틀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남는다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규칙이 일찍 끝나야 꾸밀 시간이 생깁니다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9768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8056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스타일을 맞추기 쉽다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등장하는 물체 종류가 적을수록 어울리는 에셋을 찾기 쉽습니다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04672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960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버그가 적다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기능이 적을수록 시연 날 멈출 일이 줄어듭니다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368296" y="5696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하나 + 예쁜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다섯 + 회색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보다 훨씬 좋은 게임으로 보입니다. 기획은 줄이고, 꾸미기에 시간을 쓰세요.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실제 사례로 보기 — 작고 단순한 게임의 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잘 알려진 게임들도 '단순한 규칙 + 공들인 화면'으로 사랑받았습니다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47872" cy="3886200"/>
          </a:xfrm>
          <a:prstGeom prst="roundRect">
            <a:avLst>
              <a:gd name="adj" fmla="val 3093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3547872" cy="91440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920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조작 + 아름다운 화면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58952" y="2489835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0976" y="2423160"/>
            <a:ext cx="2980944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Alto's Adventure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(2015) — 탭하면 점프, 누르고 있으면 묘기. 조작은 사실상 하나. 리뷰에서 가장 많이 칭찬받은 것은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그림과 분위기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58952" y="3429635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50976" y="3362960"/>
            <a:ext cx="2980944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Monument Valley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(2014) — 1~3시간이면 끝나는 짧은 퍼즐 게임. 아름다운 그림으로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 Apple Design Award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수상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97680" y="1737360"/>
            <a:ext cx="3547872" cy="3886200"/>
          </a:xfrm>
          <a:prstGeom prst="roundRect">
            <a:avLst>
              <a:gd name="adj" fmla="val 3093"/>
            </a:avLst>
          </a:prstGeom>
          <a:solidFill>
            <a:srgbClr val="F3F5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297680" y="1737360"/>
            <a:ext cx="3547872" cy="91440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80560" y="1920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계획은 늘 늘어난다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4507992" y="248983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0016" y="2423160"/>
            <a:ext cx="298094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Crossy Road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(2014) — 길을 건너며 차를 피하는 단순한 게임. 처음 계획은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였지만 실제로는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 넘게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걸림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07992" y="322008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00016" y="3153410"/>
            <a:ext cx="298094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전문 개발자도 일정이 두 배로 늘어납니다. 우리는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처음부터 작게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잡아야 합니다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46720" y="1737360"/>
            <a:ext cx="3547872" cy="3886200"/>
          </a:xfrm>
          <a:prstGeom prst="roundRect">
            <a:avLst>
              <a:gd name="adj" fmla="val 3093"/>
            </a:avLst>
          </a:prstGeom>
          <a:solidFill>
            <a:srgbClr val="F3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8046720" y="1737360"/>
            <a:ext cx="3547872" cy="91440"/>
          </a:xfrm>
          <a:prstGeom prst="rect">
            <a:avLst/>
          </a:prstGeom>
          <a:solidFill>
            <a:srgbClr val="D044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0" y="1920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D0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큰 꿈의 게임은 몇 년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8257032" y="2489835"/>
            <a:ext cx="73152" cy="73152"/>
          </a:xfrm>
          <a:prstGeom prst="rect">
            <a:avLst/>
          </a:prstGeom>
          <a:solidFill>
            <a:srgbClr val="D0444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49056" y="2423160"/>
            <a:ext cx="298094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Stardew Valley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(2016) — 농장 · 마을 · 이야기가 가득한 게임. 개발자 한 명이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4년 반 넘게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혼자 만듦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57032" y="3220085"/>
            <a:ext cx="73152" cy="73152"/>
          </a:xfrm>
          <a:prstGeom prst="rect">
            <a:avLst/>
          </a:prstGeom>
          <a:solidFill>
            <a:srgbClr val="D0444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449056" y="3153410"/>
            <a:ext cx="2980944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만들고 싶은 큰 게임은 소중합니다. 다만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달짜리 과제의 크기는 아닙니다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7150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각 게임의 Wikipedia 문서 (개발 기간 · 수상 · 리뷰 내용)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598932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DF0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61173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176272" y="61828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368296" y="61081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교훈: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규칙은 작게, 화면은 정성껏.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그리고 계획은 늘어나니 처음부터 더 작게.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만들고 싶은 큰 게임이 있다면?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버리지 말고, 그 게임에서 '가장 재미있는 한 순간'만 떼어 와서 만듭니다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657600"/>
                <a:gridCol w="459943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만들고 싶은 게임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가장 재미있는 한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달 기말 게임으로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오픈월드 RPG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몬스터를 피해 보물을 손에 넣는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방 하나 · 몬스터 3마리를 피해 보물 하나 가져오기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레이싱 (트랙 여러 개)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코너를 빠르게 도는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트랙 하나 · 체크포인트 3개 · 기록 재기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슈팅 + 스킬 + 보스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몰려오는 적을 쓸어 내는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화면 · 다가오는 적을 쏘며 60초 버티기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농장 경영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 자란 작물을 거두는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밭 하나 · 60초 안에 작물 10개 수확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공포 게임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어둠 속에서 뭔가 쫓아오는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어두운 미로 · 손전등 · 출구까지 도망치기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2486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3141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2395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게임은 큰 게임의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'맛보기 버전'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입니다. 예쁘게 완성해 두면, 방학 때 여기서부터 키워 나갈 수 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한 달 게임의 한 문장 공식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이 문장 하나로 설명되면 알맞은 크기입니다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DF0E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[누가]  [무엇을 피하거나 · 모으거나 · 맞히며]  [몇 초 안에]  [목표]를 이룬다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06040"/>
          <a:ext cx="11091672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1737360"/>
                <a:gridCol w="331927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문장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조작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규칙 하나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로봇이 코인을 모으며 60초 안에 20개를 채운다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WASD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코인에 닿으면 +1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고양이가 떨어지는 화분을 피하며 60초를 버틴다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← →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화분에 닿으면 실패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사냥꾼이 나타나는 과녁을 맞히며 30초 동안 점수를 낸다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마우스 클릭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과녁 클릭하면 +10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탐험가가 열쇠를 찾아 90초 안에 문을 연다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WASD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열쇠를 들고 문에 닿으면 성공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크레인이 블록을 떨어뜨려 10층을 쌓는다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Space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블록이 떨어지면 실패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7240" y="58430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176272" y="59085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368296" y="583387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예시를 그대로 골라도 됩니다.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규칙이어도 에셋 · 색 · 타이틀이 다르면 전혀 다른 게임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기본 코스와 도전 코스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모두 기본 코스부터. 기본이 다 끝난 사람만 도전 코스를 하나씩 더합니다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486400" cy="3749040"/>
          </a:xfrm>
          <a:prstGeom prst="roundRect">
            <a:avLst>
              <a:gd name="adj" fmla="val 2927"/>
            </a:avLst>
          </a:prstGeom>
          <a:solidFill>
            <a:srgbClr val="FDF0E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코스 — 모두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04672" y="236334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286000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조작 1~2개 · 목표 1개 · 실패 조건 1개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4672" y="268262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605278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 3개 (타이틀 · HUD · 결과)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04672" y="300189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2924556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에셋으로 꾸민 맵 · 캐릭터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04672" y="332117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3243834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조명 · 색을 키 비주얼에 맞추기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04672" y="36404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6696" y="3563112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이미지로 꾸민 타이틀 화면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4672" y="395973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6696" y="3882390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· 이펙트 · Windows 빌드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245352" y="1737360"/>
            <a:ext cx="5394960" cy="3749040"/>
          </a:xfrm>
          <a:prstGeom prst="roundRect">
            <a:avLst>
              <a:gd name="adj" fmla="val 2927"/>
            </a:avLst>
          </a:prstGeom>
          <a:solidFill>
            <a:srgbClr val="F3F5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395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도전 코스 — 기본이 끝난 사람만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01384" y="2363343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93408" y="2286000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갈수록 어려워지기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501384" y="2682621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93408" y="2605278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움직이는 적 · 장애물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501384" y="3001899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93408" y="2924556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최고 점수 기록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501384" y="3321177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693408" y="3243834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흔들림 · 등장 연출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501384" y="3640455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693408" y="3563112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 꾸미기 더하기 (구름 · 나무 · 파티클)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7240" y="57972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176272" y="58628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368296" y="57881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코스를 예쁘게 끝내는 것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도전 코스는 꾸미기를 다 끝낸 뒤에 시간이 남을 때만.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기말 완성 기준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중간의 네 가지 위에 '보기 좋은 게임'과 '도구를 잘 쓴 과정'이 더해집니다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120640" cy="3611880"/>
          </a:xfrm>
          <a:prstGeom prst="roundRect">
            <a:avLst>
              <a:gd name="adj" fmla="val 3038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중간과 같은 것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4672" y="2363343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286000"/>
            <a:ext cx="444398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판 완주 — 타이틀 → 플레이 → 결과 → RETRY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4672" y="2925699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848356"/>
            <a:ext cx="444398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 3개 — 타이틀 · HUD · 결과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04672" y="3244977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3167634"/>
            <a:ext cx="444398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— 득점 · 성공 · 실패에 소리 + 이펙트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04672" y="3564255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3486912"/>
            <a:ext cx="444398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Windows 빌드 — .exe로 시연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879592" y="1737360"/>
            <a:ext cx="5760720" cy="3611880"/>
          </a:xfrm>
          <a:prstGeom prst="roundRect">
            <a:avLst>
              <a:gd name="adj" fmla="val 3038"/>
            </a:avLst>
          </a:prstGeom>
          <a:solidFill>
            <a:srgbClr val="FDF0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08192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이번에 더해지는 것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35624" y="236334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7648" y="2286000"/>
            <a:ext cx="508406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게임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중간과 다른 새 프로젝트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35624" y="268262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27648" y="2605278"/>
            <a:ext cx="508406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 좋은 그래픽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에셋 · 조명으로 스타일 통일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135624" y="300189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27648" y="2924556"/>
            <a:ext cx="508406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꾸민 타이틀 화면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 이미지 등으로 첫인상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135624" y="332117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27648" y="3243834"/>
            <a:ext cx="508406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 2종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에셋 목록 · AI 사용 기록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135624" y="36404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27648" y="3563112"/>
            <a:ext cx="508406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과정 설명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어떤 도구로 무엇을 했나 + 내 스크립트 한 부분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548640" y="553212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56601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176272" y="57256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368296" y="56509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평가는 이 항목들을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보는 관점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합니다. 게임 종류로 점수를 나누지 않습니다.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AI를 쓰는 태도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"AI로 만들면 내 실력이 아니다"?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도구를 잘 쓰는 것도 실력입니다. 혼자서도 괜찮은 결과물을 만들 수 있는 시대입니다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3200400"/>
          </a:xfrm>
          <a:prstGeom prst="roundRect">
            <a:avLst>
              <a:gd name="adj" fmla="val 3429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예전의 생각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4672" y="2462784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377440"/>
            <a:ext cx="471830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다 짜야 내 코드다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" y="2807208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721864"/>
            <a:ext cx="471830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그림을 못 그리면 예쁜 게임은 못 만든다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" y="3151632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3066288"/>
            <a:ext cx="471830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쓰면 배우는 게 없다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45352" y="1783080"/>
            <a:ext cx="5394960" cy="3200400"/>
          </a:xfrm>
          <a:prstGeom prst="roundRect">
            <a:avLst>
              <a:gd name="adj" fmla="val 3429"/>
            </a:avLst>
          </a:prstGeom>
          <a:solidFill>
            <a:srgbClr val="FDF0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73952" y="1874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수업의 생각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501384" y="246278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93408" y="2377440"/>
            <a:ext cx="4718304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 개발자도 엔진 · 에셋 · 라이브러리를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조합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해서 만든다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01384" y="307543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93408" y="2990088"/>
            <a:ext cx="4718304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+ AI 이미지 + 조명이면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혼자서도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보기 좋은 화면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501384" y="368808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93408" y="3602736"/>
            <a:ext cx="471830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AI에게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묻고 확인하는 과정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곧 배우는 과정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525780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53858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176272" y="54513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368296" y="537667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엔진도 이미 '남이 만든 도구'입니다. 중요한 것은 도구를 써서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만들었고, 무엇을 판단했는가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AI를 쓰는 태도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AI는 팀원, 감독은 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AI가 일을 많이 해도 괜찮습니다. 다섯 가지는 내가 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1325880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7" name="Shape 5"/>
          <p:cNvSpPr/>
          <p:nvPr/>
        </p:nvSpPr>
        <p:spPr>
          <a:xfrm>
            <a:off x="1386230" y="207203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2588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정한다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2918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무슨 게임 · 어떤 분위기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98064" y="182880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575304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3635654" y="207203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75304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889504" y="27432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시킨다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935224" y="32918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조건을 붙여 정확히 묻기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47488" y="182880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5824728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885078" y="207203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824728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138928" y="27432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고른다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5184648" y="32918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결과 중 좋은 것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296912" y="182880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24" name="Shape 22"/>
          <p:cNvSpPr/>
          <p:nvPr/>
        </p:nvSpPr>
        <p:spPr>
          <a:xfrm>
            <a:off x="8074152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25" name="Shape 23"/>
          <p:cNvSpPr/>
          <p:nvPr/>
        </p:nvSpPr>
        <p:spPr>
          <a:xfrm>
            <a:off x="8134502" y="207203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74152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88352" y="27432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조립한다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434072" y="32918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Unity에서 붙이고 맞추기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546336" y="182880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30" name="Shape 28"/>
          <p:cNvSpPr/>
          <p:nvPr/>
        </p:nvSpPr>
        <p:spPr>
          <a:xfrm>
            <a:off x="10323576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31" name="Shape 29"/>
          <p:cNvSpPr/>
          <p:nvPr/>
        </p:nvSpPr>
        <p:spPr>
          <a:xfrm>
            <a:off x="10383926" y="207203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323576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637776" y="27432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설명한다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9683496" y="32918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이렇게 했는지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475488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48828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49484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487375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시연에서는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'AI와 에셋으로 어떻게 만들었는지'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를 당당하게 보여 주세요. 그것도 평가하는 과정입니다.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AI를 쓰는 태도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마음껏 쓰되, 이것만은 지키기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애매하면 쓰기 전에 물어보세요. 물어본 것은 문제가 되지 않습니다</a:t>
            </a:r>
            <a:endParaRPr lang="en-US" sz="1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754880"/>
                <a:gridCol w="4873752"/>
              </a:tblGrid>
              <a:tr h="731520"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마음껏 쓰기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꼭 지킬 것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기획 아이디어 · 비평 · 이미지 · 코드 · 에러 해결 · 설명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결과를 내가 고르고 고친다 · 넣은 코드는 이해하고 넣는다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 · 텍스처 · 재질 · 사운드 · 이펙트 · 폰트 · UI 그림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완성된 게임 템플릿을 이름만 바꿔 내지 않기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수업 자료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GameManager 등 수업 스크립트 재사용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다른 학생의 프로젝트 · 결과물 가져오지 않기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공통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여러 도구를 섞어 쓰기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쓴 것은 기록 · 유명 게임 · 캐릭터 · 로고 흉내 내지 않기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601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7256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509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기록은 감시가 아니라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도구를 얼마나 잘 썼는지 보여 주는 포트폴리오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AI를 쓰는 태도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AI와 기획하는 법 — 넓히고, 고르고, 줄이고, 검토받기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실습 1에서 질문 양식 세 개를 그대로 씁니다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83080"/>
            <a:ext cx="109728" cy="731520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7830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넓히기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178308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조건(6주 · 3D · 한 판 3분 · 키 5개 · 무료 에셋)을 주고 아이디어 5개를 표로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65176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DF0E4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651760"/>
            <a:ext cx="109728" cy="731520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26517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고르기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65176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하고 싶은 것 하나. 이 단계만은 AI에게 맡기지 않는다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52044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520440"/>
            <a:ext cx="109728" cy="731520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35204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줄이기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352044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"꼭 필요한 기능 3개만 남겨 줘" — AI는 덜어내기를 잘한다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38912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4389120"/>
            <a:ext cx="109728" cy="731520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8680" y="43891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검토받기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2926080" y="438912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"초보가 막힐 부분 3개와 단순하게 바꾸는 법" — 받아들일 것만 반영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53492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5477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176272" y="55427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368296" y="54681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채워 준 양식은 그대로 붙이지 않고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말로 고쳐 옮깁니다.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 과정에서 내 게임이 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실습으로 전환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1143000" cy="1143000"/>
          </a:xfrm>
          <a:prstGeom prst="roundRect">
            <a:avLst>
              <a:gd name="adj" fmla="val 4800"/>
            </a:avLst>
          </a:prstGeom>
          <a:solidFill>
            <a:srgbClr val="E07A2E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371600"/>
            <a:ext cx="868680" cy="868680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1234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 — AI와 함께 기획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148840" y="1874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아이디어를 넓히고, 하나를 고르고, 줄이고, 비평을 받아 1페이지 기획을 완성합니다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0" y="1280160"/>
            <a:ext cx="16002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E07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0" y="128016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28분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788920"/>
            <a:ext cx="109270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2788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슬라이드 3~13쪽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" y="38953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840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양식은 복사해서 [내 취향]만 바꾸면 됩니다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46177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467258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6177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고르기는 꼭 내가 — 하고 싶은 게임이어야 6주를 버팁니다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1520" y="5394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21" name="Shape 19"/>
          <p:cNvSpPr/>
          <p:nvPr/>
        </p:nvSpPr>
        <p:spPr>
          <a:xfrm>
            <a:off x="786384" y="5449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394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나눈 대화 중 중요한 것은 AI 사용 기록에 한 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2교시 · 개념 12분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예쁜 게임은 무엇으로 만들어지나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 실력보다 '고르고 맞추는' 실력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 비주얼 — 한 장으로 방향 정하기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예쁘게 보이는 네 가지 요소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— 어디서 · 무엇을 고르나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예쁘게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오늘 나오는 말 — 먼저 정리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모르는 말이 나오면 이 쪽으로 돌아오세요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439912"/>
              </a:tblGrid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말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뜻 (쉽게)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게임에 쓰는 재료 파일 — 3D 모델 · 그림 · 소리 · 이펙트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 (FBX)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3D 모양이 담긴 파일. FBX는 그중 가장 흔한 형식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머티리얼 · 텍스처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머티리얼 = 표면의 색 · 질감 설정 / 텍스처 = 표면에 입히는 그림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프리팹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다시 쓰려고 저장해 둔 오브젝트 '틀'. 에셋 대부분이 프리팹으로 들어 있음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URP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우리 프로젝트가 화면을 그리는 방식. 에셋도 이 방식에 맞아야 제대로 보임 (안 맞으면 분홍색)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로우 폴리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면이 적은 단순한 3D 스타일. 가볍고, 서로 섞어도 잘 어울림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키 비주얼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게임 분위기를 보여 주는 대표 그림 한 장 (포스터 같은 것)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프롬프트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AI에게 보내는 질문 · 지시 글. 자세할수록 원하는 답이 나옴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예쁘게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키 비주얼 — 완성된 장면을 먼저 그려 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이미지 생성 AI로 '완성되면 이렇게 보일' 한 장면을 만들고, 그걸 6주의 기준으로 씁니다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47872" cy="2377440"/>
          </a:xfrm>
          <a:prstGeom prst="roundRect">
            <a:avLst>
              <a:gd name="adj" fmla="val 4615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그림에서 뽑은 스타일 키워드로 에셋을 찾는다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77240" y="3520440"/>
            <a:ext cx="1371600" cy="411480"/>
          </a:xfrm>
          <a:prstGeom prst="roundRect">
            <a:avLst>
              <a:gd name="adj" fmla="val 44444"/>
            </a:avLst>
          </a:prstGeom>
          <a:solidFill>
            <a:srgbClr val="FDF0E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5204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0" y="1783080"/>
            <a:ext cx="3547872" cy="2377440"/>
          </a:xfrm>
          <a:prstGeom prst="roundRect">
            <a:avLst>
              <a:gd name="adj" fmla="val 4615"/>
            </a:avLst>
          </a:prstGeom>
          <a:solidFill>
            <a:srgbClr val="F3F5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2628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 · 빛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423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하늘색 · 빛 방향 · 분위기를 조명에 맞춘다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4526280" y="3520440"/>
            <a:ext cx="1371600" cy="411480"/>
          </a:xfrm>
          <a:prstGeom prst="roundRect">
            <a:avLst>
              <a:gd name="adj" fmla="val 44444"/>
            </a:avLst>
          </a:prstGeom>
          <a:solidFill>
            <a:srgbClr val="FDF0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26280" y="35204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11주차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46720" y="1783080"/>
            <a:ext cx="3547872" cy="2377440"/>
          </a:xfrm>
          <a:prstGeom prst="roundRect">
            <a:avLst>
              <a:gd name="adj" fmla="val 4615"/>
            </a:avLst>
          </a:prstGeom>
          <a:solidFill>
            <a:srgbClr val="F3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753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타이틀 배경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423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그대로 타이틀 화면에 깐다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8275320" y="3520440"/>
            <a:ext cx="1371600" cy="411480"/>
          </a:xfrm>
          <a:prstGeom prst="roundRect">
            <a:avLst>
              <a:gd name="adj" fmla="val 44444"/>
            </a:avLst>
          </a:prstGeom>
          <a:solidFill>
            <a:srgbClr val="FDF0E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75320" y="35204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43484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DF0E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562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176272" y="4628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368296" y="4553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질문에는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"글자는 넣지 말 것"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을 꼭 넣습니다. 글자는 Unity에서 넣어야 깨끗하고 고칠 수 있습니다.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176272" y="513588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368296" y="5061204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유명 게임 · 캐릭터 · 로고를 흉내 내라고 요청하지 않습니다.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예쁘게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예쁘게 보이는 네 가지 요소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모델 하나하나보다 '통일감'이 더 큰 차이를 만듭니다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통일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에셋을 한 키트 · 비슷한 스타일에서 고른다. low poly끼리, 같은 색감끼리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80560" y="1947672"/>
            <a:ext cx="1280160" cy="384048"/>
          </a:xfrm>
          <a:prstGeom prst="roundRect">
            <a:avLst>
              <a:gd name="adj" fmla="val 47619"/>
            </a:avLst>
          </a:prstGeom>
          <a:solidFill>
            <a:srgbClr val="E8F0F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80560" y="19476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10주차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53912" y="178308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3F5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82512" y="1920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조명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382512" y="24231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Directional Light 방향 · 색, 그림자, 하늘색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085832" y="1947672"/>
            <a:ext cx="1280160" cy="384048"/>
          </a:xfrm>
          <a:prstGeom prst="roundRect">
            <a:avLst>
              <a:gd name="adj" fmla="val 47619"/>
            </a:avLst>
          </a:prstGeom>
          <a:solidFill>
            <a:srgbClr val="E8F0F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85832" y="19476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11주차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3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3566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포스트 프로세싱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069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Bloom · Color Adjustments · Vignette로 마무리 톤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480560" y="3593592"/>
            <a:ext cx="1280160" cy="384048"/>
          </a:xfrm>
          <a:prstGeom prst="roundRect">
            <a:avLst>
              <a:gd name="adj" fmla="val 47619"/>
            </a:avLst>
          </a:prstGeom>
          <a:solidFill>
            <a:srgbClr val="E8F0F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480560" y="359359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11주차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53912" y="342900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3F5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82512" y="3566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· UI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382512" y="4069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 좋은 각도 · 타이틀 화면 · 읽기 쉬운 폰트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085832" y="3593592"/>
            <a:ext cx="1280160" cy="384048"/>
          </a:xfrm>
          <a:prstGeom prst="roundRect">
            <a:avLst>
              <a:gd name="adj" fmla="val 47619"/>
            </a:avLst>
          </a:prstGeom>
          <a:solidFill>
            <a:srgbClr val="E8F0F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85832" y="359359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· 12주차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525780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3858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176272" y="54513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368296" y="53766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오늘은 첫 번째 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스타일이 맞는 에셋 고르기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까지. 나머지는 해당 주차에 실습합니다.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에셋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어디서 구하나 · 무엇을 고르나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이 수업에서는 두 곳을 기본으로 씁니다. 소리는 6주차에 쓴 곳 그대로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2286000"/>
          </a:xfrm>
          <a:prstGeom prst="roundRect">
            <a:avLst>
              <a:gd name="adj" fmla="val 4800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38528"/>
            <a:ext cx="4937760" cy="335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Asset Store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04672" y="241922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347214"/>
            <a:ext cx="4718304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assetstore.unity.com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Unity 공식 에셋 마켓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04672" y="272173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649728"/>
            <a:ext cx="4718304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 필터 · Unity 계정으로 '내 에셋'에 담아 에디터에서 가져옴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" y="325056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3178556"/>
            <a:ext cx="4718304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라이선스: 대부분 Standard Unity Asset Store EULA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45352" y="1737360"/>
            <a:ext cx="5394960" cy="2286000"/>
          </a:xfrm>
          <a:prstGeom prst="roundRect">
            <a:avLst>
              <a:gd name="adj" fmla="val 4800"/>
            </a:avLst>
          </a:prstGeom>
          <a:solidFill>
            <a:srgbClr val="F3F5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73952" y="1938528"/>
            <a:ext cx="4937760" cy="335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Kenney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501384" y="241922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93408" y="2347214"/>
            <a:ext cx="4718304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kenney.nl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무료 게임 에셋 모음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01384" y="272173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93408" y="2649728"/>
            <a:ext cx="4718304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CC0(퍼블릭 도메인) — 출처 표기 의무 없음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501384" y="302425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93408" y="2952242"/>
            <a:ext cx="4718304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스타일이 통일된 키트 단위 → 섞어 쓰기 좋음</a:t>
            </a:r>
            <a:endParaRPr lang="en-US" sz="13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06240"/>
          <a:ext cx="11091672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539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고를 때 확인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어디서 보나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무료 · 키 비주얼과 어울리는 스타일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검색 필터 Pricing → Free · 스타일 키워드로 검색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URP 호환 (아니면 분홍색으로 깨질 수 있음)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상품 페이지 Render pipeline compatibility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완성 게임 템플릿이 아닌 '재료'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이름에 Template · Complete Project · Kit가 있으면 내용 확인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실습으로 전환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1143000" cy="1143000"/>
          </a:xfrm>
          <a:prstGeom prst="roundRect">
            <a:avLst>
              <a:gd name="adj" fmla="val 4800"/>
            </a:avLst>
          </a:prstGeom>
          <a:solidFill>
            <a:srgbClr val="E07A2E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371600"/>
            <a:ext cx="868680" cy="868680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2~4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1234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2~4 — 키 비주얼 · 프로젝트 · 에셋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148840" y="1874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키 비주얼을 만들고, 새 프로젝트를 만든 뒤, 스타일 키워드로 에셋을 고릅니다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0" y="1280160"/>
            <a:ext cx="16002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E07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0" y="128016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38분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788920"/>
            <a:ext cx="109270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2788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슬라이드 14~22쪽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" y="38953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840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 비주얼은 2~3번만 만들어 보고 고릅니다 — 완벽할 필요 없음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46177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467258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6177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에셋은 오늘 1~2개면 충분. 고르자마자 다운로드 시작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1520" y="5394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21" name="Shape 19"/>
          <p:cNvSpPr/>
          <p:nvPr/>
        </p:nvSpPr>
        <p:spPr>
          <a:xfrm>
            <a:off x="786384" y="5449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394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도구로 무엇을 만들었는지 바로 기록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에셋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가져오는 흐름 · 분홍색 · 모델 입히기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자세한 순서는 실습 슬라이드에 있습니다. 여기서는 전체 그림만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8F0F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40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Add to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Assets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60320" y="2423160"/>
            <a:ext cx="274320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9" name="Shape 7"/>
          <p:cNvSpPr/>
          <p:nvPr/>
        </p:nvSpPr>
        <p:spPr>
          <a:xfrm>
            <a:off x="2834640" y="1783080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5F4E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71800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71800" y="2240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Package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Manager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846320" y="2423160"/>
            <a:ext cx="274320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3" name="Shape 11"/>
          <p:cNvSpPr/>
          <p:nvPr/>
        </p:nvSpPr>
        <p:spPr>
          <a:xfrm>
            <a:off x="5120640" y="1783080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5F4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57800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2240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Assets →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Download → Import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132320" y="2423160"/>
            <a:ext cx="274320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7" name="Shape 15"/>
          <p:cNvSpPr/>
          <p:nvPr/>
        </p:nvSpPr>
        <p:spPr>
          <a:xfrm>
            <a:off x="7406640" y="1783080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5F4E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543800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43800" y="2240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분홍색이면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URP로 변환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418320" y="2423160"/>
            <a:ext cx="274320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21" name="Shape 19"/>
          <p:cNvSpPr/>
          <p:nvPr/>
        </p:nvSpPr>
        <p:spPr>
          <a:xfrm>
            <a:off x="9692640" y="1783080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5F4E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829800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29800" y="2240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Player의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자식으로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11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655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메뉴 (Unity 6.3)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Package Manager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Window &gt; Package Management &gt; Package Manager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URP 변환 (전체)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Window &gt; Rendering &gt; Render Pipeline Converter → Built-in to URP → Material Upgrade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URP 변환 (고른 재질)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Edit &gt; Rendering &gt; Materials &gt; Convert Selected Built-in Materials to URP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548640" y="562356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77240" y="57515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2176272" y="58171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368296" y="57424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라이선스: Asset Store 에셋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자체를 공개 저장소에 올리지 않습니다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빌드한 게임은 괜찮습니다.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Unity 6에서 AI가 자주 헷갈리는 것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AI가 배운 자료에는 예전 버전이 많습니다. 질문 첫 줄에 버전을 적으면 대부분 해결됩니다</a:t>
            </a:r>
            <a:endParaRPr lang="en-US" sz="15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4480560"/>
                <a:gridCol w="322783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AI가 자주 주는 것 (예전)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Unity 6.3 · 우리 수업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그대로 쓰면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Input.GetKey · Input.GetAxis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Keyboard.current · Mouse.current (New Input System)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Play하면 InvalidOperationException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rb.velocity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rb.linearVelocity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옛 이름 — 경고 또는 자동 변환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FindObjectOfType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FindFirstObjectByType · FindAnyObjectByType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옛 이름 — 경고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File &gt; Build Settings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File &gt; Build Profiles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메뉴가 안 보임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GameObject &gt; UI &gt; Text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GameObject &gt; UI (Canvas) &gt; Text - TextMeshPro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메뉴 이름이 다름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25780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3858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4513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37667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첫 줄: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"Unity 6.3 LTS · URP · New Input System만"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받은 코드는 실습 7의 다섯 가지로 확인하고, 모르는 줄은 AI에게 물어서 이해합니다.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에디터 안의 Unity AI는?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Unity 6.3에도 AI(Assistant · Generators)가 있습니다. 써 봐도 좋지만 수업의 기본 도구는 아닙니다</a:t>
            </a:r>
            <a:endParaRPr lang="en-US" sz="15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4232"/>
              </a:tblGrid>
              <a:tr h="685800"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 (확인 시점: 2026년 5월 Unity 공식 블로그)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무엇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에디터 툴바의 AI 버튼 → Assistant(질문 · 계획 · 작업 수행) · Generators(스프라이트 · 텍스처 · 애니메이션 · 소리 생성)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상태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오픈 베타 — 기능 · 제공 방식이 예고 없이 바뀔 수 있음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Personal 라이선스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처음 14일 동안 무료 크레딧 1,000 — 그 뒤 계속 쓰는 조건은 플랜에 따라 다르고 바뀔 수 있음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4632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49743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0398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496519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학기 내내 무료로 쓰기 어려워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브라우저의 AI 챗봇 · 이미지 생성 AI를 기본 도구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씁니다. Unity AI를 써 봤다면 그것도 기록에 적습니다.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실습으로 전환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1143000" cy="1143000"/>
          </a:xfrm>
          <a:prstGeom prst="roundRect">
            <a:avLst>
              <a:gd name="adj" fmla="val 4800"/>
            </a:avLst>
          </a:prstGeom>
          <a:solidFill>
            <a:srgbClr val="E07A2E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371600"/>
            <a:ext cx="868680" cy="868680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5~7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1234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5~7 — 가져오기 · 모델 · AI 코드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148840" y="1874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에셋을 가져와 플레이어에 입히고, AI에게 받은 이동 스크립트로 움직입니다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0" y="1280160"/>
            <a:ext cx="16002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E07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0" y="128016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35분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788920"/>
            <a:ext cx="109270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2788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슬라이드 23~37쪽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" y="38953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840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분홍색이 나오면 실습 5의 변환 쪽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46177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467258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6177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답이 예시 답과 달라도 다섯 가지 확인을 통과하면 OK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1520" y="5394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21" name="Shape 19"/>
          <p:cNvSpPr/>
          <p:nvPr/>
        </p:nvSpPr>
        <p:spPr>
          <a:xfrm>
            <a:off x="786384" y="5449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394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남으면 (선택) 키 비주얼을 타이틀 배경으로 깔아 보기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이번 주 과제 — 11/9(월) 수업 전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프로젝트 노트(PDF) 하나로 제출. 자세한 내용은 과제 안내 슬라이드</a:t>
            </a:r>
            <a:endParaRPr lang="en-US" sz="15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7616952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#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낼 것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기준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기획 1페이지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AI와 만든 기획을 내 말로 · 크기 점검 · 고른 이유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키 비주얼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AI로 만든 타이틀 배경 후보 1장 + 스타일 키워드 3개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 목록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후보 5개 이상 · 그중 3개 이상 가져와 씬에 배치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첫 조작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모델을 입힌 플레이어가 움직임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 사용 기록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3줄 이상 (기획 · 이미지 · 코드 각 1줄)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스크린샷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Scene 뷰 1장 + Game 뷰(Play 중) 1장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주(9주차) 목표는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'회색으로 한 판이 도는 게임'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입니다. 핵심 규칙을 AI와 미리 이야기해 보고 오세요.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yBox">
  <a:themeElements>
    <a:clrScheme name="GrayBox">
      <a:dk1>
        <a:srgbClr val="1E242B"/>
      </a:dk1>
      <a:lt1>
        <a:srgbClr val="FFFFFF"/>
      </a:lt1>
      <a:dk2>
        <a:srgbClr val="3A434D"/>
      </a:dk2>
      <a:lt2>
        <a:srgbClr val="F3F5F7"/>
      </a:lt2>
      <a:accent1>
        <a:srgbClr val="E07A2E"/>
      </a:accent1>
      <a:accent2>
        <a:srgbClr val="2F6FEB"/>
      </a:accent2>
      <a:accent3>
        <a:srgbClr val="23905A"/>
      </a:accent3>
      <a:accent4>
        <a:srgbClr val="D04444"/>
      </a:accent4>
      <a:accent5>
        <a:srgbClr val="8C96A1"/>
      </a:accent5>
      <a:accent6>
        <a:srgbClr val="7A5AF8"/>
      </a:accent6>
      <a:hlink>
        <a:srgbClr val="2F6FEB"/>
      </a:hlink>
      <a:folHlink>
        <a:srgbClr val="7A5AF8"/>
      </a:folHlink>
    </a:clrScheme>
    <a:fontScheme name="GrayBox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박정원</dc:creator>
  <cp:lastModifiedBy>박정원</cp:lastModifiedBy>
  <cp:revision>1</cp:revision>
  <dcterms:created xsi:type="dcterms:W3CDTF">2026-11-01T18:48:24Z</dcterms:created>
  <dcterms:modified xsi:type="dcterms:W3CDTF">2026-11-01T18:48:24Z</dcterms:modified>
</cp:coreProperties>
</file>