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오리엔테이션" id="{6256d4bc-2449-8b20-dd65-1c3c04ed4bc6}">
          <p14:sldIdLst>
            <p14:sldId id="256"/>
            <p14:sldId id="257"/>
            <p14:sldId id="258"/>
            <p14:sldId id="259"/>
            <p14:sldId id="260"/>
            <p14:sldId id="261"/>
          </p14:sldIdLst>
        </p14:section>
        <p14:section name="AI를 쓰는 태도" id="{89b573a4-416d-b92a-7e4b-0a71e606f913}">
          <p14:sldIdLst>
            <p14:sldId id="262"/>
            <p14:sldId id="263"/>
            <p14:sldId id="264"/>
            <p14:sldId id="265"/>
            <p14:sldId id="266"/>
          </p14:sldIdLst>
        </p14:section>
        <p14:section name="예쁘게" id="{2413f8db-e9eb-e67d-3940-c4e0068a3056}">
          <p14:sldIdLst>
            <p14:sldId id="267"/>
            <p14:sldId id="268"/>
            <p14:sldId id="269"/>
            <p14:sldId id="270"/>
            <p14:sldId id="271"/>
          </p14:sldIdLst>
        </p14:section>
        <p14:section name="가져오기 · AI 코드" id="{3987215b-3755-b505-e74f-4ca8c30f2426}">
          <p14:sldIdLst>
            <p14:sldId id="272"/>
            <p14:sldId id="273"/>
            <p14:sldId id="274"/>
            <p14:sldId id="275"/>
          </p14:sldIdLst>
        </p14:section>
        <p14:section name="과제" id="{212eb280-b207-d03e-9d68-ecb2a7f2d9ae}">
          <p14:sldIdLst>
            <p14:sldId id="27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5주차가 공휴일이어서 수업 주차가 한 주씩 밀렸습니다. 오늘이 8주차이고 기말 시연은 15주차인 12/21입니다. 중간은 '만드는 흐름'을 익혔다면, 기말은 같은 흐름을 새 게임으로 다시 하면서 AI와 에셋으로 결과물의 수준을 끌어올리는 연습입니다.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dirty="0">
                <a:solidFill>
                  <a:srgbClr val="E07A2E"/>
                </a:solidFill>
              </a:defRPr>
            </a:lvl1pPr>
          </a:lstStyle>
          <a:p>
            <a:pPr indent="0" marL="0">
              <a:buNone/>
            </a:pP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85216"/>
            <a:ext cx="11064240" cy="56692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1E242B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170432"/>
            <a:ext cx="11064240" cy="347472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500" dirty="0">
                <a:solidFill>
                  <a:srgbClr val="5F6B78"/>
                </a:solidFill>
              </a:defRPr>
            </a:lvl1pPr>
          </a:lstStyle>
          <a:p>
            <a:pPr indent="0" marL="0">
              <a:buNone/>
            </a:pPr>
            <a:endParaRPr lang="en-US" sz="1500" dirty="0"/>
          </a:p>
        </p:txBody>
      </p:sp>
      <p:sp>
        <p:nvSpPr>
          <p:cNvPr id="5" name="Text 0"/>
          <p:cNvSpPr/>
          <p:nvPr/>
        </p:nvSpPr>
        <p:spPr>
          <a:xfrm>
            <a:off x="548640" y="644652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C96A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게임엔진기초 · 8주차 강의 · Unity 6.3 LTS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KR"/>
                <a:ea typeface="Noto Sans KR"/>
                <a:cs typeface="Noto Sans KR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E24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WITCH">
    <p:bg>
      <p:bgPr>
        <a:solidFill>
          <a:srgbClr val="FDF0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C96A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게임엔진기초 · 8주차 강의 · Unity 6.3 LTS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KR"/>
                <a:ea typeface="Noto Sans KR"/>
                <a:cs typeface="Noto Sans KR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KR"/>
                <a:ea typeface="Noto Sans KR"/>
                <a:cs typeface="Noto Sans KR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0" y="3566160"/>
            <a:ext cx="914400" cy="914400"/>
          </a:xfrm>
          <a:prstGeom prst="roundRect">
            <a:avLst>
              <a:gd name="adj" fmla="val 6000"/>
            </a:avLst>
          </a:prstGeom>
          <a:solidFill>
            <a:srgbClr val="8C96A1"/>
          </a:solidFill>
          <a:ln/>
        </p:spPr>
      </p:sp>
      <p:sp>
        <p:nvSpPr>
          <p:cNvPr id="3" name="Shape 1"/>
          <p:cNvSpPr/>
          <p:nvPr/>
        </p:nvSpPr>
        <p:spPr>
          <a:xfrm>
            <a:off x="8522208" y="3675888"/>
            <a:ext cx="694944" cy="694944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412480" y="356616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9464040" y="3566160"/>
            <a:ext cx="914400" cy="914400"/>
          </a:xfrm>
          <a:prstGeom prst="roundRect">
            <a:avLst>
              <a:gd name="adj" fmla="val 6000"/>
            </a:avLst>
          </a:prstGeom>
          <a:solidFill>
            <a:srgbClr val="8C96A1"/>
          </a:solidFill>
          <a:ln/>
        </p:spPr>
      </p:sp>
      <p:sp>
        <p:nvSpPr>
          <p:cNvPr id="6" name="Shape 4"/>
          <p:cNvSpPr/>
          <p:nvPr/>
        </p:nvSpPr>
        <p:spPr>
          <a:xfrm>
            <a:off x="9573768" y="3675888"/>
            <a:ext cx="694944" cy="694944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9464040" y="356616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10515600" y="3566160"/>
            <a:ext cx="914400" cy="914400"/>
          </a:xfrm>
          <a:prstGeom prst="roundRect">
            <a:avLst>
              <a:gd name="adj" fmla="val 6000"/>
            </a:avLst>
          </a:prstGeom>
          <a:solidFill>
            <a:srgbClr val="8C96A1"/>
          </a:solidFill>
          <a:ln/>
        </p:spPr>
      </p:sp>
      <p:sp>
        <p:nvSpPr>
          <p:cNvPr id="9" name="Shape 7"/>
          <p:cNvSpPr/>
          <p:nvPr/>
        </p:nvSpPr>
        <p:spPr>
          <a:xfrm>
            <a:off x="10625328" y="3675888"/>
            <a:ext cx="694944" cy="694944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0515600" y="356616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3000" dirty="0"/>
          </a:p>
        </p:txBody>
      </p:sp>
      <p:sp>
        <p:nvSpPr>
          <p:cNvPr id="11" name="Shape 9"/>
          <p:cNvSpPr/>
          <p:nvPr/>
        </p:nvSpPr>
        <p:spPr>
          <a:xfrm>
            <a:off x="8938260" y="2514600"/>
            <a:ext cx="914400" cy="914400"/>
          </a:xfrm>
          <a:prstGeom prst="roundRect">
            <a:avLst>
              <a:gd name="adj" fmla="val 6000"/>
            </a:avLst>
          </a:prstGeom>
          <a:solidFill>
            <a:srgbClr val="8C96A1"/>
          </a:solidFill>
          <a:ln/>
        </p:spPr>
      </p:sp>
      <p:sp>
        <p:nvSpPr>
          <p:cNvPr id="12" name="Shape 10"/>
          <p:cNvSpPr/>
          <p:nvPr/>
        </p:nvSpPr>
        <p:spPr>
          <a:xfrm>
            <a:off x="9047988" y="2624328"/>
            <a:ext cx="694944" cy="694944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938260" y="251460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3000" dirty="0"/>
          </a:p>
        </p:txBody>
      </p:sp>
      <p:sp>
        <p:nvSpPr>
          <p:cNvPr id="14" name="Shape 12"/>
          <p:cNvSpPr/>
          <p:nvPr/>
        </p:nvSpPr>
        <p:spPr>
          <a:xfrm>
            <a:off x="9989820" y="2514600"/>
            <a:ext cx="914400" cy="914400"/>
          </a:xfrm>
          <a:prstGeom prst="roundRect">
            <a:avLst>
              <a:gd name="adj" fmla="val 6000"/>
            </a:avLst>
          </a:prstGeom>
          <a:solidFill>
            <a:srgbClr val="2F6FEB"/>
          </a:solidFill>
          <a:ln/>
        </p:spPr>
      </p:sp>
      <p:sp>
        <p:nvSpPr>
          <p:cNvPr id="15" name="Shape 13"/>
          <p:cNvSpPr/>
          <p:nvPr/>
        </p:nvSpPr>
        <p:spPr>
          <a:xfrm>
            <a:off x="10099548" y="2624328"/>
            <a:ext cx="694944" cy="694944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9989820" y="251460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3000" dirty="0"/>
          </a:p>
        </p:txBody>
      </p:sp>
      <p:sp>
        <p:nvSpPr>
          <p:cNvPr id="17" name="Shape 15"/>
          <p:cNvSpPr/>
          <p:nvPr/>
        </p:nvSpPr>
        <p:spPr>
          <a:xfrm>
            <a:off x="9464040" y="1463040"/>
            <a:ext cx="914400" cy="914400"/>
          </a:xfrm>
          <a:prstGeom prst="roundRect">
            <a:avLst>
              <a:gd name="adj" fmla="val 6000"/>
            </a:avLst>
          </a:prstGeom>
          <a:solidFill>
            <a:srgbClr val="E07A2E"/>
          </a:solidFill>
          <a:ln/>
        </p:spPr>
      </p:sp>
      <p:sp>
        <p:nvSpPr>
          <p:cNvPr id="18" name="Shape 16"/>
          <p:cNvSpPr/>
          <p:nvPr/>
        </p:nvSpPr>
        <p:spPr>
          <a:xfrm>
            <a:off x="9573768" y="1572768"/>
            <a:ext cx="694944" cy="694944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9464040" y="146304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3000" dirty="0"/>
          </a:p>
        </p:txBody>
      </p:sp>
      <p:sp>
        <p:nvSpPr>
          <p:cNvPr id="20" name="Shape 18"/>
          <p:cNvSpPr/>
          <p:nvPr/>
        </p:nvSpPr>
        <p:spPr>
          <a:xfrm>
            <a:off x="8046720" y="4663440"/>
            <a:ext cx="3931920" cy="164592"/>
          </a:xfrm>
          <a:prstGeom prst="roundRect">
            <a:avLst>
              <a:gd name="adj" fmla="val 27778"/>
            </a:avLst>
          </a:prstGeom>
          <a:solidFill>
            <a:srgbClr val="3A434D"/>
          </a:solidFill>
          <a:ln/>
        </p:spPr>
      </p:sp>
      <p:sp>
        <p:nvSpPr>
          <p:cNvPr id="21" name="Shape 19"/>
          <p:cNvSpPr/>
          <p:nvPr/>
        </p:nvSpPr>
        <p:spPr>
          <a:xfrm>
            <a:off x="731520" y="731520"/>
            <a:ext cx="1737360" cy="384048"/>
          </a:xfrm>
          <a:prstGeom prst="roundRect">
            <a:avLst>
              <a:gd name="adj" fmla="val 50000"/>
            </a:avLst>
          </a:prstGeom>
          <a:solidFill>
            <a:srgbClr val="E07A2E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731520" y="731520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강의 슬라이드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731520" y="13258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AEB7C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동명대학교 게임그래픽학과 · 게임엔진기초 8주차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731520" y="1783080"/>
            <a:ext cx="7498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오늘부터 시작.</a:t>
            </a:r>
            <a:endParaRPr lang="en-US" sz="3600" dirty="0"/>
          </a:p>
        </p:txBody>
      </p:sp>
      <p:sp>
        <p:nvSpPr>
          <p:cNvPr id="25" name="Text 23"/>
          <p:cNvSpPr txBox="1"/>
          <p:nvPr/>
        </p:nvSpPr>
        <p:spPr>
          <a:xfrm>
            <a:off x="731520" y="2514600"/>
            <a:ext cx="7315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3000" b="1" dirty="0">
                <a:solidFill>
                  <a:srgbClr val="E07A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AI와 에셋으로 한 달간</a:t>
            </a:r>
            <a:endParaRPr lang="en-US" sz="30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3000" b="1" dirty="0">
                <a:solidFill>
                  <a:srgbClr val="E07A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만들어 보는 게임 프로젝트</a:t>
            </a:r>
            <a:endParaRPr lang="en-US" sz="3000" dirty="0"/>
          </a:p>
        </p:txBody>
      </p:sp>
      <p:sp>
        <p:nvSpPr>
          <p:cNvPr id="26" name="Text 24"/>
          <p:cNvSpPr txBox="1"/>
          <p:nvPr/>
        </p:nvSpPr>
        <p:spPr>
          <a:xfrm>
            <a:off x="731520" y="3931920"/>
            <a:ext cx="7132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D5DBE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모두 새 프로젝트로 두 번째 게임을 만듭니다. 기획부터 그래픽까지 AI와 에셋을 도구로 쓰는 법을 함께 익힙니다</a:t>
            </a:r>
            <a:endParaRPr lang="en-US" sz="1600" dirty="0"/>
          </a:p>
        </p:txBody>
      </p:sp>
      <p:sp>
        <p:nvSpPr>
          <p:cNvPr id="27" name="Text 25"/>
          <p:cNvSpPr txBox="1"/>
          <p:nvPr/>
        </p:nvSpPr>
        <p:spPr>
          <a:xfrm>
            <a:off x="731520" y="51206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8C96A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기준 버전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731520" y="539496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Unity 6.3 LTS</a:t>
            </a:r>
            <a:endParaRPr lang="en-US" sz="1500" dirty="0"/>
          </a:p>
        </p:txBody>
      </p:sp>
      <p:sp>
        <p:nvSpPr>
          <p:cNvPr id="29" name="Text 27"/>
          <p:cNvSpPr txBox="1"/>
          <p:nvPr/>
        </p:nvSpPr>
        <p:spPr>
          <a:xfrm>
            <a:off x="3017520" y="51206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8C96A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기말 시연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3017520" y="539496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12/21 (월)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5303520" y="51206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8C96A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담당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5303520" y="539496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박정원 · doo0303@naver.com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7A2E"/>
                </a:solidFill>
              </a:rPr>
              <a:t>오리엔테이션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8521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42B"/>
                </a:solidFill>
              </a:rPr>
              <a:t>오늘 답할 질문 네 개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170432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6B78"/>
                </a:solidFill>
              </a:rPr>
              <a:t>질문마다 실습이 붙어 있습니다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783080"/>
            <a:ext cx="2606040" cy="3246120"/>
          </a:xfrm>
          <a:prstGeom prst="roundRect">
            <a:avLst>
              <a:gd name="adj" fmla="val 4211"/>
            </a:avLst>
          </a:prstGeom>
          <a:solidFill>
            <a:srgbClr val="F3F5F7"/>
          </a:solidFill>
          <a:ln/>
        </p:spPr>
      </p:sp>
      <p:sp>
        <p:nvSpPr>
          <p:cNvPr id="6" name="Shape 4"/>
          <p:cNvSpPr/>
          <p:nvPr/>
        </p:nvSpPr>
        <p:spPr>
          <a:xfrm>
            <a:off x="777240" y="2011680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E07A2E"/>
          </a:solidFill>
          <a:ln/>
        </p:spPr>
      </p:sp>
      <p:sp>
        <p:nvSpPr>
          <p:cNvPr id="7" name="Shape 5"/>
          <p:cNvSpPr/>
          <p:nvPr/>
        </p:nvSpPr>
        <p:spPr>
          <a:xfrm>
            <a:off x="832104" y="2066544"/>
            <a:ext cx="347472" cy="347472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77240" y="20116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2624328"/>
            <a:ext cx="2148840" cy="6162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기말은 무엇을</a:t>
            </a:r>
            <a:endParaRPr lang="en-US" sz="17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언제까지?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3313684"/>
            <a:ext cx="2148840" cy="15783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새 게임 1개 · 12/21 시연. 중간의 4가지 + 그래픽 · 타이틀 · 기록 · 과정 설명.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374136" y="1783080"/>
            <a:ext cx="2606040" cy="3246120"/>
          </a:xfrm>
          <a:prstGeom prst="roundRect">
            <a:avLst>
              <a:gd name="adj" fmla="val 4211"/>
            </a:avLst>
          </a:prstGeom>
          <a:solidFill>
            <a:srgbClr val="F3F5F7"/>
          </a:solidFill>
          <a:ln/>
        </p:spPr>
      </p:sp>
      <p:sp>
        <p:nvSpPr>
          <p:cNvPr id="12" name="Shape 10"/>
          <p:cNvSpPr/>
          <p:nvPr/>
        </p:nvSpPr>
        <p:spPr>
          <a:xfrm>
            <a:off x="3602736" y="2011680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E07A2E"/>
          </a:solidFill>
          <a:ln/>
        </p:spPr>
      </p:sp>
      <p:sp>
        <p:nvSpPr>
          <p:cNvPr id="13" name="Shape 11"/>
          <p:cNvSpPr/>
          <p:nvPr/>
        </p:nvSpPr>
        <p:spPr>
          <a:xfrm>
            <a:off x="3657600" y="2066544"/>
            <a:ext cx="347472" cy="347472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602736" y="20116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3602736" y="2624328"/>
            <a:ext cx="2148840" cy="6162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AI를 쓰면</a:t>
            </a:r>
            <a:endParaRPr lang="en-US" sz="17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내 실력이 아닐까?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3602736" y="3313684"/>
            <a:ext cx="2148840" cy="15783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아닙니다. 도구를 잘 쓰는 것도 실력입니다. 대신 '감독'은 내가 합니다.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6199632" y="1783080"/>
            <a:ext cx="2606040" cy="3246120"/>
          </a:xfrm>
          <a:prstGeom prst="roundRect">
            <a:avLst>
              <a:gd name="adj" fmla="val 4211"/>
            </a:avLst>
          </a:prstGeom>
          <a:solidFill>
            <a:srgbClr val="F3F5F7"/>
          </a:solidFill>
          <a:ln/>
        </p:spPr>
      </p:sp>
      <p:sp>
        <p:nvSpPr>
          <p:cNvPr id="18" name="Shape 16"/>
          <p:cNvSpPr/>
          <p:nvPr/>
        </p:nvSpPr>
        <p:spPr>
          <a:xfrm>
            <a:off x="6428232" y="2011680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E07A2E"/>
          </a:solidFill>
          <a:ln/>
        </p:spPr>
      </p:sp>
      <p:sp>
        <p:nvSpPr>
          <p:cNvPr id="19" name="Shape 17"/>
          <p:cNvSpPr/>
          <p:nvPr/>
        </p:nvSpPr>
        <p:spPr>
          <a:xfrm>
            <a:off x="6483096" y="2066544"/>
            <a:ext cx="347472" cy="347472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428232" y="20116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6428232" y="2624328"/>
            <a:ext cx="2148840" cy="6162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기획을 AI와</a:t>
            </a:r>
            <a:endParaRPr lang="en-US" sz="17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어떻게 하나?</a:t>
            </a:r>
            <a:endParaRPr lang="en-US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6428232" y="3313684"/>
            <a:ext cx="2148840" cy="15783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넓히기 → 고르기 → 줄이기 → 검토받기. 고르기만은 꼭 내가.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9025128" y="1783080"/>
            <a:ext cx="2606040" cy="3246120"/>
          </a:xfrm>
          <a:prstGeom prst="roundRect">
            <a:avLst>
              <a:gd name="adj" fmla="val 4211"/>
            </a:avLst>
          </a:prstGeom>
          <a:solidFill>
            <a:srgbClr val="F3F5F7"/>
          </a:solidFill>
          <a:ln/>
        </p:spPr>
      </p:sp>
      <p:sp>
        <p:nvSpPr>
          <p:cNvPr id="24" name="Shape 22"/>
          <p:cNvSpPr/>
          <p:nvPr/>
        </p:nvSpPr>
        <p:spPr>
          <a:xfrm>
            <a:off x="9253728" y="2011680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E07A2E"/>
          </a:solidFill>
          <a:ln/>
        </p:spPr>
      </p:sp>
      <p:sp>
        <p:nvSpPr>
          <p:cNvPr id="25" name="Shape 23"/>
          <p:cNvSpPr/>
          <p:nvPr/>
        </p:nvSpPr>
        <p:spPr>
          <a:xfrm>
            <a:off x="9308592" y="2066544"/>
            <a:ext cx="347472" cy="347472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9253728" y="20116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9253728" y="2624328"/>
            <a:ext cx="2148840" cy="6162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예쁜 게임은</a:t>
            </a:r>
            <a:endParaRPr lang="en-US" sz="17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어떻게 만드나?</a:t>
            </a:r>
            <a:endParaRPr lang="en-US" sz="1700" dirty="0"/>
          </a:p>
        </p:txBody>
      </p:sp>
      <p:sp>
        <p:nvSpPr>
          <p:cNvPr id="28" name="Text 26"/>
          <p:cNvSpPr txBox="1"/>
          <p:nvPr/>
        </p:nvSpPr>
        <p:spPr>
          <a:xfrm>
            <a:off x="9253728" y="3313684"/>
            <a:ext cx="2148840" cy="15783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키 비주얼로 방향을 정하고, 에셋 · 조명 · 타이틀로 완성한다.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548640" y="5257800"/>
            <a:ext cx="11091672" cy="685800"/>
          </a:xfrm>
          <a:prstGeom prst="roundRect">
            <a:avLst>
              <a:gd name="adj" fmla="val 13333"/>
            </a:avLst>
          </a:prstGeom>
          <a:solidFill>
            <a:srgbClr val="FDF0E4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77240" y="5385816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E07A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요약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2176272" y="5451348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2368296" y="5376672"/>
            <a:ext cx="9089136" cy="234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오늘의 목표: </a:t>
            </a:r>
            <a:pPr algn="l"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AI와 만든 기획 1페이지 + 키 비주얼 + 새 프로젝트 + 에셋을 입혀 움직이는 플레이어</a:t>
            </a:r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KR"/>
                <a:ea typeface="Noto Sans KR"/>
                <a:cs typeface="Noto Sans KR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7A2E"/>
                </a:solidFill>
              </a:rPr>
              <a:t>오리엔테이션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8521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42B"/>
                </a:solidFill>
              </a:rPr>
              <a:t>오늘의 시간표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170432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6B78"/>
                </a:solidFill>
              </a:rPr>
              <a:t>개념은 짧게, 실습은 길게</a:t>
            </a:r>
            <a:endParaRPr lang="en-US" sz="15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83080"/>
          <a:ext cx="11091672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4206240"/>
                <a:gridCol w="4297680"/>
                <a:gridCol w="1399032"/>
              </a:tblGrid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교시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개념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실습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실습 슬라이드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1교시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50분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기말 안내 · AI를 쓰는 태도 · AI와 기획하는 법 (15분)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실습 1 · AI와 함께 기획 (35분)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실습 2~7쪽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0515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2교시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50분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키 비주얼 · 예쁘게 만드는 요소 · 에셋 (12분)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실습 2 · 키 비주얼 (15분)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실습 3 · 4 · 새 프로젝트 · 에셋 고르기 (23분)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실습 8~16쪽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0515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3교시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50분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에셋 가져오기 · AI 코드 확인법 (8분)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실습 5 · 6 · 7 · 가져오기 · 모델 입히기 · AI 첫 스크립트 (35분)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과제 안내 (7분)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실습 17~31쪽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5349240"/>
            <a:ext cx="11091672" cy="685800"/>
          </a:xfrm>
          <a:prstGeom prst="roundRect">
            <a:avLst>
              <a:gd name="adj" fmla="val 13333"/>
            </a:avLst>
          </a:prstGeom>
          <a:solidFill>
            <a:srgbClr val="FDF0E4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77240" y="5477256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E07A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요약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2176272" y="5542788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2368296" y="5468112"/>
            <a:ext cx="9089136" cy="234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쉬는 시간은 1교시 뒤 10분, 2교시 뒤 10분. 에셋 다운로드는 시간이 걸리니 고르자마자 받아 둡니다.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KR"/>
                <a:ea typeface="Noto Sans KR"/>
                <a:cs typeface="Noto Sans KR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7A2E"/>
                </a:solidFill>
              </a:rPr>
              <a:t>기말 안내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8521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42B"/>
                </a:solidFill>
              </a:rPr>
              <a:t>왜 새 프로젝트로 다시 시작하나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170432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6B78"/>
                </a:solidFill>
              </a:rPr>
              <a:t>중간 게임을 고치는 것보다 '처음부터 한 번 더'가 더 많이 남습니다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783080"/>
            <a:ext cx="3547872" cy="3291840"/>
          </a:xfrm>
          <a:prstGeom prst="roundRect">
            <a:avLst>
              <a:gd name="adj" fmla="val 3333"/>
            </a:avLst>
          </a:prstGeom>
          <a:solidFill>
            <a:srgbClr val="F3F5F7"/>
          </a:solidFill>
          <a:ln/>
        </p:spPr>
      </p:sp>
      <p:sp>
        <p:nvSpPr>
          <p:cNvPr id="6" name="Shape 4"/>
          <p:cNvSpPr/>
          <p:nvPr/>
        </p:nvSpPr>
        <p:spPr>
          <a:xfrm>
            <a:off x="777240" y="1965960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E07A2E"/>
          </a:solidFill>
          <a:ln/>
        </p:spPr>
      </p:sp>
      <p:sp>
        <p:nvSpPr>
          <p:cNvPr id="7" name="Shape 5"/>
          <p:cNvSpPr/>
          <p:nvPr/>
        </p:nvSpPr>
        <p:spPr>
          <a:xfrm>
            <a:off x="832104" y="2020824"/>
            <a:ext cx="347472" cy="347472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77240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256032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두 번째는 빠르다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3063240"/>
            <a:ext cx="31089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프로젝트 만들기 · 화면 3개 · GameManager · 빌드를 이미 한 번 해 봤습니다. 같은 일은 빨리 끝내고 남는 시간을 그래픽과 완성도에 씁니다.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4297680" y="1783080"/>
            <a:ext cx="3547872" cy="3291840"/>
          </a:xfrm>
          <a:prstGeom prst="roundRect">
            <a:avLst>
              <a:gd name="adj" fmla="val 3333"/>
            </a:avLst>
          </a:prstGeom>
          <a:solidFill>
            <a:srgbClr val="F3F5F7"/>
          </a:solidFill>
          <a:ln/>
        </p:spPr>
      </p:sp>
      <p:sp>
        <p:nvSpPr>
          <p:cNvPr id="12" name="Shape 10"/>
          <p:cNvSpPr/>
          <p:nvPr/>
        </p:nvSpPr>
        <p:spPr>
          <a:xfrm>
            <a:off x="4526280" y="1965960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E07A2E"/>
          </a:solidFill>
          <a:ln/>
        </p:spPr>
      </p:sp>
      <p:sp>
        <p:nvSpPr>
          <p:cNvPr id="13" name="Shape 11"/>
          <p:cNvSpPr/>
          <p:nvPr/>
        </p:nvSpPr>
        <p:spPr>
          <a:xfrm>
            <a:off x="4581144" y="2020824"/>
            <a:ext cx="347472" cy="347472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526280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4526280" y="256032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처음부터 '보이는 것'을 설계한다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4526280" y="3063240"/>
            <a:ext cx="31089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중간은 회색 큐브로 시작해 나중에 꾸몄습니다. 이번엔 기획 단계에서 키 비주얼로 스타일을 먼저 정하고 시작합니다.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8046720" y="1783080"/>
            <a:ext cx="3547872" cy="3291840"/>
          </a:xfrm>
          <a:prstGeom prst="roundRect">
            <a:avLst>
              <a:gd name="adj" fmla="val 3333"/>
            </a:avLst>
          </a:prstGeom>
          <a:solidFill>
            <a:srgbClr val="F3F5F7"/>
          </a:solidFill>
          <a:ln/>
        </p:spPr>
      </p:sp>
      <p:sp>
        <p:nvSpPr>
          <p:cNvPr id="18" name="Shape 16"/>
          <p:cNvSpPr/>
          <p:nvPr/>
        </p:nvSpPr>
        <p:spPr>
          <a:xfrm>
            <a:off x="8275320" y="1965960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E07A2E"/>
          </a:solidFill>
          <a:ln/>
        </p:spPr>
      </p:sp>
      <p:sp>
        <p:nvSpPr>
          <p:cNvPr id="19" name="Shape 17"/>
          <p:cNvSpPr/>
          <p:nvPr/>
        </p:nvSpPr>
        <p:spPr>
          <a:xfrm>
            <a:off x="8330184" y="2020824"/>
            <a:ext cx="347472" cy="347472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275320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8275320" y="256032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모두 같은 출발선</a:t>
            </a:r>
            <a:endParaRPr lang="en-US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8275320" y="3063240"/>
            <a:ext cx="31089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이어서 하는 사람과 새로 하는 사람이 섞이면 진도를 맞추기 어렵습니다. 모두 새 프로젝트로 같은 일정을 갑니다.</a:t>
            </a:r>
            <a:endParaRPr lang="en-US" sz="1350" dirty="0"/>
          </a:p>
        </p:txBody>
      </p:sp>
      <p:sp>
        <p:nvSpPr>
          <p:cNvPr id="23" name="Shape 21"/>
          <p:cNvSpPr/>
          <p:nvPr/>
        </p:nvSpPr>
        <p:spPr>
          <a:xfrm>
            <a:off x="548640" y="5303520"/>
            <a:ext cx="11091672" cy="594360"/>
          </a:xfrm>
          <a:prstGeom prst="roundRect">
            <a:avLst>
              <a:gd name="adj" fmla="val 15385"/>
            </a:avLst>
          </a:prstGeom>
          <a:solidFill>
            <a:srgbClr val="FDF0E4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777240" y="5431536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E07A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요약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176272" y="5497068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2368296" y="5422392"/>
            <a:ext cx="9089136" cy="234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중간 프로젝트는 지우지 말고 보관하세요. </a:t>
            </a:r>
            <a:pPr algn="l"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GameManager 같은 내 스크립트는 다시 가져와 써도 됩니다.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KR"/>
                <a:ea typeface="Noto Sans KR"/>
                <a:cs typeface="Noto Sans KR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7A2E"/>
                </a:solidFill>
              </a:rPr>
              <a:t>기말 안내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8521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42B"/>
                </a:solidFill>
              </a:rPr>
              <a:t>기말까지 한 달 남짓 — 앞은 '돌아가게', 뒤는 '예쁘게'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170432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6B78"/>
                </a:solidFill>
              </a:rPr>
              <a:t>5주차 공휴일로 주차가 한 주씩 밀렸습니다. 계획이며 진행에 따라 조정할 수 있습니다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828800"/>
            <a:ext cx="1280160" cy="2743200"/>
          </a:xfrm>
          <a:prstGeom prst="roundRect">
            <a:avLst>
              <a:gd name="adj" fmla="val 8571"/>
            </a:avLst>
          </a:prstGeom>
          <a:solidFill>
            <a:srgbClr val="FDF0E4"/>
          </a:solidFill>
          <a:ln w="25400">
            <a:solidFill>
              <a:srgbClr val="E07A2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58368" y="1938528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E07A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8주차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58368" y="225856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F6B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11/2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658368" y="2697480"/>
            <a:ext cx="10972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AI와 기획 · 키 비주얼 · 첫 조작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1947672" y="1828800"/>
            <a:ext cx="1280160" cy="2743200"/>
          </a:xfrm>
          <a:prstGeom prst="roundRect">
            <a:avLst>
              <a:gd name="adj" fmla="val 8571"/>
            </a:avLst>
          </a:prstGeom>
          <a:solidFill>
            <a:srgbClr val="F3F5F7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2057400" y="1938528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5F6B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9주차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2057400" y="225856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F6B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11/9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2057400" y="2697480"/>
            <a:ext cx="10972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규칙 · 승패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3346704" y="1828800"/>
            <a:ext cx="1280160" cy="2743200"/>
          </a:xfrm>
          <a:prstGeom prst="roundRect">
            <a:avLst>
              <a:gd name="adj" fmla="val 8571"/>
            </a:avLst>
          </a:prstGeom>
          <a:solidFill>
            <a:srgbClr val="E8F0FE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456432" y="1938528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2F6F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10주차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3456432" y="225856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F6B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11/16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3456432" y="2697480"/>
            <a:ext cx="10972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에셋으로 맵 · 캐릭터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4745736" y="1828800"/>
            <a:ext cx="1280160" cy="2743200"/>
          </a:xfrm>
          <a:prstGeom prst="roundRect">
            <a:avLst>
              <a:gd name="adj" fmla="val 8571"/>
            </a:avLst>
          </a:prstGeom>
          <a:solidFill>
            <a:srgbClr val="E8F0FE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4855464" y="1938528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2F6F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11주차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4855464" y="225856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F6B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11/23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4855464" y="2697480"/>
            <a:ext cx="10972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조명 · 포스트 프로세싱 · 카메라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6144768" y="1828800"/>
            <a:ext cx="1280160" cy="2743200"/>
          </a:xfrm>
          <a:prstGeom prst="roundRect">
            <a:avLst>
              <a:gd name="adj" fmla="val 8571"/>
            </a:avLst>
          </a:prstGeom>
          <a:solidFill>
            <a:srgbClr val="E8F0FE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254496" y="1938528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2F6F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12주차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6254496" y="225856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F6B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11/30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6254496" y="2697480"/>
            <a:ext cx="10972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AI로 타이틀 · UI · 폰트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543800" y="1828800"/>
            <a:ext cx="1280160" cy="2743200"/>
          </a:xfrm>
          <a:prstGeom prst="roundRect">
            <a:avLst>
              <a:gd name="adj" fmla="val 8571"/>
            </a:avLst>
          </a:prstGeom>
          <a:solidFill>
            <a:srgbClr val="F3F5F7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653528" y="1938528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5F6B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13주차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7653528" y="225856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F6B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12/7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7653528" y="2697480"/>
            <a:ext cx="10972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소리 · 이펙트 · 플레이테스트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8942832" y="1828800"/>
            <a:ext cx="1280160" cy="2743200"/>
          </a:xfrm>
          <a:prstGeom prst="roundRect">
            <a:avLst>
              <a:gd name="adj" fmla="val 8571"/>
            </a:avLst>
          </a:prstGeom>
          <a:solidFill>
            <a:srgbClr val="F3F5F7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9052560" y="1938528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5F6B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14주차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9052560" y="225856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F6B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12/14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9052560" y="2697480"/>
            <a:ext cx="10972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마무리 · 빌드 · 연습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10341864" y="1828800"/>
            <a:ext cx="1280160" cy="2743200"/>
          </a:xfrm>
          <a:prstGeom prst="roundRect">
            <a:avLst>
              <a:gd name="adj" fmla="val 8571"/>
            </a:avLst>
          </a:prstGeom>
          <a:solidFill>
            <a:srgbClr val="FCEAEA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10451592" y="1938528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D0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15주차</a:t>
            </a:r>
            <a:endParaRPr lang="en-US" sz="1400" dirty="0"/>
          </a:p>
        </p:txBody>
      </p:sp>
      <p:sp>
        <p:nvSpPr>
          <p:cNvPr id="35" name="Text 33"/>
          <p:cNvSpPr txBox="1"/>
          <p:nvPr/>
        </p:nvSpPr>
        <p:spPr>
          <a:xfrm>
            <a:off x="10451592" y="225856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F6B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12/21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10451592" y="2697480"/>
            <a:ext cx="10972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기말 시연</a:t>
            </a:r>
            <a:endParaRPr lang="en-US" sz="13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(기말고사)</a:t>
            </a:r>
            <a:endParaRPr lang="en-US" sz="1300" dirty="0"/>
          </a:p>
        </p:txBody>
      </p:sp>
      <p:sp>
        <p:nvSpPr>
          <p:cNvPr id="37" name="Text 35"/>
          <p:cNvSpPr txBox="1"/>
          <p:nvPr/>
        </p:nvSpPr>
        <p:spPr>
          <a:xfrm>
            <a:off x="548640" y="4663440"/>
            <a:ext cx="26791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E07A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← 돌아가는 게임 →</a:t>
            </a:r>
            <a:endParaRPr lang="en-US" sz="1200" dirty="0"/>
          </a:p>
        </p:txBody>
      </p:sp>
      <p:sp>
        <p:nvSpPr>
          <p:cNvPr id="38" name="Text 36"/>
          <p:cNvSpPr txBox="1"/>
          <p:nvPr/>
        </p:nvSpPr>
        <p:spPr>
          <a:xfrm>
            <a:off x="3346704" y="4663440"/>
            <a:ext cx="40782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2F6F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← 예쁜 게임 (파란 칸) →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548640" y="5120640"/>
            <a:ext cx="11091672" cy="594360"/>
          </a:xfrm>
          <a:prstGeom prst="roundRect">
            <a:avLst>
              <a:gd name="adj" fmla="val 15385"/>
            </a:avLst>
          </a:prstGeom>
          <a:solidFill>
            <a:srgbClr val="FDF0E4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777240" y="5248656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E07A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요약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2176272" y="5314188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2368296" y="5239512"/>
            <a:ext cx="9089136" cy="234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9주차까지 '회색으로 한 판이 도는 게임'</a:t>
            </a:r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이 먼저입니다. 그 뒤 3주 동안 마음껏 예쁘게 만듭니다.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KR"/>
                <a:ea typeface="Noto Sans KR"/>
                <a:cs typeface="Noto Sans KR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7A2E"/>
                </a:solidFill>
              </a:rPr>
              <a:t>기말 안내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8521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42B"/>
                </a:solidFill>
              </a:rPr>
              <a:t>기말 완성 기준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170432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6B78"/>
                </a:solidFill>
              </a:rPr>
              <a:t>중간의 네 가지 위에 '보기 좋은 게임'과 '도구를 잘 쓴 과정'이 더해집니다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5120640" cy="3611880"/>
          </a:xfrm>
          <a:prstGeom prst="roundRect">
            <a:avLst>
              <a:gd name="adj" fmla="val 3038"/>
            </a:avLst>
          </a:prstGeom>
          <a:solidFill>
            <a:srgbClr val="F3F5F7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77240" y="182880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5F6B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중간과 같은 것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804672" y="2363343"/>
            <a:ext cx="73152" cy="73152"/>
          </a:xfrm>
          <a:prstGeom prst="rect">
            <a:avLst/>
          </a:prstGeom>
          <a:solidFill>
            <a:srgbClr val="8C96A1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996696" y="2286000"/>
            <a:ext cx="4443984" cy="4861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한 판 완주 — 타이틀 → 플레이 → 결과 → RETRY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804672" y="2925699"/>
            <a:ext cx="73152" cy="73152"/>
          </a:xfrm>
          <a:prstGeom prst="rect">
            <a:avLst/>
          </a:prstGeom>
          <a:solidFill>
            <a:srgbClr val="8C96A1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996696" y="2848356"/>
            <a:ext cx="4443984" cy="2430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화면 3개 — 타이틀 · HUD · 결과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804672" y="3244977"/>
            <a:ext cx="73152" cy="73152"/>
          </a:xfrm>
          <a:prstGeom prst="rect">
            <a:avLst/>
          </a:prstGeom>
          <a:solidFill>
            <a:srgbClr val="8C96A1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996696" y="3167634"/>
            <a:ext cx="4443984" cy="2430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반응 — 득점 · 성공 · 실패에 소리 + 이펙트</a:t>
            </a:r>
            <a:endParaRPr lang="en-US" sz="1450" dirty="0"/>
          </a:p>
        </p:txBody>
      </p:sp>
      <p:sp>
        <p:nvSpPr>
          <p:cNvPr id="13" name="Shape 11"/>
          <p:cNvSpPr/>
          <p:nvPr/>
        </p:nvSpPr>
        <p:spPr>
          <a:xfrm>
            <a:off x="804672" y="3564255"/>
            <a:ext cx="73152" cy="73152"/>
          </a:xfrm>
          <a:prstGeom prst="rect">
            <a:avLst/>
          </a:prstGeom>
          <a:solidFill>
            <a:srgbClr val="8C96A1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996696" y="3486912"/>
            <a:ext cx="4443984" cy="2430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Windows 빌드 — .exe로 시연</a:t>
            </a:r>
            <a:endParaRPr lang="en-US" sz="1450" dirty="0"/>
          </a:p>
        </p:txBody>
      </p:sp>
      <p:sp>
        <p:nvSpPr>
          <p:cNvPr id="15" name="Shape 13"/>
          <p:cNvSpPr/>
          <p:nvPr/>
        </p:nvSpPr>
        <p:spPr>
          <a:xfrm>
            <a:off x="5879592" y="1737360"/>
            <a:ext cx="5760720" cy="3611880"/>
          </a:xfrm>
          <a:prstGeom prst="roundRect">
            <a:avLst>
              <a:gd name="adj" fmla="val 3038"/>
            </a:avLst>
          </a:prstGeom>
          <a:solidFill>
            <a:srgbClr val="FDF0E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108192" y="182880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E07A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이번에 더해지는 것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6135624" y="2363343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327648" y="2286000"/>
            <a:ext cx="5084064" cy="2430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50" b="1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새 게임</a:t>
            </a:r>
            <a:pPr algn="l"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— 중간과 다른 새 프로젝트</a:t>
            </a:r>
            <a:endParaRPr lang="en-US" sz="1450" dirty="0"/>
          </a:p>
        </p:txBody>
      </p:sp>
      <p:sp>
        <p:nvSpPr>
          <p:cNvPr id="19" name="Shape 17"/>
          <p:cNvSpPr/>
          <p:nvPr/>
        </p:nvSpPr>
        <p:spPr>
          <a:xfrm>
            <a:off x="6135624" y="2682621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327648" y="2605278"/>
            <a:ext cx="5084064" cy="2430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50" b="1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보기 좋은 그래픽</a:t>
            </a:r>
            <a:pPr algn="l"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— 에셋 · 조명으로 스타일 통일</a:t>
            </a:r>
            <a:endParaRPr lang="en-US" sz="1450" dirty="0"/>
          </a:p>
        </p:txBody>
      </p:sp>
      <p:sp>
        <p:nvSpPr>
          <p:cNvPr id="21" name="Shape 19"/>
          <p:cNvSpPr/>
          <p:nvPr/>
        </p:nvSpPr>
        <p:spPr>
          <a:xfrm>
            <a:off x="6135624" y="3001899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327648" y="2924556"/>
            <a:ext cx="5084064" cy="2430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50" b="1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꾸민 타이틀 화면</a:t>
            </a:r>
            <a:pPr algn="l"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— AI 이미지 등으로 첫인상</a:t>
            </a:r>
            <a:endParaRPr lang="en-US" sz="1450" dirty="0"/>
          </a:p>
        </p:txBody>
      </p:sp>
      <p:sp>
        <p:nvSpPr>
          <p:cNvPr id="23" name="Shape 21"/>
          <p:cNvSpPr/>
          <p:nvPr/>
        </p:nvSpPr>
        <p:spPr>
          <a:xfrm>
            <a:off x="6135624" y="3321177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327648" y="3243834"/>
            <a:ext cx="5084064" cy="2430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50" b="1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기록 2종</a:t>
            </a:r>
            <a:pPr algn="l"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— 에셋 목록 · AI 사용 기록</a:t>
            </a:r>
            <a:endParaRPr lang="en-US" sz="1450" dirty="0"/>
          </a:p>
        </p:txBody>
      </p:sp>
      <p:sp>
        <p:nvSpPr>
          <p:cNvPr id="25" name="Shape 23"/>
          <p:cNvSpPr/>
          <p:nvPr/>
        </p:nvSpPr>
        <p:spPr>
          <a:xfrm>
            <a:off x="6135624" y="3640455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6327648" y="3563112"/>
            <a:ext cx="5084064" cy="4861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50" b="1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과정 설명</a:t>
            </a:r>
            <a:pPr algn="l"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— 어떤 도구로 무엇을 했나 + 내 스크립트 한 부분</a:t>
            </a:r>
            <a:endParaRPr lang="en-US" sz="1450" dirty="0"/>
          </a:p>
        </p:txBody>
      </p:sp>
      <p:sp>
        <p:nvSpPr>
          <p:cNvPr id="27" name="Shape 25"/>
          <p:cNvSpPr/>
          <p:nvPr/>
        </p:nvSpPr>
        <p:spPr>
          <a:xfrm>
            <a:off x="548640" y="5532120"/>
            <a:ext cx="11091672" cy="594360"/>
          </a:xfrm>
          <a:prstGeom prst="roundRect">
            <a:avLst>
              <a:gd name="adj" fmla="val 15385"/>
            </a:avLst>
          </a:prstGeom>
          <a:solidFill>
            <a:srgbClr val="FDF0E4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777240" y="5660136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E07A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요약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2176272" y="5725668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2368296" y="5650992"/>
            <a:ext cx="9089136" cy="234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평가는 이 항목들을 </a:t>
            </a:r>
            <a:pPr algn="l"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보는 관점</a:t>
            </a:r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으로 합니다. 게임 종류로 점수를 나누지 않습니다.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KR"/>
                <a:ea typeface="Noto Sans KR"/>
                <a:cs typeface="Noto Sans KR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7A2E"/>
                </a:solidFill>
              </a:rPr>
              <a:t>AI를 쓰는 태도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8521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42B"/>
                </a:solidFill>
              </a:rPr>
              <a:t>"AI로 만들면 내 실력이 아니다"?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170432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6B78"/>
                </a:solidFill>
              </a:rPr>
              <a:t>도구를 잘 쓰는 것도 실력입니다. 혼자서도 괜찮은 결과물을 만들 수 있는 시대입니다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783080"/>
            <a:ext cx="5394960" cy="3200400"/>
          </a:xfrm>
          <a:prstGeom prst="roundRect">
            <a:avLst>
              <a:gd name="adj" fmla="val 3429"/>
            </a:avLst>
          </a:prstGeom>
          <a:solidFill>
            <a:srgbClr val="F3F5F7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77240" y="187452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5F6B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예전의 생각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804672" y="2462784"/>
            <a:ext cx="73152" cy="73152"/>
          </a:xfrm>
          <a:prstGeom prst="rect">
            <a:avLst/>
          </a:prstGeom>
          <a:solidFill>
            <a:srgbClr val="8C96A1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996696" y="2377440"/>
            <a:ext cx="4718304" cy="268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600" dirty="0">
                <a:solidFill>
                  <a:srgbClr val="5F6B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직접 다 짜야 내 코드다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804672" y="2807208"/>
            <a:ext cx="73152" cy="73152"/>
          </a:xfrm>
          <a:prstGeom prst="rect">
            <a:avLst/>
          </a:prstGeom>
          <a:solidFill>
            <a:srgbClr val="8C96A1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996696" y="2721864"/>
            <a:ext cx="4718304" cy="268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600" dirty="0">
                <a:solidFill>
                  <a:srgbClr val="5F6B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그림을 못 그리면 예쁜 게임은 못 만든다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804672" y="3151632"/>
            <a:ext cx="73152" cy="73152"/>
          </a:xfrm>
          <a:prstGeom prst="rect">
            <a:avLst/>
          </a:prstGeom>
          <a:solidFill>
            <a:srgbClr val="8C96A1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996696" y="3066288"/>
            <a:ext cx="4718304" cy="268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600" dirty="0">
                <a:solidFill>
                  <a:srgbClr val="5F6B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AI를 쓰면 배우는 게 없다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245352" y="1783080"/>
            <a:ext cx="5394960" cy="3200400"/>
          </a:xfrm>
          <a:prstGeom prst="roundRect">
            <a:avLst>
              <a:gd name="adj" fmla="val 3429"/>
            </a:avLst>
          </a:prstGeom>
          <a:solidFill>
            <a:srgbClr val="FDF0E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473952" y="187452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E07A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 수업의 생각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6501384" y="2462784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93408" y="2377440"/>
            <a:ext cx="4718304" cy="536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6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게임 개발자도 엔진 · 에셋 · 라이브러리를 </a:t>
            </a:r>
            <a:pPr algn="l"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조합</a:t>
            </a:r>
            <a:pPr algn="l" indent="0" marL="0">
              <a:lnSpc>
                <a:spcPct val="112000"/>
              </a:lnSpc>
              <a:buNone/>
            </a:pPr>
            <a:r>
              <a:rPr lang="en-US" sz="16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해서 만든다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6501384" y="3075432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693408" y="2990088"/>
            <a:ext cx="4718304" cy="536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6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에셋 + AI 이미지 + 조명이면 </a:t>
            </a:r>
            <a:pPr algn="l"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혼자서도</a:t>
            </a:r>
            <a:pPr algn="l" indent="0" marL="0">
              <a:lnSpc>
                <a:spcPct val="112000"/>
              </a:lnSpc>
              <a:buNone/>
            </a:pPr>
            <a:r>
              <a:rPr lang="en-US" sz="16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보기 좋은 화면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6501384" y="3688080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693408" y="3602736"/>
            <a:ext cx="4718304" cy="268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6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AI에게 </a:t>
            </a:r>
            <a:pPr algn="l"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묻고 확인하는 과정</a:t>
            </a:r>
            <a:pPr algn="l" indent="0" marL="0">
              <a:lnSpc>
                <a:spcPct val="112000"/>
              </a:lnSpc>
              <a:buNone/>
            </a:pPr>
            <a:r>
              <a:rPr lang="en-US" sz="16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 곧 배우는 과정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548640" y="5257800"/>
            <a:ext cx="11091672" cy="685800"/>
          </a:xfrm>
          <a:prstGeom prst="roundRect">
            <a:avLst>
              <a:gd name="adj" fmla="val 13333"/>
            </a:avLst>
          </a:prstGeom>
          <a:solidFill>
            <a:srgbClr val="FDF0E4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777240" y="5385816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E07A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요약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2176272" y="5451348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2368296" y="5376672"/>
            <a:ext cx="9089136" cy="469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엔진도 이미 '남이 만든 도구'입니다. 중요한 것은 도구를 써서 </a:t>
            </a:r>
            <a:pPr algn="l"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무엇을 만들었고, 무엇을 판단했는가</a:t>
            </a:r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입니다.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KR"/>
                <a:ea typeface="Noto Sans KR"/>
                <a:cs typeface="Noto Sans KR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7A2E"/>
                </a:solidFill>
              </a:rPr>
              <a:t>AI를 쓰는 태도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8521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42B"/>
                </a:solidFill>
              </a:rPr>
              <a:t>AI는 팀원, 감독은 나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170432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6B78"/>
                </a:solidFill>
              </a:rPr>
              <a:t>AI가 일을 많이 해도 괜찮습니다. 다섯 가지는 내가 합니다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828800"/>
            <a:ext cx="2057400" cy="2651760"/>
          </a:xfrm>
          <a:prstGeom prst="roundRect">
            <a:avLst>
              <a:gd name="adj" fmla="val 5333"/>
            </a:avLst>
          </a:prstGeom>
          <a:solidFill>
            <a:srgbClr val="F3F5F7"/>
          </a:solidFill>
          <a:ln/>
        </p:spPr>
      </p:sp>
      <p:sp>
        <p:nvSpPr>
          <p:cNvPr id="6" name="Shape 4"/>
          <p:cNvSpPr/>
          <p:nvPr/>
        </p:nvSpPr>
        <p:spPr>
          <a:xfrm>
            <a:off x="1325880" y="2011680"/>
            <a:ext cx="502920" cy="502920"/>
          </a:xfrm>
          <a:prstGeom prst="roundRect">
            <a:avLst>
              <a:gd name="adj" fmla="val 10909"/>
            </a:avLst>
          </a:prstGeom>
          <a:solidFill>
            <a:srgbClr val="E07A2E"/>
          </a:solidFill>
          <a:ln/>
        </p:spPr>
      </p:sp>
      <p:sp>
        <p:nvSpPr>
          <p:cNvPr id="7" name="Shape 5"/>
          <p:cNvSpPr/>
          <p:nvPr/>
        </p:nvSpPr>
        <p:spPr>
          <a:xfrm>
            <a:off x="1386230" y="2072030"/>
            <a:ext cx="382219" cy="382219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325880" y="20116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2743200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정한다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685800" y="3291840"/>
            <a:ext cx="1783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무슨 게임 · 어떤 분위기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2798064" y="1828800"/>
            <a:ext cx="2057400" cy="2651760"/>
          </a:xfrm>
          <a:prstGeom prst="roundRect">
            <a:avLst>
              <a:gd name="adj" fmla="val 5333"/>
            </a:avLst>
          </a:prstGeom>
          <a:solidFill>
            <a:srgbClr val="F3F5F7"/>
          </a:solidFill>
          <a:ln/>
        </p:spPr>
      </p:sp>
      <p:sp>
        <p:nvSpPr>
          <p:cNvPr id="12" name="Shape 10"/>
          <p:cNvSpPr/>
          <p:nvPr/>
        </p:nvSpPr>
        <p:spPr>
          <a:xfrm>
            <a:off x="3575304" y="2011680"/>
            <a:ext cx="502920" cy="502920"/>
          </a:xfrm>
          <a:prstGeom prst="roundRect">
            <a:avLst>
              <a:gd name="adj" fmla="val 10909"/>
            </a:avLst>
          </a:prstGeom>
          <a:solidFill>
            <a:srgbClr val="E07A2E"/>
          </a:solidFill>
          <a:ln/>
        </p:spPr>
      </p:sp>
      <p:sp>
        <p:nvSpPr>
          <p:cNvPr id="13" name="Shape 11"/>
          <p:cNvSpPr/>
          <p:nvPr/>
        </p:nvSpPr>
        <p:spPr>
          <a:xfrm>
            <a:off x="3635654" y="2072030"/>
            <a:ext cx="382219" cy="382219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575304" y="20116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2889504" y="2743200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시킨다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2935224" y="3291840"/>
            <a:ext cx="1783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조건을 붙여 정확히 묻기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5047488" y="1828800"/>
            <a:ext cx="2057400" cy="2651760"/>
          </a:xfrm>
          <a:prstGeom prst="roundRect">
            <a:avLst>
              <a:gd name="adj" fmla="val 5333"/>
            </a:avLst>
          </a:prstGeom>
          <a:solidFill>
            <a:srgbClr val="F3F5F7"/>
          </a:solidFill>
          <a:ln/>
        </p:spPr>
      </p:sp>
      <p:sp>
        <p:nvSpPr>
          <p:cNvPr id="18" name="Shape 16"/>
          <p:cNvSpPr/>
          <p:nvPr/>
        </p:nvSpPr>
        <p:spPr>
          <a:xfrm>
            <a:off x="5824728" y="2011680"/>
            <a:ext cx="502920" cy="502920"/>
          </a:xfrm>
          <a:prstGeom prst="roundRect">
            <a:avLst>
              <a:gd name="adj" fmla="val 10909"/>
            </a:avLst>
          </a:prstGeom>
          <a:solidFill>
            <a:srgbClr val="E07A2E"/>
          </a:solidFill>
          <a:ln/>
        </p:spPr>
      </p:sp>
      <p:sp>
        <p:nvSpPr>
          <p:cNvPr id="19" name="Shape 17"/>
          <p:cNvSpPr/>
          <p:nvPr/>
        </p:nvSpPr>
        <p:spPr>
          <a:xfrm>
            <a:off x="5885078" y="2072030"/>
            <a:ext cx="382219" cy="382219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824728" y="20116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5138928" y="2743200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고른다</a:t>
            </a:r>
            <a:endParaRPr lang="en-US" sz="2000" dirty="0"/>
          </a:p>
        </p:txBody>
      </p:sp>
      <p:sp>
        <p:nvSpPr>
          <p:cNvPr id="22" name="Text 20"/>
          <p:cNvSpPr txBox="1"/>
          <p:nvPr/>
        </p:nvSpPr>
        <p:spPr>
          <a:xfrm>
            <a:off x="5184648" y="3291840"/>
            <a:ext cx="1783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여러 결과 중 좋은 것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7296912" y="1828800"/>
            <a:ext cx="2057400" cy="2651760"/>
          </a:xfrm>
          <a:prstGeom prst="roundRect">
            <a:avLst>
              <a:gd name="adj" fmla="val 5333"/>
            </a:avLst>
          </a:prstGeom>
          <a:solidFill>
            <a:srgbClr val="F3F5F7"/>
          </a:solidFill>
          <a:ln/>
        </p:spPr>
      </p:sp>
      <p:sp>
        <p:nvSpPr>
          <p:cNvPr id="24" name="Shape 22"/>
          <p:cNvSpPr/>
          <p:nvPr/>
        </p:nvSpPr>
        <p:spPr>
          <a:xfrm>
            <a:off x="8074152" y="2011680"/>
            <a:ext cx="502920" cy="502920"/>
          </a:xfrm>
          <a:prstGeom prst="roundRect">
            <a:avLst>
              <a:gd name="adj" fmla="val 10909"/>
            </a:avLst>
          </a:prstGeom>
          <a:solidFill>
            <a:srgbClr val="E07A2E"/>
          </a:solidFill>
          <a:ln/>
        </p:spPr>
      </p:sp>
      <p:sp>
        <p:nvSpPr>
          <p:cNvPr id="25" name="Shape 23"/>
          <p:cNvSpPr/>
          <p:nvPr/>
        </p:nvSpPr>
        <p:spPr>
          <a:xfrm>
            <a:off x="8134502" y="2072030"/>
            <a:ext cx="382219" cy="382219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8074152" y="20116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</a:t>
            </a:r>
            <a:endParaRPr lang="en-US" sz="1600" dirty="0"/>
          </a:p>
        </p:txBody>
      </p:sp>
      <p:sp>
        <p:nvSpPr>
          <p:cNvPr id="27" name="Text 25"/>
          <p:cNvSpPr txBox="1"/>
          <p:nvPr/>
        </p:nvSpPr>
        <p:spPr>
          <a:xfrm>
            <a:off x="7388352" y="2743200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조립한다</a:t>
            </a:r>
            <a:endParaRPr lang="en-US" sz="2000" dirty="0"/>
          </a:p>
        </p:txBody>
      </p:sp>
      <p:sp>
        <p:nvSpPr>
          <p:cNvPr id="28" name="Text 26"/>
          <p:cNvSpPr txBox="1"/>
          <p:nvPr/>
        </p:nvSpPr>
        <p:spPr>
          <a:xfrm>
            <a:off x="7434072" y="3291840"/>
            <a:ext cx="1783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Unity에서 붙이고 맞추기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9546336" y="1828800"/>
            <a:ext cx="2057400" cy="2651760"/>
          </a:xfrm>
          <a:prstGeom prst="roundRect">
            <a:avLst>
              <a:gd name="adj" fmla="val 5333"/>
            </a:avLst>
          </a:prstGeom>
          <a:solidFill>
            <a:srgbClr val="F3F5F7"/>
          </a:solidFill>
          <a:ln/>
        </p:spPr>
      </p:sp>
      <p:sp>
        <p:nvSpPr>
          <p:cNvPr id="30" name="Shape 28"/>
          <p:cNvSpPr/>
          <p:nvPr/>
        </p:nvSpPr>
        <p:spPr>
          <a:xfrm>
            <a:off x="10323576" y="2011680"/>
            <a:ext cx="502920" cy="502920"/>
          </a:xfrm>
          <a:prstGeom prst="roundRect">
            <a:avLst>
              <a:gd name="adj" fmla="val 10909"/>
            </a:avLst>
          </a:prstGeom>
          <a:solidFill>
            <a:srgbClr val="E07A2E"/>
          </a:solidFill>
          <a:ln/>
        </p:spPr>
      </p:sp>
      <p:sp>
        <p:nvSpPr>
          <p:cNvPr id="31" name="Shape 29"/>
          <p:cNvSpPr/>
          <p:nvPr/>
        </p:nvSpPr>
        <p:spPr>
          <a:xfrm>
            <a:off x="10383926" y="2072030"/>
            <a:ext cx="382219" cy="382219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10323576" y="20116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5</a:t>
            </a:r>
            <a:endParaRPr lang="en-US" sz="1600" dirty="0"/>
          </a:p>
        </p:txBody>
      </p:sp>
      <p:sp>
        <p:nvSpPr>
          <p:cNvPr id="33" name="Text 31"/>
          <p:cNvSpPr txBox="1"/>
          <p:nvPr/>
        </p:nvSpPr>
        <p:spPr>
          <a:xfrm>
            <a:off x="9637776" y="2743200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설명한다</a:t>
            </a:r>
            <a:endParaRPr lang="en-US" sz="2000" dirty="0"/>
          </a:p>
        </p:txBody>
      </p:sp>
      <p:sp>
        <p:nvSpPr>
          <p:cNvPr id="34" name="Text 32"/>
          <p:cNvSpPr txBox="1"/>
          <p:nvPr/>
        </p:nvSpPr>
        <p:spPr>
          <a:xfrm>
            <a:off x="9683496" y="3291840"/>
            <a:ext cx="1783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왜 이렇게 했는지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548640" y="4754880"/>
            <a:ext cx="11091672" cy="640080"/>
          </a:xfrm>
          <a:prstGeom prst="roundRect">
            <a:avLst>
              <a:gd name="adj" fmla="val 14286"/>
            </a:avLst>
          </a:prstGeom>
          <a:solidFill>
            <a:srgbClr val="FDF0E4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777240" y="4882896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E07A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요약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2176272" y="4948428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2368296" y="4873752"/>
            <a:ext cx="9089136" cy="469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기말 시연에서는 </a:t>
            </a:r>
            <a:pPr algn="l"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'AI와 에셋으로 어떻게 만들었는지'</a:t>
            </a:r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를 당당하게 보여 주세요. 그것도 평가하는 과정입니다.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KR"/>
                <a:ea typeface="Noto Sans KR"/>
                <a:cs typeface="Noto Sans KR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7A2E"/>
                </a:solidFill>
              </a:rPr>
              <a:t>AI를 쓰는 태도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8521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42B"/>
                </a:solidFill>
              </a:rPr>
              <a:t>마음껏 쓰되, 이것만은 지키기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170432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6B78"/>
                </a:solidFill>
              </a:rPr>
              <a:t>애매하면 쓰기 전에 물어보세요. 물어본 것은 문제가 되지 않습니다</a:t>
            </a:r>
            <a:endParaRPr lang="en-US" sz="15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11091672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4754880"/>
                <a:gridCol w="4873752"/>
              </a:tblGrid>
              <a:tr h="731520">
                <a:tc>
                  <a:txBody>
                    <a:bodyPr/>
                    <a:lstStyle/>
                    <a:p>
                      <a:endParaRPr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마음껏 쓰기</a:t>
                      </a:r>
                      <a:endParaRPr lang="en-US" sz="14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꼭 지킬 것</a:t>
                      </a:r>
                      <a:endParaRPr lang="en-US" sz="14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AI</a:t>
                      </a:r>
                      <a:endParaRPr lang="en-US" sz="14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기획 아이디어 · 비평 · 이미지 · 코드 · 에러 해결 · 설명</a:t>
                      </a:r>
                      <a:endParaRPr lang="en-US" sz="14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결과를 내가 고르고 고친다 · 넣은 코드는 이해하고 넣는다</a:t>
                      </a:r>
                      <a:endParaRPr lang="en-US" sz="14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에셋</a:t>
                      </a:r>
                      <a:endParaRPr lang="en-US" sz="14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모델 · 텍스처 · 재질 · 사운드 · 이펙트 · 폰트 · UI 그림</a:t>
                      </a:r>
                      <a:endParaRPr lang="en-US" sz="14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완성된 게임 템플릿을 이름만 바꿔 내지 않기</a:t>
                      </a:r>
                      <a:endParaRPr lang="en-US" sz="14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수업 자료</a:t>
                      </a:r>
                      <a:endParaRPr lang="en-US" sz="14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GameManager 등 수업 스크립트 재사용</a:t>
                      </a:r>
                      <a:endParaRPr lang="en-US" sz="14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다른 학생의 프로젝트 · 결과물 가져오지 않기</a:t>
                      </a:r>
                      <a:endParaRPr lang="en-US" sz="14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공통</a:t>
                      </a:r>
                      <a:endParaRPr lang="en-US" sz="14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여러 도구를 섞어 쓰기</a:t>
                      </a:r>
                      <a:endParaRPr lang="en-US" sz="14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쓴 것은 기록 · 유명 게임 · 캐릭터 · 로고 흉내 내지 않기</a:t>
                      </a:r>
                      <a:endParaRPr lang="en-US" sz="14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5532120"/>
            <a:ext cx="11091672" cy="548640"/>
          </a:xfrm>
          <a:prstGeom prst="roundRect">
            <a:avLst>
              <a:gd name="adj" fmla="val 16667"/>
            </a:avLst>
          </a:prstGeom>
          <a:solidFill>
            <a:srgbClr val="FDF0E4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77240" y="5660136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E07A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요약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2176272" y="5725668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2368296" y="5650992"/>
            <a:ext cx="9089136" cy="234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기록은 감시가 아니라 </a:t>
            </a:r>
            <a:pPr algn="l"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내가 도구를 얼마나 잘 썼는지 보여 주는 포트폴리오</a:t>
            </a:r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입니다.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KR"/>
                <a:ea typeface="Noto Sans KR"/>
                <a:cs typeface="Noto Sans KR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7A2E"/>
                </a:solidFill>
              </a:rPr>
              <a:t>AI를 쓰는 태도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8521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42B"/>
                </a:solidFill>
              </a:rPr>
              <a:t>AI와 기획하는 법 — 넓히고, 고르고, 줄이고, 검토받기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170432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6B78"/>
                </a:solidFill>
              </a:rPr>
              <a:t>실습 1에서 질문 양식 세 개를 그대로 씁니다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783080"/>
            <a:ext cx="11091672" cy="731520"/>
          </a:xfrm>
          <a:prstGeom prst="roundRect">
            <a:avLst>
              <a:gd name="adj" fmla="val 15000"/>
            </a:avLst>
          </a:prstGeom>
          <a:solidFill>
            <a:srgbClr val="F3F5F7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83080"/>
            <a:ext cx="109728" cy="731520"/>
          </a:xfrm>
          <a:prstGeom prst="rect">
            <a:avLst/>
          </a:prstGeom>
          <a:solidFill>
            <a:srgbClr val="2F6FEB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68680" y="178308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2F6F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넓히기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2926080" y="1783080"/>
            <a:ext cx="8503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조건(6주 · 3D · 한 판 3분 · 키 5개 · 무료 에셋)을 주고 아이디어 5개를 표로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48640" y="2651760"/>
            <a:ext cx="11091672" cy="731520"/>
          </a:xfrm>
          <a:prstGeom prst="roundRect">
            <a:avLst>
              <a:gd name="adj" fmla="val 15000"/>
            </a:avLst>
          </a:prstGeom>
          <a:solidFill>
            <a:srgbClr val="FDF0E4"/>
          </a:solidFill>
          <a:ln/>
        </p:spPr>
      </p:sp>
      <p:sp>
        <p:nvSpPr>
          <p:cNvPr id="10" name="Shape 8"/>
          <p:cNvSpPr/>
          <p:nvPr/>
        </p:nvSpPr>
        <p:spPr>
          <a:xfrm>
            <a:off x="548640" y="2651760"/>
            <a:ext cx="109728" cy="731520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68680" y="265176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E07A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고르기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2926080" y="2651760"/>
            <a:ext cx="8503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내가 하고 싶은 것 하나. 이 단계만은 AI에게 맡기지 않는다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548640" y="3520440"/>
            <a:ext cx="11091672" cy="731520"/>
          </a:xfrm>
          <a:prstGeom prst="roundRect">
            <a:avLst>
              <a:gd name="adj" fmla="val 15000"/>
            </a:avLst>
          </a:prstGeom>
          <a:solidFill>
            <a:srgbClr val="F3F5F7"/>
          </a:solidFill>
          <a:ln/>
        </p:spPr>
      </p:sp>
      <p:sp>
        <p:nvSpPr>
          <p:cNvPr id="14" name="Shape 12"/>
          <p:cNvSpPr/>
          <p:nvPr/>
        </p:nvSpPr>
        <p:spPr>
          <a:xfrm>
            <a:off x="548640" y="3520440"/>
            <a:ext cx="109728" cy="731520"/>
          </a:xfrm>
          <a:prstGeom prst="rect">
            <a:avLst/>
          </a:prstGeom>
          <a:solidFill>
            <a:srgbClr val="2F6FEB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68680" y="352044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2F6F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줄이기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2926080" y="3520440"/>
            <a:ext cx="8503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"꼭 필요한 기능 3개만 남겨 줘" — AI는 덜어내기를 잘한다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548640" y="4389120"/>
            <a:ext cx="11091672" cy="731520"/>
          </a:xfrm>
          <a:prstGeom prst="roundRect">
            <a:avLst>
              <a:gd name="adj" fmla="val 15000"/>
            </a:avLst>
          </a:prstGeom>
          <a:solidFill>
            <a:srgbClr val="F3F5F7"/>
          </a:solidFill>
          <a:ln/>
        </p:spPr>
      </p:sp>
      <p:sp>
        <p:nvSpPr>
          <p:cNvPr id="18" name="Shape 16"/>
          <p:cNvSpPr/>
          <p:nvPr/>
        </p:nvSpPr>
        <p:spPr>
          <a:xfrm>
            <a:off x="548640" y="4389120"/>
            <a:ext cx="109728" cy="731520"/>
          </a:xfrm>
          <a:prstGeom prst="rect">
            <a:avLst/>
          </a:prstGeom>
          <a:solidFill>
            <a:srgbClr val="2F6FEB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868680" y="438912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2F6F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검토받기</a:t>
            </a:r>
            <a:endParaRPr lang="en-US" sz="1800" dirty="0"/>
          </a:p>
        </p:txBody>
      </p:sp>
      <p:sp>
        <p:nvSpPr>
          <p:cNvPr id="20" name="Text 18"/>
          <p:cNvSpPr txBox="1"/>
          <p:nvPr/>
        </p:nvSpPr>
        <p:spPr>
          <a:xfrm>
            <a:off x="2926080" y="4389120"/>
            <a:ext cx="8503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"초보가 막힐 부분 3개와 단순하게 바꾸는 법" — 받아들일 것만 반영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548640" y="5349240"/>
            <a:ext cx="11091672" cy="548640"/>
          </a:xfrm>
          <a:prstGeom prst="roundRect">
            <a:avLst>
              <a:gd name="adj" fmla="val 16667"/>
            </a:avLst>
          </a:prstGeom>
          <a:solidFill>
            <a:srgbClr val="FDF0E4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777240" y="5477256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E07A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요약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2176272" y="5542788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2368296" y="5468112"/>
            <a:ext cx="9089136" cy="234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AI가 채워 준 양식은 그대로 붙이지 않고 </a:t>
            </a:r>
            <a:pPr algn="l"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내 말로 고쳐 옮깁니다.</a:t>
            </a:r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그 과정에서 내 게임이 됩니다.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KR"/>
                <a:ea typeface="Noto Sans KR"/>
                <a:cs typeface="Noto Sans KR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6400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E07A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실습으로 전환</a:t>
            </a:r>
            <a:endParaRPr lang="en-US" sz="1500" dirty="0"/>
          </a:p>
        </p:txBody>
      </p:sp>
      <p:sp>
        <p:nvSpPr>
          <p:cNvPr id="3" name="Shape 1"/>
          <p:cNvSpPr/>
          <p:nvPr/>
        </p:nvSpPr>
        <p:spPr>
          <a:xfrm>
            <a:off x="731520" y="1234440"/>
            <a:ext cx="1143000" cy="1143000"/>
          </a:xfrm>
          <a:prstGeom prst="roundRect">
            <a:avLst>
              <a:gd name="adj" fmla="val 4800"/>
            </a:avLst>
          </a:prstGeom>
          <a:solidFill>
            <a:srgbClr val="E07A2E"/>
          </a:solidFill>
          <a:ln/>
        </p:spPr>
      </p:sp>
      <p:sp>
        <p:nvSpPr>
          <p:cNvPr id="4" name="Shape 2"/>
          <p:cNvSpPr/>
          <p:nvPr/>
        </p:nvSpPr>
        <p:spPr>
          <a:xfrm>
            <a:off x="868680" y="1371600"/>
            <a:ext cx="868680" cy="868680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31520" y="1234440"/>
            <a:ext cx="1143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2148840" y="123444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실습 1 — AI와 함께 기획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2148840" y="187452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5F6B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아이디어를 넓히고, 하나를 고르고, 줄이고, 비평을 받아 1페이지 기획을 완성합니다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10058400" y="1280160"/>
            <a:ext cx="1600200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9050">
            <a:solidFill>
              <a:srgbClr val="E07A2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058400" y="1280160"/>
            <a:ext cx="1600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2600" b="1" dirty="0">
                <a:solidFill>
                  <a:srgbClr val="E07A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35분</a:t>
            </a:r>
            <a:endParaRPr lang="en-US" sz="2600" dirty="0"/>
          </a:p>
        </p:txBody>
      </p:sp>
      <p:sp>
        <p:nvSpPr>
          <p:cNvPr id="10" name="Shape 8"/>
          <p:cNvSpPr/>
          <p:nvPr/>
        </p:nvSpPr>
        <p:spPr>
          <a:xfrm>
            <a:off x="731520" y="2788920"/>
            <a:ext cx="10927080" cy="73152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1005840" y="2788920"/>
            <a:ext cx="10424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실습 슬라이드 2~7쪽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3840480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8C96A1"/>
          </a:solidFill>
          <a:ln/>
        </p:spPr>
      </p:sp>
      <p:sp>
        <p:nvSpPr>
          <p:cNvPr id="13" name="Shape 11"/>
          <p:cNvSpPr/>
          <p:nvPr/>
        </p:nvSpPr>
        <p:spPr>
          <a:xfrm>
            <a:off x="786384" y="3895344"/>
            <a:ext cx="347472" cy="347472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31520" y="3840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417320" y="3840480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질문 양식은 복사해서 [내 취향]만 바꾸면 됩니다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731520" y="4617720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8C96A1"/>
          </a:solidFill>
          <a:ln/>
        </p:spPr>
      </p:sp>
      <p:sp>
        <p:nvSpPr>
          <p:cNvPr id="17" name="Shape 15"/>
          <p:cNvSpPr/>
          <p:nvPr/>
        </p:nvSpPr>
        <p:spPr>
          <a:xfrm>
            <a:off x="786384" y="4672584"/>
            <a:ext cx="347472" cy="347472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31520" y="46177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1417320" y="4617720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고르기는 꼭 내가 — 하고 싶은 게임이어야 6주를 버팁니다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731520" y="5394960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8C96A1"/>
          </a:solidFill>
          <a:ln/>
        </p:spPr>
      </p:sp>
      <p:sp>
        <p:nvSpPr>
          <p:cNvPr id="21" name="Shape 19"/>
          <p:cNvSpPr/>
          <p:nvPr/>
        </p:nvSpPr>
        <p:spPr>
          <a:xfrm>
            <a:off x="786384" y="5449824"/>
            <a:ext cx="347472" cy="347472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731520" y="5394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1417320" y="5394960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AI와 나눈 대화 중 중요한 것은 AI 사용 기록에 한 줄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KR"/>
                <a:ea typeface="Noto Sans KR"/>
                <a:cs typeface="Noto Sans KR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097280"/>
            <a:ext cx="1188720" cy="1188720"/>
          </a:xfrm>
          <a:prstGeom prst="roundRect">
            <a:avLst>
              <a:gd name="adj" fmla="val 4615"/>
            </a:avLst>
          </a:prstGeom>
          <a:solidFill>
            <a:srgbClr val="E07A2E"/>
          </a:solidFill>
          <a:ln/>
        </p:spPr>
      </p:sp>
      <p:sp>
        <p:nvSpPr>
          <p:cNvPr id="3" name="Shape 1"/>
          <p:cNvSpPr/>
          <p:nvPr/>
        </p:nvSpPr>
        <p:spPr>
          <a:xfrm>
            <a:off x="874166" y="1239926"/>
            <a:ext cx="903427" cy="903427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31520" y="1097280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</a:t>
            </a:r>
            <a:endParaRPr lang="en-US" sz="4800" dirty="0"/>
          </a:p>
        </p:txBody>
      </p:sp>
      <p:sp>
        <p:nvSpPr>
          <p:cNvPr id="5" name="Text 3"/>
          <p:cNvSpPr txBox="1"/>
          <p:nvPr/>
        </p:nvSpPr>
        <p:spPr>
          <a:xfrm>
            <a:off x="2194560" y="11887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E07A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2교시 · 개념 12분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600200"/>
            <a:ext cx="9144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예쁜 게임은 무엇으로 만들어지나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2194560" y="2377440"/>
            <a:ext cx="9144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AEB7C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그림 실력보다 '고르고 맞추는' 실력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2194560" y="3337560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5B6672"/>
          </a:solidFill>
          <a:ln/>
        </p:spPr>
      </p:sp>
      <p:sp>
        <p:nvSpPr>
          <p:cNvPr id="9" name="Shape 7"/>
          <p:cNvSpPr/>
          <p:nvPr/>
        </p:nvSpPr>
        <p:spPr>
          <a:xfrm>
            <a:off x="2229673" y="3372673"/>
            <a:ext cx="222382" cy="222382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2194560" y="33375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2697480" y="3291840"/>
            <a:ext cx="8686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키 비주얼 — 한 장으로 방향 정하기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2194560" y="4023360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5B6672"/>
          </a:solidFill>
          <a:ln/>
        </p:spPr>
      </p:sp>
      <p:sp>
        <p:nvSpPr>
          <p:cNvPr id="13" name="Shape 11"/>
          <p:cNvSpPr/>
          <p:nvPr/>
        </p:nvSpPr>
        <p:spPr>
          <a:xfrm>
            <a:off x="2229673" y="4058473"/>
            <a:ext cx="222382" cy="222382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2194560" y="40233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2697480" y="3977640"/>
            <a:ext cx="8686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예쁘게 보이는 네 가지 요소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2194560" y="4709160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5B6672"/>
          </a:solidFill>
          <a:ln/>
        </p:spPr>
      </p:sp>
      <p:sp>
        <p:nvSpPr>
          <p:cNvPr id="17" name="Shape 15"/>
          <p:cNvSpPr/>
          <p:nvPr/>
        </p:nvSpPr>
        <p:spPr>
          <a:xfrm>
            <a:off x="2229673" y="4744273"/>
            <a:ext cx="222382" cy="222382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2194560" y="47091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2697480" y="4663440"/>
            <a:ext cx="8686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에셋 — 어디서 · 무엇을 고르나</a:t>
            </a:r>
            <a:endParaRPr lang="en-US" sz="1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7A2E"/>
                </a:solidFill>
              </a:rPr>
              <a:t>예쁘게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8521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42B"/>
                </a:solidFill>
              </a:rPr>
              <a:t>키 비주얼 — 완성된 장면을 먼저 그려 보기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170432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6B78"/>
                </a:solidFill>
              </a:rPr>
              <a:t>이미지 생성 AI로 '완성되면 이렇게 보일' 한 장면을 만들고, 그걸 6주의 기준으로 씁니다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783080"/>
            <a:ext cx="3547872" cy="2377440"/>
          </a:xfrm>
          <a:prstGeom prst="roundRect">
            <a:avLst>
              <a:gd name="adj" fmla="val 4615"/>
            </a:avLst>
          </a:prstGeom>
          <a:solidFill>
            <a:srgbClr val="F3F5F7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77240" y="192024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검색어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423160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그림에서 뽑은 스타일 키워드로 에셋을 찾는다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777240" y="3520440"/>
            <a:ext cx="1371600" cy="411480"/>
          </a:xfrm>
          <a:prstGeom prst="roundRect">
            <a:avLst>
              <a:gd name="adj" fmla="val 44444"/>
            </a:avLst>
          </a:prstGeom>
          <a:solidFill>
            <a:srgbClr val="FDF0E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77240" y="3520440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E07A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오늘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297680" y="1783080"/>
            <a:ext cx="3547872" cy="2377440"/>
          </a:xfrm>
          <a:prstGeom prst="roundRect">
            <a:avLst>
              <a:gd name="adj" fmla="val 4615"/>
            </a:avLst>
          </a:prstGeom>
          <a:solidFill>
            <a:srgbClr val="F3F5F7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526280" y="192024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색 · 빛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4526280" y="2423160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하늘색 · 빛 방향 · 분위기를 조명에 맞춘다</a:t>
            </a:r>
            <a:endParaRPr lang="en-US" sz="1450" dirty="0"/>
          </a:p>
        </p:txBody>
      </p:sp>
      <p:sp>
        <p:nvSpPr>
          <p:cNvPr id="13" name="Shape 11"/>
          <p:cNvSpPr/>
          <p:nvPr/>
        </p:nvSpPr>
        <p:spPr>
          <a:xfrm>
            <a:off x="4526280" y="3520440"/>
            <a:ext cx="1371600" cy="411480"/>
          </a:xfrm>
          <a:prstGeom prst="roundRect">
            <a:avLst>
              <a:gd name="adj" fmla="val 44444"/>
            </a:avLst>
          </a:prstGeom>
          <a:solidFill>
            <a:srgbClr val="FDF0E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526280" y="3520440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E07A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11주차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8046720" y="1783080"/>
            <a:ext cx="3547872" cy="2377440"/>
          </a:xfrm>
          <a:prstGeom prst="roundRect">
            <a:avLst>
              <a:gd name="adj" fmla="val 4615"/>
            </a:avLst>
          </a:prstGeom>
          <a:solidFill>
            <a:srgbClr val="F3F5F7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275320" y="192024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타이틀 배경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8275320" y="2423160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그대로 타이틀 화면에 깐다</a:t>
            </a:r>
            <a:endParaRPr lang="en-US" sz="1450" dirty="0"/>
          </a:p>
        </p:txBody>
      </p:sp>
      <p:sp>
        <p:nvSpPr>
          <p:cNvPr id="18" name="Shape 16"/>
          <p:cNvSpPr/>
          <p:nvPr/>
        </p:nvSpPr>
        <p:spPr>
          <a:xfrm>
            <a:off x="8275320" y="3520440"/>
            <a:ext cx="1371600" cy="411480"/>
          </a:xfrm>
          <a:prstGeom prst="roundRect">
            <a:avLst>
              <a:gd name="adj" fmla="val 44444"/>
            </a:avLst>
          </a:prstGeom>
          <a:solidFill>
            <a:srgbClr val="FDF0E4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8275320" y="3520440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E07A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12주차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548640" y="4434840"/>
            <a:ext cx="11091672" cy="1005840"/>
          </a:xfrm>
          <a:prstGeom prst="roundRect">
            <a:avLst>
              <a:gd name="adj" fmla="val 9091"/>
            </a:avLst>
          </a:prstGeom>
          <a:solidFill>
            <a:srgbClr val="FDF0E4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77240" y="4562856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E07A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요약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2176272" y="4628388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2368296" y="4553712"/>
            <a:ext cx="9089136" cy="469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이미지 질문에는 </a:t>
            </a:r>
            <a:pPr algn="l"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"글자는 넣지 말 것"</a:t>
            </a:r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을 꼭 넣습니다. 글자는 Unity에서 넣어야 깨끗하고 고칠 수 있습니다.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2176272" y="5135880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2368296" y="5061204"/>
            <a:ext cx="9089136" cy="234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유명 게임 · 캐릭터 · 로고를 흉내 내라고 요청하지 않습니다.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KR"/>
                <a:ea typeface="Noto Sans KR"/>
                <a:cs typeface="Noto Sans KR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7A2E"/>
                </a:solidFill>
              </a:rPr>
              <a:t>예쁘게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8521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42B"/>
                </a:solidFill>
              </a:rPr>
              <a:t>예쁘게 보이는 네 가지 요소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170432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6B78"/>
                </a:solidFill>
              </a:rPr>
              <a:t>모델 하나하나보다 '통일감'이 더 큰 차이를 만듭니다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783080"/>
            <a:ext cx="5394960" cy="1463040"/>
          </a:xfrm>
          <a:prstGeom prst="roundRect">
            <a:avLst>
              <a:gd name="adj" fmla="val 7500"/>
            </a:avLst>
          </a:prstGeom>
          <a:solidFill>
            <a:srgbClr val="F3F5F7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77240" y="192024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스타일 통일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423160"/>
            <a:ext cx="3840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에셋을 한 키트 · 비슷한 스타일에서 고른다. low poly끼리, 같은 색감끼리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480560" y="1947672"/>
            <a:ext cx="1280160" cy="384048"/>
          </a:xfrm>
          <a:prstGeom prst="roundRect">
            <a:avLst>
              <a:gd name="adj" fmla="val 47619"/>
            </a:avLst>
          </a:prstGeom>
          <a:solidFill>
            <a:srgbClr val="E8F0FE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480560" y="1947672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2F6F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10주차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153912" y="1783080"/>
            <a:ext cx="5394960" cy="1463040"/>
          </a:xfrm>
          <a:prstGeom prst="roundRect">
            <a:avLst>
              <a:gd name="adj" fmla="val 7500"/>
            </a:avLst>
          </a:prstGeom>
          <a:solidFill>
            <a:srgbClr val="F3F5F7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382512" y="192024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조명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6382512" y="2423160"/>
            <a:ext cx="3840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Directional Light 방향 · 색, 그림자, 하늘색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10085832" y="1947672"/>
            <a:ext cx="1280160" cy="384048"/>
          </a:xfrm>
          <a:prstGeom prst="roundRect">
            <a:avLst>
              <a:gd name="adj" fmla="val 47619"/>
            </a:avLst>
          </a:prstGeom>
          <a:solidFill>
            <a:srgbClr val="E8F0FE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0085832" y="1947672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2F6F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11주차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48640" y="3429000"/>
            <a:ext cx="5394960" cy="1463040"/>
          </a:xfrm>
          <a:prstGeom prst="roundRect">
            <a:avLst>
              <a:gd name="adj" fmla="val 7500"/>
            </a:avLst>
          </a:prstGeom>
          <a:solidFill>
            <a:srgbClr val="F3F5F7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77240" y="356616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포스트 프로세싱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4069080"/>
            <a:ext cx="3840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Bloom · Color Adjustments · Vignette로 마무리 톤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4480560" y="3593592"/>
            <a:ext cx="1280160" cy="384048"/>
          </a:xfrm>
          <a:prstGeom prst="roundRect">
            <a:avLst>
              <a:gd name="adj" fmla="val 47619"/>
            </a:avLst>
          </a:prstGeom>
          <a:solidFill>
            <a:srgbClr val="E8F0FE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4480560" y="3593592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2F6F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11주차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153912" y="3429000"/>
            <a:ext cx="5394960" cy="1463040"/>
          </a:xfrm>
          <a:prstGeom prst="roundRect">
            <a:avLst>
              <a:gd name="adj" fmla="val 7500"/>
            </a:avLst>
          </a:prstGeom>
          <a:solidFill>
            <a:srgbClr val="F3F5F7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382512" y="356616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카메라 · UI</a:t>
            </a:r>
            <a:endParaRPr lang="en-US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6382512" y="4069080"/>
            <a:ext cx="3840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보기 좋은 각도 · 타이틀 화면 · 읽기 쉬운 폰트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10085832" y="3593592"/>
            <a:ext cx="1280160" cy="384048"/>
          </a:xfrm>
          <a:prstGeom prst="roundRect">
            <a:avLst>
              <a:gd name="adj" fmla="val 47619"/>
            </a:avLst>
          </a:prstGeom>
          <a:solidFill>
            <a:srgbClr val="E8F0FE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10085832" y="3593592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2F6F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11 · 12주차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548640" y="5257800"/>
            <a:ext cx="11091672" cy="548640"/>
          </a:xfrm>
          <a:prstGeom prst="roundRect">
            <a:avLst>
              <a:gd name="adj" fmla="val 16667"/>
            </a:avLst>
          </a:prstGeom>
          <a:solidFill>
            <a:srgbClr val="FDF0E4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77240" y="5385816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E07A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요약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2176272" y="5451348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2368296" y="5376672"/>
            <a:ext cx="9089136" cy="234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오늘은 첫 번째 — </a:t>
            </a:r>
            <a:pPr algn="l"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스타일이 맞는 에셋 고르기</a:t>
            </a:r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까지. 나머지는 해당 주차에 실습합니다.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KR"/>
                <a:ea typeface="Noto Sans KR"/>
                <a:cs typeface="Noto Sans KR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7A2E"/>
                </a:solidFill>
              </a:rPr>
              <a:t>에셋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8521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42B"/>
                </a:solidFill>
              </a:rPr>
              <a:t>어디서 구하나 · 무엇을 고르나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170432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6B78"/>
                </a:solidFill>
              </a:rPr>
              <a:t>이 수업에서는 두 곳을 기본으로 씁니다. 소리는 6주차에 쓴 곳 그대로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5394960" cy="2286000"/>
          </a:xfrm>
          <a:prstGeom prst="roundRect">
            <a:avLst>
              <a:gd name="adj" fmla="val 4800"/>
            </a:avLst>
          </a:prstGeom>
          <a:solidFill>
            <a:srgbClr val="F3F5F7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77240" y="1938528"/>
            <a:ext cx="4937760" cy="3355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Unity Asset Store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804672" y="2419223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996696" y="2347214"/>
            <a:ext cx="4718304" cy="2263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assetstore.unity.com</a:t>
            </a:r>
            <a:pPr algn="l"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— Unity 공식 에셋 마켓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804672" y="2721737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996696" y="2649728"/>
            <a:ext cx="4718304" cy="4526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무료 필터 · Unity 계정으로 '내 에셋'에 담아 에디터에서 가져옴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804672" y="3250565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996696" y="3178556"/>
            <a:ext cx="4718304" cy="2263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라이선스: 대부분 Standard Unity Asset Store EULA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245352" y="1737360"/>
            <a:ext cx="5394960" cy="2286000"/>
          </a:xfrm>
          <a:prstGeom prst="roundRect">
            <a:avLst>
              <a:gd name="adj" fmla="val 4800"/>
            </a:avLst>
          </a:prstGeom>
          <a:solidFill>
            <a:srgbClr val="F3F5F7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473952" y="1938528"/>
            <a:ext cx="4937760" cy="3355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Kenney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6501384" y="2419223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93408" y="2347214"/>
            <a:ext cx="4718304" cy="2263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kenney.nl</a:t>
            </a:r>
            <a:pPr algn="l"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— 무료 게임 에셋 모음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6501384" y="2721737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693408" y="2649728"/>
            <a:ext cx="4718304" cy="2263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CC0(퍼블릭 도메인) — 출처 표기 의무 없음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6501384" y="3024251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693408" y="2952242"/>
            <a:ext cx="4718304" cy="2263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스타일이 통일된 키트 단위 → 섞어 쓰기 좋음</a:t>
            </a:r>
            <a:endParaRPr lang="en-US" sz="135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206240"/>
          <a:ext cx="11091672" cy="914400"/>
        </p:xfrm>
        <a:graphic>
          <a:graphicData uri="http://schemas.openxmlformats.org/drawingml/2006/table">
            <a:tbl>
              <a:tblPr/>
              <a:tblGrid>
                <a:gridCol w="4937760"/>
                <a:gridCol w="6153912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고를 때 확인</a:t>
                      </a:r>
                      <a:endParaRPr lang="en-US" sz="13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어디서 보나</a:t>
                      </a:r>
                      <a:endParaRPr lang="en-US" sz="13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무료 · 키 비주얼과 어울리는 스타일</a:t>
                      </a:r>
                      <a:endParaRPr lang="en-US" sz="13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검색 필터 Pricing → Free · 스타일 키워드로 검색</a:t>
                      </a:r>
                      <a:endParaRPr lang="en-US" sz="13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URP 호환 (아니면 분홍색으로 깨질 수 있음)</a:t>
                      </a:r>
                      <a:endParaRPr lang="en-US" sz="13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상품 페이지 Render pipeline compatibility</a:t>
                      </a:r>
                      <a:endParaRPr lang="en-US" sz="13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완성 게임 템플릿이 아닌 '재료'</a:t>
                      </a:r>
                      <a:endParaRPr lang="en-US" sz="13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이름에 Template · Complete Project · Kit가 있으면 내용 확인</a:t>
                      </a:r>
                      <a:endParaRPr lang="en-US" sz="13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KR"/>
                <a:ea typeface="Noto Sans KR"/>
                <a:cs typeface="Noto Sans KR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6400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E07A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실습으로 전환</a:t>
            </a:r>
            <a:endParaRPr lang="en-US" sz="1500" dirty="0"/>
          </a:p>
        </p:txBody>
      </p:sp>
      <p:sp>
        <p:nvSpPr>
          <p:cNvPr id="3" name="Shape 1"/>
          <p:cNvSpPr/>
          <p:nvPr/>
        </p:nvSpPr>
        <p:spPr>
          <a:xfrm>
            <a:off x="731520" y="1234440"/>
            <a:ext cx="1143000" cy="1143000"/>
          </a:xfrm>
          <a:prstGeom prst="roundRect">
            <a:avLst>
              <a:gd name="adj" fmla="val 4800"/>
            </a:avLst>
          </a:prstGeom>
          <a:solidFill>
            <a:srgbClr val="E07A2E"/>
          </a:solidFill>
          <a:ln/>
        </p:spPr>
      </p:sp>
      <p:sp>
        <p:nvSpPr>
          <p:cNvPr id="4" name="Shape 2"/>
          <p:cNvSpPr/>
          <p:nvPr/>
        </p:nvSpPr>
        <p:spPr>
          <a:xfrm>
            <a:off x="868680" y="1371600"/>
            <a:ext cx="868680" cy="868680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31520" y="1234440"/>
            <a:ext cx="1143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2~4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2148840" y="123444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실습 2~4 — 키 비주얼 · 프로젝트 · 에셋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2148840" y="187452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5F6B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AI로 키 비주얼을 만들고, 새 프로젝트를 만든 뒤, 스타일 키워드로 에셋을 고릅니다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10058400" y="1280160"/>
            <a:ext cx="1600200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9050">
            <a:solidFill>
              <a:srgbClr val="E07A2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058400" y="1280160"/>
            <a:ext cx="1600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2600" b="1" dirty="0">
                <a:solidFill>
                  <a:srgbClr val="E07A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38분</a:t>
            </a:r>
            <a:endParaRPr lang="en-US" sz="2600" dirty="0"/>
          </a:p>
        </p:txBody>
      </p:sp>
      <p:sp>
        <p:nvSpPr>
          <p:cNvPr id="10" name="Shape 8"/>
          <p:cNvSpPr/>
          <p:nvPr/>
        </p:nvSpPr>
        <p:spPr>
          <a:xfrm>
            <a:off x="731520" y="2788920"/>
            <a:ext cx="10927080" cy="73152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1005840" y="2788920"/>
            <a:ext cx="10424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실습 슬라이드 8~16쪽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3840480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8C96A1"/>
          </a:solidFill>
          <a:ln/>
        </p:spPr>
      </p:sp>
      <p:sp>
        <p:nvSpPr>
          <p:cNvPr id="13" name="Shape 11"/>
          <p:cNvSpPr/>
          <p:nvPr/>
        </p:nvSpPr>
        <p:spPr>
          <a:xfrm>
            <a:off x="786384" y="3895344"/>
            <a:ext cx="347472" cy="347472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31520" y="3840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417320" y="3840480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키 비주얼은 2~3번만 만들어 보고 고릅니다 — 완벽할 필요 없음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731520" y="4617720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8C96A1"/>
          </a:solidFill>
          <a:ln/>
        </p:spPr>
      </p:sp>
      <p:sp>
        <p:nvSpPr>
          <p:cNvPr id="17" name="Shape 15"/>
          <p:cNvSpPr/>
          <p:nvPr/>
        </p:nvSpPr>
        <p:spPr>
          <a:xfrm>
            <a:off x="786384" y="4672584"/>
            <a:ext cx="347472" cy="347472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31520" y="46177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1417320" y="4617720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에셋은 오늘 1~2개면 충분. 고르자마자 다운로드 시작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731520" y="5394960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8C96A1"/>
          </a:solidFill>
          <a:ln/>
        </p:spPr>
      </p:sp>
      <p:sp>
        <p:nvSpPr>
          <p:cNvPr id="21" name="Shape 19"/>
          <p:cNvSpPr/>
          <p:nvPr/>
        </p:nvSpPr>
        <p:spPr>
          <a:xfrm>
            <a:off x="786384" y="5449824"/>
            <a:ext cx="347472" cy="347472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731520" y="5394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1417320" y="5394960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어떤 도구로 무엇을 만들었는지 바로 기록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KR"/>
                <a:ea typeface="Noto Sans KR"/>
                <a:cs typeface="Noto Sans KR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7A2E"/>
                </a:solidFill>
              </a:rPr>
              <a:t>에셋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8521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42B"/>
                </a:solidFill>
              </a:rPr>
              <a:t>가져오는 흐름 · 분홍색 · 모델 입히기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170432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6B78"/>
                </a:solidFill>
              </a:rPr>
              <a:t>자세한 순서는 실습 슬라이드에 있습니다. 여기서는 전체 그림만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783080"/>
            <a:ext cx="2011680" cy="1600200"/>
          </a:xfrm>
          <a:prstGeom prst="roundRect">
            <a:avLst>
              <a:gd name="adj" fmla="val 6857"/>
            </a:avLst>
          </a:prstGeom>
          <a:solidFill>
            <a:srgbClr val="E8F0FE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87452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2F6F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웹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2240280"/>
            <a:ext cx="1783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Add to</a:t>
            </a:r>
            <a:endParaRPr lang="en-US" sz="14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My Assets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2560320" y="2423160"/>
            <a:ext cx="274320" cy="292608"/>
          </a:xfrm>
          <a:prstGeom prst="rightArrow">
            <a:avLst/>
          </a:prstGeom>
          <a:solidFill>
            <a:srgbClr val="D9DEE4"/>
          </a:solidFill>
          <a:ln/>
        </p:spPr>
      </p:sp>
      <p:sp>
        <p:nvSpPr>
          <p:cNvPr id="9" name="Shape 7"/>
          <p:cNvSpPr/>
          <p:nvPr/>
        </p:nvSpPr>
        <p:spPr>
          <a:xfrm>
            <a:off x="2834640" y="1783080"/>
            <a:ext cx="2011680" cy="1600200"/>
          </a:xfrm>
          <a:prstGeom prst="roundRect">
            <a:avLst>
              <a:gd name="adj" fmla="val 6857"/>
            </a:avLst>
          </a:prstGeom>
          <a:solidFill>
            <a:srgbClr val="E5F4EC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2971800" y="187452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23905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에디터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2971800" y="2240280"/>
            <a:ext cx="1783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Package</a:t>
            </a:r>
            <a:endParaRPr lang="en-US" sz="14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Manager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846320" y="2423160"/>
            <a:ext cx="274320" cy="292608"/>
          </a:xfrm>
          <a:prstGeom prst="rightArrow">
            <a:avLst/>
          </a:prstGeom>
          <a:solidFill>
            <a:srgbClr val="D9DEE4"/>
          </a:solidFill>
          <a:ln/>
        </p:spPr>
      </p:sp>
      <p:sp>
        <p:nvSpPr>
          <p:cNvPr id="13" name="Shape 11"/>
          <p:cNvSpPr/>
          <p:nvPr/>
        </p:nvSpPr>
        <p:spPr>
          <a:xfrm>
            <a:off x="5120640" y="1783080"/>
            <a:ext cx="2011680" cy="1600200"/>
          </a:xfrm>
          <a:prstGeom prst="roundRect">
            <a:avLst>
              <a:gd name="adj" fmla="val 6857"/>
            </a:avLst>
          </a:prstGeom>
          <a:solidFill>
            <a:srgbClr val="E5F4EC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257800" y="187452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23905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에디터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257800" y="2240280"/>
            <a:ext cx="1783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My Assets →</a:t>
            </a:r>
            <a:endParaRPr lang="en-US" sz="14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Download → Import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132320" y="2423160"/>
            <a:ext cx="274320" cy="292608"/>
          </a:xfrm>
          <a:prstGeom prst="rightArrow">
            <a:avLst/>
          </a:prstGeom>
          <a:solidFill>
            <a:srgbClr val="D9DEE4"/>
          </a:solidFill>
          <a:ln/>
        </p:spPr>
      </p:sp>
      <p:sp>
        <p:nvSpPr>
          <p:cNvPr id="17" name="Shape 15"/>
          <p:cNvSpPr/>
          <p:nvPr/>
        </p:nvSpPr>
        <p:spPr>
          <a:xfrm>
            <a:off x="7406640" y="1783080"/>
            <a:ext cx="2011680" cy="1600200"/>
          </a:xfrm>
          <a:prstGeom prst="roundRect">
            <a:avLst>
              <a:gd name="adj" fmla="val 6857"/>
            </a:avLst>
          </a:prstGeom>
          <a:solidFill>
            <a:srgbClr val="E5F4EC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543800" y="187452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23905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에디터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7543800" y="2240280"/>
            <a:ext cx="1783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분홍색이면</a:t>
            </a:r>
            <a:endParaRPr lang="en-US" sz="14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URP로 변환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9418320" y="2423160"/>
            <a:ext cx="274320" cy="292608"/>
          </a:xfrm>
          <a:prstGeom prst="rightArrow">
            <a:avLst/>
          </a:prstGeom>
          <a:solidFill>
            <a:srgbClr val="D9DEE4"/>
          </a:solidFill>
          <a:ln/>
        </p:spPr>
      </p:sp>
      <p:sp>
        <p:nvSpPr>
          <p:cNvPr id="21" name="Shape 19"/>
          <p:cNvSpPr/>
          <p:nvPr/>
        </p:nvSpPr>
        <p:spPr>
          <a:xfrm>
            <a:off x="9692640" y="1783080"/>
            <a:ext cx="2011680" cy="1600200"/>
          </a:xfrm>
          <a:prstGeom prst="roundRect">
            <a:avLst>
              <a:gd name="adj" fmla="val 6857"/>
            </a:avLst>
          </a:prstGeom>
          <a:solidFill>
            <a:srgbClr val="E5F4EC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9829800" y="187452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23905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에디터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9829800" y="2240280"/>
            <a:ext cx="1783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모델을 Player의</a:t>
            </a:r>
            <a:endParaRPr lang="en-US" sz="14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자식으로</a:t>
            </a:r>
            <a:endParaRPr lang="en-US" sz="14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611880"/>
          <a:ext cx="1109167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165592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메뉴 (Unity 6.3)</a:t>
                      </a:r>
                      <a:endParaRPr lang="en-US" sz="13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Package Manager</a:t>
                      </a:r>
                      <a:endParaRPr lang="en-US" sz="13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Window &gt; Package Management &gt; Package Manager</a:t>
                      </a:r>
                      <a:endParaRPr lang="en-US" sz="13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URP 변환 (전체)</a:t>
                      </a:r>
                      <a:endParaRPr lang="en-US" sz="13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Window &gt; Rendering &gt; Render Pipeline Converter → Built-in to URP → Material Upgrade</a:t>
                      </a:r>
                      <a:endParaRPr lang="en-US" sz="13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URP 변환 (고른 재질)</a:t>
                      </a:r>
                      <a:endParaRPr lang="en-US" sz="13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Edit &gt; Rendering &gt; Materials &gt; Convert Selected Built-in Materials to URP</a:t>
                      </a:r>
                      <a:endParaRPr lang="en-US" sz="13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hape 22"/>
          <p:cNvSpPr/>
          <p:nvPr/>
        </p:nvSpPr>
        <p:spPr>
          <a:xfrm>
            <a:off x="548640" y="5623560"/>
            <a:ext cx="11091672" cy="502920"/>
          </a:xfrm>
          <a:prstGeom prst="roundRect">
            <a:avLst>
              <a:gd name="adj" fmla="val 18182"/>
            </a:avLst>
          </a:prstGeom>
          <a:solidFill>
            <a:srgbClr val="FDF0E4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777240" y="5751576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E07A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주의</a:t>
            </a:r>
            <a:endParaRPr lang="en-US" sz="1300" dirty="0"/>
          </a:p>
        </p:txBody>
      </p:sp>
      <p:sp>
        <p:nvSpPr>
          <p:cNvPr id="27" name="Shape 24"/>
          <p:cNvSpPr/>
          <p:nvPr/>
        </p:nvSpPr>
        <p:spPr>
          <a:xfrm>
            <a:off x="2176272" y="5817108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2368296" y="5742432"/>
            <a:ext cx="9089136" cy="234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라이선스: Asset Store 에셋 </a:t>
            </a:r>
            <a:pPr algn="l"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파일 자체를 공개 저장소에 올리지 않습니다</a:t>
            </a:r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. 빌드한 게임은 괜찮습니다.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KR"/>
                <a:ea typeface="Noto Sans KR"/>
                <a:cs typeface="Noto Sans KR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7A2E"/>
                </a:solidFill>
              </a:rPr>
              <a:t>AI 코드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8521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42B"/>
                </a:solidFill>
              </a:rPr>
              <a:t>Unity 6에서 AI가 자주 헷갈리는 것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170432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6B78"/>
                </a:solidFill>
              </a:rPr>
              <a:t>AI가 배운 자료에는 예전 버전이 많습니다. 질문 첫 줄에 버전을 적으면 대부분 해결됩니다</a:t>
            </a:r>
            <a:endParaRPr lang="en-US" sz="15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11091672" cy="914400"/>
        </p:xfrm>
        <a:graphic>
          <a:graphicData uri="http://schemas.openxmlformats.org/drawingml/2006/table">
            <a:tbl>
              <a:tblPr/>
              <a:tblGrid>
                <a:gridCol w="3383280"/>
                <a:gridCol w="4480560"/>
                <a:gridCol w="3227832"/>
              </a:tblGrid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AI가 자주 주는 것 (예전)</a:t>
                      </a:r>
                      <a:endParaRPr lang="en-US" sz="13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Unity 6.3 · 우리 수업</a:t>
                      </a:r>
                      <a:endParaRPr lang="en-US" sz="13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그대로 쓰면</a:t>
                      </a:r>
                      <a:endParaRPr lang="en-US" sz="13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Input.GetKey · Input.GetAxis</a:t>
                      </a:r>
                      <a:endParaRPr lang="en-US" sz="13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Keyboard.current · Mouse.current (New Input System)</a:t>
                      </a:r>
                      <a:endParaRPr lang="en-US" sz="13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Play하면 InvalidOperationException</a:t>
                      </a:r>
                      <a:endParaRPr lang="en-US" sz="13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rb.velocity</a:t>
                      </a:r>
                      <a:endParaRPr lang="en-US" sz="13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rb.linearVelocity</a:t>
                      </a:r>
                      <a:endParaRPr lang="en-US" sz="13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옛 이름 — 경고 또는 자동 변환</a:t>
                      </a:r>
                      <a:endParaRPr lang="en-US" sz="13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FindObjectOfType</a:t>
                      </a:r>
                      <a:endParaRPr lang="en-US" sz="13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FindFirstObjectByType · FindAnyObjectByType</a:t>
                      </a:r>
                      <a:endParaRPr lang="en-US" sz="13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옛 이름 — 경고</a:t>
                      </a:r>
                      <a:endParaRPr lang="en-US" sz="13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File &gt; Build Settings</a:t>
                      </a:r>
                      <a:endParaRPr lang="en-US" sz="13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File &gt; Build Profiles</a:t>
                      </a:r>
                      <a:endParaRPr lang="en-US" sz="13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메뉴가 안 보임</a:t>
                      </a:r>
                      <a:endParaRPr lang="en-US" sz="13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GameObject &gt; UI &gt; Text</a:t>
                      </a:r>
                      <a:endParaRPr lang="en-US" sz="13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GameObject &gt; UI (Canvas) &gt; Text - TextMeshPro</a:t>
                      </a:r>
                      <a:endParaRPr lang="en-US" sz="13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메뉴 이름이 다름</a:t>
                      </a:r>
                      <a:endParaRPr lang="en-US" sz="13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5257800"/>
            <a:ext cx="11091672" cy="731520"/>
          </a:xfrm>
          <a:prstGeom prst="roundRect">
            <a:avLst>
              <a:gd name="adj" fmla="val 12500"/>
            </a:avLst>
          </a:prstGeom>
          <a:solidFill>
            <a:srgbClr val="FDF0E4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77240" y="5385816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E07A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요약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2176272" y="5451348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2368296" y="5376672"/>
            <a:ext cx="9089136" cy="469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질문 첫 줄: </a:t>
            </a:r>
            <a:pPr algn="l"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"Unity 6.3 LTS · URP · New Input System만"</a:t>
            </a:r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. 받은 코드는 실습 7의 다섯 가지로 확인하고, 모르는 줄은 AI에게 물어서 이해합니다.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KR"/>
                <a:ea typeface="Noto Sans KR"/>
                <a:cs typeface="Noto Sans KR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7A2E"/>
                </a:solidFill>
              </a:rPr>
              <a:t>AI 코드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8521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42B"/>
                </a:solidFill>
              </a:rPr>
              <a:t>에디터 안의 Unity AI는?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170432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6B78"/>
                </a:solidFill>
              </a:rPr>
              <a:t>Unity 6.3에도 AI(Assistant · Generators)가 있습니다. 써 봐도 좋지만 수업의 기본 도구는 아닙니다</a:t>
            </a:r>
            <a:endParaRPr lang="en-US" sz="15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1109167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714232"/>
              </a:tblGrid>
              <a:tr h="685800">
                <a:tc>
                  <a:txBody>
                    <a:bodyPr/>
                    <a:lstStyle/>
                    <a:p>
                      <a:endParaRPr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내용 (확인 시점: 2026년 5월 Unity 공식 블로그)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무엇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에디터 툴바의 AI 버튼 → Assistant(질문 · 계획 · 작업 수행) · Generators(스프라이트 · 텍스처 · 애니메이션 · 소리 생성)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상태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오픈 베타 — 기능 · 제공 방식이 예고 없이 바뀔 수 있음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Personal 라이선스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처음 14일 동안 무료 크레딧 1,000 — 그 뒤 계속 쓰는 조건은 플랜에 따라 다르고 바뀔 수 있음</a:t>
                      </a:r>
                      <a:endParaRPr lang="en-US" sz="13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4846320"/>
            <a:ext cx="11091672" cy="731520"/>
          </a:xfrm>
          <a:prstGeom prst="roundRect">
            <a:avLst>
              <a:gd name="adj" fmla="val 12500"/>
            </a:avLst>
          </a:prstGeom>
          <a:solidFill>
            <a:srgbClr val="FDF0E4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77240" y="4974336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E07A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참고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2176272" y="5039868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2368296" y="4965192"/>
            <a:ext cx="9089136" cy="469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학기 내내 무료로 쓰기 어려워 </a:t>
            </a:r>
            <a:pPr algn="l"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브라우저의 AI 챗봇 · 이미지 생성 AI를 기본 도구</a:t>
            </a:r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로 씁니다. Unity AI를 써 봤다면 그것도 기록에 적습니다.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KR"/>
                <a:ea typeface="Noto Sans KR"/>
                <a:cs typeface="Noto Sans KR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6400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E07A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실습으로 전환</a:t>
            </a:r>
            <a:endParaRPr lang="en-US" sz="1500" dirty="0"/>
          </a:p>
        </p:txBody>
      </p:sp>
      <p:sp>
        <p:nvSpPr>
          <p:cNvPr id="3" name="Shape 1"/>
          <p:cNvSpPr/>
          <p:nvPr/>
        </p:nvSpPr>
        <p:spPr>
          <a:xfrm>
            <a:off x="731520" y="1234440"/>
            <a:ext cx="1143000" cy="1143000"/>
          </a:xfrm>
          <a:prstGeom prst="roundRect">
            <a:avLst>
              <a:gd name="adj" fmla="val 4800"/>
            </a:avLst>
          </a:prstGeom>
          <a:solidFill>
            <a:srgbClr val="E07A2E"/>
          </a:solidFill>
          <a:ln/>
        </p:spPr>
      </p:sp>
      <p:sp>
        <p:nvSpPr>
          <p:cNvPr id="4" name="Shape 2"/>
          <p:cNvSpPr/>
          <p:nvPr/>
        </p:nvSpPr>
        <p:spPr>
          <a:xfrm>
            <a:off x="868680" y="1371600"/>
            <a:ext cx="868680" cy="868680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31520" y="1234440"/>
            <a:ext cx="1143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5~7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2148840" y="123444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실습 5~7 — 가져오기 · 모델 · AI 코드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2148840" y="187452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5F6B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에셋을 가져와 플레이어에 입히고, AI에게 받은 이동 스크립트로 움직입니다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10058400" y="1280160"/>
            <a:ext cx="1600200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9050">
            <a:solidFill>
              <a:srgbClr val="E07A2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058400" y="1280160"/>
            <a:ext cx="1600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2600" b="1" dirty="0">
                <a:solidFill>
                  <a:srgbClr val="E07A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35분</a:t>
            </a:r>
            <a:endParaRPr lang="en-US" sz="2600" dirty="0"/>
          </a:p>
        </p:txBody>
      </p:sp>
      <p:sp>
        <p:nvSpPr>
          <p:cNvPr id="10" name="Shape 8"/>
          <p:cNvSpPr/>
          <p:nvPr/>
        </p:nvSpPr>
        <p:spPr>
          <a:xfrm>
            <a:off x="731520" y="2788920"/>
            <a:ext cx="10927080" cy="73152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1005840" y="2788920"/>
            <a:ext cx="10424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1E24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실습 슬라이드 17~31쪽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3840480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8C96A1"/>
          </a:solidFill>
          <a:ln/>
        </p:spPr>
      </p:sp>
      <p:sp>
        <p:nvSpPr>
          <p:cNvPr id="13" name="Shape 11"/>
          <p:cNvSpPr/>
          <p:nvPr/>
        </p:nvSpPr>
        <p:spPr>
          <a:xfrm>
            <a:off x="786384" y="3895344"/>
            <a:ext cx="347472" cy="347472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31520" y="3840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417320" y="3840480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분홍색이 나오면 실습 5의 변환 쪽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731520" y="4617720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8C96A1"/>
          </a:solidFill>
          <a:ln/>
        </p:spPr>
      </p:sp>
      <p:sp>
        <p:nvSpPr>
          <p:cNvPr id="17" name="Shape 15"/>
          <p:cNvSpPr/>
          <p:nvPr/>
        </p:nvSpPr>
        <p:spPr>
          <a:xfrm>
            <a:off x="786384" y="4672584"/>
            <a:ext cx="347472" cy="347472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31520" y="46177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1417320" y="4617720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 답이 예시 답과 달라도 다섯 가지 확인을 통과하면 OK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731520" y="5394960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8C96A1"/>
          </a:solidFill>
          <a:ln/>
        </p:spPr>
      </p:sp>
      <p:sp>
        <p:nvSpPr>
          <p:cNvPr id="21" name="Shape 19"/>
          <p:cNvSpPr/>
          <p:nvPr/>
        </p:nvSpPr>
        <p:spPr>
          <a:xfrm>
            <a:off x="786384" y="5449824"/>
            <a:ext cx="347472" cy="347472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731520" y="5394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1417320" y="5394960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시간이 남으면 (선택) 키 비주얼을 타이틀 배경으로 깔아 보기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KR"/>
                <a:ea typeface="Noto Sans KR"/>
                <a:cs typeface="Noto Sans KR"/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7A2E"/>
                </a:solidFill>
              </a:rPr>
              <a:t>과제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8521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42B"/>
                </a:solidFill>
              </a:rPr>
              <a:t>이번 주 과제 — 11/9(월) 수업 전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170432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6B78"/>
                </a:solidFill>
              </a:rPr>
              <a:t>프로젝트 노트(PDF) 하나로 제출. 자세한 내용은 과제 안내 슬라이드</a:t>
            </a:r>
            <a:endParaRPr lang="en-US" sz="15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11091672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2743200"/>
                <a:gridCol w="7616952"/>
              </a:tblGrid>
              <a:tr h="5120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#</a:t>
                      </a:r>
                      <a:endParaRPr lang="en-US" sz="14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낼 것</a:t>
                      </a:r>
                      <a:endParaRPr lang="en-US" sz="14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기준</a:t>
                      </a:r>
                      <a:endParaRPr lang="en-US" sz="14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</a:t>
                      </a:r>
                      <a:endParaRPr lang="en-US" sz="14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기획 1페이지</a:t>
                      </a:r>
                      <a:endParaRPr lang="en-US" sz="14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AI와 만든 기획을 내 말로 · 크기 점검 · 고른 이유</a:t>
                      </a:r>
                      <a:endParaRPr lang="en-US" sz="14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2</a:t>
                      </a:r>
                      <a:endParaRPr lang="en-US" sz="14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키 비주얼</a:t>
                      </a:r>
                      <a:endParaRPr lang="en-US" sz="14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AI로 만든 타이틀 배경 후보 1장 + 스타일 키워드 3개</a:t>
                      </a:r>
                      <a:endParaRPr lang="en-US" sz="14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3</a:t>
                      </a:r>
                      <a:endParaRPr lang="en-US" sz="14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에셋 목록</a:t>
                      </a:r>
                      <a:endParaRPr lang="en-US" sz="14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후보 5개 이상 · 그중 3개 이상 가져와 씬에 배치</a:t>
                      </a:r>
                      <a:endParaRPr lang="en-US" sz="14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4</a:t>
                      </a:r>
                      <a:endParaRPr lang="en-US" sz="14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첫 조작</a:t>
                      </a:r>
                      <a:endParaRPr lang="en-US" sz="14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모델을 입힌 플레이어가 움직임</a:t>
                      </a:r>
                      <a:endParaRPr lang="en-US" sz="14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5</a:t>
                      </a:r>
                      <a:endParaRPr lang="en-US" sz="14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AI 사용 기록</a:t>
                      </a:r>
                      <a:endParaRPr lang="en-US" sz="14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3줄 이상 (기획 · 이미지 · 코드 각 1줄)</a:t>
                      </a:r>
                      <a:endParaRPr lang="en-US" sz="14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6</a:t>
                      </a:r>
                      <a:endParaRPr lang="en-US" sz="14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스크린샷</a:t>
                      </a:r>
                      <a:endParaRPr lang="en-US" sz="14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A43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Scene 뷰 1장 + Game 뷰(Play 중) 1장</a:t>
                      </a:r>
                      <a:endParaRPr lang="en-US" sz="14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5486400"/>
            <a:ext cx="11091672" cy="594360"/>
          </a:xfrm>
          <a:prstGeom prst="roundRect">
            <a:avLst>
              <a:gd name="adj" fmla="val 15385"/>
            </a:avLst>
          </a:prstGeom>
          <a:solidFill>
            <a:srgbClr val="FDF0E4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77240" y="5614416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E07A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요약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2176272" y="5679948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2368296" y="5605272"/>
            <a:ext cx="9089136" cy="469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다음 주(9주차) 목표는 </a:t>
            </a:r>
            <a:pPr algn="l"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'회색으로 한 판이 도는 게임'</a:t>
            </a:r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입니다. 핵심 규칙을 AI와 미리 이야기해 보고 오세요.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KR"/>
                <a:ea typeface="Noto Sans KR"/>
                <a:cs typeface="Noto Sans KR"/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GrayBox">
  <a:themeElements>
    <a:clrScheme name="GrayBox">
      <a:dk1>
        <a:srgbClr val="1E242B"/>
      </a:dk1>
      <a:lt1>
        <a:srgbClr val="FFFFFF"/>
      </a:lt1>
      <a:dk2>
        <a:srgbClr val="3A434D"/>
      </a:dk2>
      <a:lt2>
        <a:srgbClr val="F3F5F7"/>
      </a:lt2>
      <a:accent1>
        <a:srgbClr val="E07A2E"/>
      </a:accent1>
      <a:accent2>
        <a:srgbClr val="2F6FEB"/>
      </a:accent2>
      <a:accent3>
        <a:srgbClr val="23905A"/>
      </a:accent3>
      <a:accent4>
        <a:srgbClr val="D04444"/>
      </a:accent4>
      <a:accent5>
        <a:srgbClr val="8C96A1"/>
      </a:accent5>
      <a:accent6>
        <a:srgbClr val="7A5AF8"/>
      </a:accent6>
      <a:hlink>
        <a:srgbClr val="2F6FEB"/>
      </a:hlink>
      <a:folHlink>
        <a:srgbClr val="7A5AF8"/>
      </a:folHlink>
    </a:clrScheme>
    <a:fontScheme name="GrayBox">
      <a:majorFont>
        <a:latin typeface="Noto Sans K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Noto Sans K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박정원</dc:creator>
  <cp:lastModifiedBy>박정원</cp:lastModifiedBy>
  <cp:revision>1</cp:revision>
  <dcterms:created xsi:type="dcterms:W3CDTF">2026-11-01T18:39:21Z</dcterms:created>
  <dcterms:modified xsi:type="dcterms:W3CDTF">2026-11-01T18:39:21Z</dcterms:modified>
</cp:coreProperties>
</file>