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cba8ff28-70a7-2fb6-9542-9e4030722995}">
          <p14:sldIdLst>
            <p14:sldId id="256"/>
          </p14:sldIdLst>
        </p14:section>
        <p14:section name="실습 1" id="{9475e35e-823c-5989-4383-5e39c5d480f2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실습 2" id="{0bbdf550-6d49-f525-362c-76051d8cf8dd}">
          <p14:sldIdLst>
            <p14:sldId id="264"/>
            <p14:sldId id="265"/>
            <p14:sldId id="266"/>
          </p14:sldIdLst>
        </p14:section>
        <p14:section name="실습 3" id="{7a152942-cabf-0319-b8d9-4d02d27af4c5}">
          <p14:sldIdLst>
            <p14:sldId id="267"/>
            <p14:sldId id="268"/>
            <p14:sldId id="269"/>
          </p14:sldIdLst>
        </p14:section>
        <p14:section name="실습 4" id="{03c0f3f0-2de5-f89a-4e10-a01c75cf1721}">
          <p14:sldIdLst>
            <p14:sldId id="270"/>
            <p14:sldId id="271"/>
            <p14:sldId id="272"/>
          </p14:sldIdLst>
        </p14:section>
        <p14:section name="실습 5" id="{f10306a7-125a-e6bb-dcee-f0b68ef9bb01}">
          <p14:sldIdLst>
            <p14:sldId id="273"/>
            <p14:sldId id="274"/>
            <p14:sldId id="275"/>
            <p14:sldId id="276"/>
            <p14:sldId id="277"/>
          </p14:sldIdLst>
        </p14:section>
        <p14:section name="실습 6" id="{43dfe153-52a0-9f79-5f5b-e0ad45a669f3}">
          <p14:sldIdLst>
            <p14:sldId id="278"/>
            <p14:sldId id="279"/>
          </p14:sldIdLst>
        </p14:section>
        <p14:section name="실습 7" id="{080c8f6a-42b7-a05f-bbda-7db6cd9b88db}">
          <p14:sldIdLst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</p14:sldIdLst>
        </p14:section>
        <p14:section name="마무리" id="{3fc3a42b-4f0f-4cfa-08a0-553c00409419}">
          <p14:sldIdLst>
            <p14:sldId id="288"/>
            <p14:sldId id="28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E07A2E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E242B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rgbClr val="5F6B78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5" name="Text 0"/>
          <p:cNvSpPr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96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게임엔진기초 · 8주차 실습 · Unity 6.3 LTS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E2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WITCH">
    <p:bg>
      <p:bgPr>
        <a:solidFill>
          <a:srgbClr val="FDF0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96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게임엔진기초 · 8주차 실습 · Unity 6.3 LTS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356616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8C96A1"/>
          </a:solidFill>
          <a:ln/>
        </p:spPr>
      </p:sp>
      <p:sp>
        <p:nvSpPr>
          <p:cNvPr id="3" name="Shape 1"/>
          <p:cNvSpPr/>
          <p:nvPr/>
        </p:nvSpPr>
        <p:spPr>
          <a:xfrm>
            <a:off x="8522208" y="367588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412480" y="35661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464040" y="356616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8C96A1"/>
          </a:solidFill>
          <a:ln/>
        </p:spPr>
      </p:sp>
      <p:sp>
        <p:nvSpPr>
          <p:cNvPr id="6" name="Shape 4"/>
          <p:cNvSpPr/>
          <p:nvPr/>
        </p:nvSpPr>
        <p:spPr>
          <a:xfrm>
            <a:off x="9573768" y="367588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464040" y="35661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10515600" y="356616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8C96A1"/>
          </a:solidFill>
          <a:ln/>
        </p:spPr>
      </p:sp>
      <p:sp>
        <p:nvSpPr>
          <p:cNvPr id="9" name="Shape 7"/>
          <p:cNvSpPr/>
          <p:nvPr/>
        </p:nvSpPr>
        <p:spPr>
          <a:xfrm>
            <a:off x="10625328" y="367588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35661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8938260" y="251460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8C96A1"/>
          </a:solidFill>
          <a:ln/>
        </p:spPr>
      </p:sp>
      <p:sp>
        <p:nvSpPr>
          <p:cNvPr id="12" name="Shape 10"/>
          <p:cNvSpPr/>
          <p:nvPr/>
        </p:nvSpPr>
        <p:spPr>
          <a:xfrm>
            <a:off x="9047988" y="262432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938260" y="2514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989820" y="251460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2F6FEB"/>
          </a:solidFill>
          <a:ln/>
        </p:spPr>
      </p:sp>
      <p:sp>
        <p:nvSpPr>
          <p:cNvPr id="15" name="Shape 13"/>
          <p:cNvSpPr/>
          <p:nvPr/>
        </p:nvSpPr>
        <p:spPr>
          <a:xfrm>
            <a:off x="10099548" y="262432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989820" y="2514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9464040" y="146304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E07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573768" y="157276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464040" y="14630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20" name="Shape 18"/>
          <p:cNvSpPr/>
          <p:nvPr/>
        </p:nvSpPr>
        <p:spPr>
          <a:xfrm>
            <a:off x="8046720" y="4663440"/>
            <a:ext cx="3931920" cy="164592"/>
          </a:xfrm>
          <a:prstGeom prst="roundRect">
            <a:avLst>
              <a:gd name="adj" fmla="val 27778"/>
            </a:avLst>
          </a:prstGeom>
          <a:solidFill>
            <a:srgbClr val="3A434D"/>
          </a:solidFill>
          <a:ln/>
        </p:spPr>
      </p:sp>
      <p:sp>
        <p:nvSpPr>
          <p:cNvPr id="21" name="Shape 19"/>
          <p:cNvSpPr/>
          <p:nvPr/>
        </p:nvSpPr>
        <p:spPr>
          <a:xfrm>
            <a:off x="731520" y="73152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E07A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0" y="73152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슬라이드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13258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AEB7C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동명대학교 게임그래픽학과 · 게임엔진기초 8주차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178308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오늘부터 시작.</a:t>
            </a:r>
            <a:endParaRPr lang="en-US" sz="3600" dirty="0"/>
          </a:p>
        </p:txBody>
      </p:sp>
      <p:sp>
        <p:nvSpPr>
          <p:cNvPr id="25" name="Text 23"/>
          <p:cNvSpPr txBox="1"/>
          <p:nvPr/>
        </p:nvSpPr>
        <p:spPr>
          <a:xfrm>
            <a:off x="731520" y="25146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AI와 에셋으로 한 달간</a:t>
            </a:r>
            <a:endParaRPr lang="en-US" sz="3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만들어 보는 게임 프로젝트</a:t>
            </a:r>
            <a:endParaRPr lang="en-US" sz="3000" dirty="0"/>
          </a:p>
        </p:txBody>
      </p:sp>
      <p:sp>
        <p:nvSpPr>
          <p:cNvPr id="26" name="Text 24"/>
          <p:cNvSpPr txBox="1"/>
          <p:nvPr/>
        </p:nvSpPr>
        <p:spPr>
          <a:xfrm>
            <a:off x="731520" y="393192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D5DBE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AI와 함께 기획하고 키 비주얼을 만든 뒤, 새 프로젝트에서 에셋을 입힌 플레이어를 움직입니다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" y="5120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C96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 버전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731520" y="5394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Unity 6.3 LTS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3017520" y="5120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C96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에디터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3017520" y="5394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영문 버전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5303520" y="5120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C96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담당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303520" y="53949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박정원 · doo0303@naver.com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1 · 35분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AI와 함께 기획하기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아이디어는 AI와 함께 넓히고, 결정은 내가 합니다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넓히기 — AI에게 아이디어 5개 받기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고르고 줄이기 — 내가 고르고, AI와 크기를 줄이기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쓰고 검토받기 — 1페이지 기획 → AI에게 비평 받기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1 · 먼저 알아 둘 것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단순한 게임일수록 더 예쁘게 만들 수 있다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시간은 정해져 있습니다. 규칙에 쓰지 않은 시간이 '꾸미는 시간'이 됩니다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37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6주를 쓰는 방법 (예시)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endParaRPr lang="en-US" dirty="0"/>
          </a:p>
        </p:txBody>
      </p:sp>
      <p:sp>
        <p:nvSpPr>
          <p:cNvPr id="7" name="Text 5"/>
          <p:cNvSpPr txBox="1"/>
          <p:nvPr/>
        </p:nvSpPr>
        <p:spPr>
          <a:xfrm>
            <a:off x="30175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1주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3891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2주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7607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3주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4주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5039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5주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6주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237744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복잡한 기획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017520" y="2377440"/>
            <a:ext cx="6858000" cy="566928"/>
          </a:xfrm>
          <a:prstGeom prst="rect">
            <a:avLst/>
          </a:prstGeom>
          <a:solidFill>
            <a:srgbClr val="A8B0B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017520" y="2377440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 · 버그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875520" y="2377440"/>
            <a:ext cx="1371600" cy="566928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875520" y="237744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꾸미기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017520" y="2980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 다섯 개 · 적 여러 종류 · 스테이지 여러 개 → 회색 화면으로 시연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3375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단순한 기획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3017520" y="3337560"/>
            <a:ext cx="2743200" cy="566928"/>
          </a:xfrm>
          <a:prstGeom prst="rect">
            <a:avLst/>
          </a:prstGeom>
          <a:solidFill>
            <a:srgbClr val="A8B0B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017520" y="333756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 · 버그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760720" y="3337560"/>
            <a:ext cx="5486400" cy="566928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760720" y="333756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꾸미기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3017520" y="39410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동작 하나 · 오브젝트 몇 종류 → 남은 4주로 에셋 · 조명 · 타이틀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4343400"/>
            <a:ext cx="3547872" cy="1097280"/>
          </a:xfrm>
          <a:prstGeom prst="roundRect">
            <a:avLst>
              <a:gd name="adj" fmla="val 10000"/>
            </a:avLst>
          </a:prstGeom>
          <a:solidFill>
            <a:srgbClr val="F3F5F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0" y="44074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시간이 남는다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" y="477316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규칙이 일찍 끝나야 꾸밀 시간이 생깁니다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297680" y="4343400"/>
            <a:ext cx="3547872" cy="1097280"/>
          </a:xfrm>
          <a:prstGeom prst="roundRect">
            <a:avLst>
              <a:gd name="adj" fmla="val 10000"/>
            </a:avLst>
          </a:prstGeom>
          <a:solidFill>
            <a:srgbClr val="F3F5F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480560" y="44074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스타일을 맞추기 쉽다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4480560" y="477316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등장하는 물체 종류가 적을수록 어울리는 에셋을 찾기 쉽습니다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8046720" y="4343400"/>
            <a:ext cx="3547872" cy="1097280"/>
          </a:xfrm>
          <a:prstGeom prst="roundRect">
            <a:avLst>
              <a:gd name="adj" fmla="val 10000"/>
            </a:avLst>
          </a:prstGeom>
          <a:solidFill>
            <a:srgbClr val="F3F5F7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229600" y="44074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버그가 적다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229600" y="477316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기능이 적을수록 시연 날 멈출 일이 줄어듭니다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548640" y="5577840"/>
            <a:ext cx="11091672" cy="640080"/>
          </a:xfrm>
          <a:prstGeom prst="roundRect">
            <a:avLst>
              <a:gd name="adj" fmla="val 14286"/>
            </a:avLst>
          </a:prstGeom>
          <a:solidFill>
            <a:srgbClr val="FDF0E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77240" y="57058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2176272" y="57713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2368296" y="5696712"/>
            <a:ext cx="9089136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 하나 + 예쁜 화면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 다섯 + 회색 화면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보다 훨씬 좋은 게임으로 보입니다. 기획은 줄이고, 꾸미기에 시간을 쓰세요.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1 · AI 기획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기획의 네 단계 — AI는 매 단계의 짝꿍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AI가 대신 정해 주는 것이 아니라, 생각을 빨리 넓히고 다듬게 도와줍니다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606040" cy="2926080"/>
          </a:xfrm>
          <a:prstGeom prst="roundRect">
            <a:avLst>
              <a:gd name="adj" fmla="val 4211"/>
            </a:avLst>
          </a:prstGeom>
          <a:solidFill>
            <a:srgbClr val="F3F5F7"/>
          </a:solidFill>
          <a:ln/>
        </p:spPr>
      </p:sp>
      <p:sp>
        <p:nvSpPr>
          <p:cNvPr id="6" name="Shape 4"/>
          <p:cNvSpPr/>
          <p:nvPr/>
        </p:nvSpPr>
        <p:spPr>
          <a:xfrm>
            <a:off x="749808" y="196596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2F6FEB"/>
          </a:solidFill>
          <a:ln/>
        </p:spPr>
      </p:sp>
      <p:sp>
        <p:nvSpPr>
          <p:cNvPr id="7" name="Shape 5"/>
          <p:cNvSpPr/>
          <p:nvPr/>
        </p:nvSpPr>
        <p:spPr>
          <a:xfrm>
            <a:off x="810158" y="2026310"/>
            <a:ext cx="382219" cy="382219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651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넓히기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31546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조건을 주고 아이디어를 여러 개 받는다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163824" y="3017520"/>
            <a:ext cx="201168" cy="292608"/>
          </a:xfrm>
          <a:prstGeom prst="rightArrow">
            <a:avLst/>
          </a:prstGeom>
          <a:solidFill>
            <a:srgbClr val="D9DEE4"/>
          </a:solidFill>
          <a:ln/>
        </p:spPr>
      </p:sp>
      <p:sp>
        <p:nvSpPr>
          <p:cNvPr id="12" name="Shape 10"/>
          <p:cNvSpPr/>
          <p:nvPr/>
        </p:nvSpPr>
        <p:spPr>
          <a:xfrm>
            <a:off x="3374136" y="1783080"/>
            <a:ext cx="2606040" cy="2926080"/>
          </a:xfrm>
          <a:prstGeom prst="roundRect">
            <a:avLst>
              <a:gd name="adj" fmla="val 4211"/>
            </a:avLst>
          </a:prstGeom>
          <a:solidFill>
            <a:srgbClr val="FDF0E4"/>
          </a:solidFill>
          <a:ln w="19050">
            <a:solidFill>
              <a:srgbClr val="E07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75304" y="196596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E07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3635654" y="2026310"/>
            <a:ext cx="382219" cy="382219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575304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3575304" y="2651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고르기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3575304" y="31546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내가 하고 싶은 것 하나를 고른다 (AI가 고르지 않음)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989320" y="3017520"/>
            <a:ext cx="201168" cy="292608"/>
          </a:xfrm>
          <a:prstGeom prst="rightArrow">
            <a:avLst/>
          </a:prstGeom>
          <a:solidFill>
            <a:srgbClr val="D9DEE4"/>
          </a:solidFill>
          <a:ln/>
        </p:spPr>
      </p:sp>
      <p:sp>
        <p:nvSpPr>
          <p:cNvPr id="19" name="Shape 17"/>
          <p:cNvSpPr/>
          <p:nvPr/>
        </p:nvSpPr>
        <p:spPr>
          <a:xfrm>
            <a:off x="6199632" y="1783080"/>
            <a:ext cx="2606040" cy="2926080"/>
          </a:xfrm>
          <a:prstGeom prst="roundRect">
            <a:avLst>
              <a:gd name="adj" fmla="val 4211"/>
            </a:avLst>
          </a:prstGeom>
          <a:solidFill>
            <a:srgbClr val="F3F5F7"/>
          </a:solidFill>
          <a:ln/>
        </p:spPr>
      </p:sp>
      <p:sp>
        <p:nvSpPr>
          <p:cNvPr id="20" name="Shape 18"/>
          <p:cNvSpPr/>
          <p:nvPr/>
        </p:nvSpPr>
        <p:spPr>
          <a:xfrm>
            <a:off x="6400800" y="196596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2F6FEB"/>
          </a:solidFill>
          <a:ln/>
        </p:spPr>
      </p:sp>
      <p:sp>
        <p:nvSpPr>
          <p:cNvPr id="21" name="Shape 19"/>
          <p:cNvSpPr/>
          <p:nvPr/>
        </p:nvSpPr>
        <p:spPr>
          <a:xfrm>
            <a:off x="6461150" y="2026310"/>
            <a:ext cx="382219" cy="382219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0080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0" y="2651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줄이기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0" y="31546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6주 안에 끝나도록 AI와 함께 기능을 덜어낸다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814816" y="3017520"/>
            <a:ext cx="201168" cy="292608"/>
          </a:xfrm>
          <a:prstGeom prst="rightArrow">
            <a:avLst/>
          </a:prstGeom>
          <a:solidFill>
            <a:srgbClr val="D9DEE4"/>
          </a:solidFill>
          <a:ln/>
        </p:spPr>
      </p:sp>
      <p:sp>
        <p:nvSpPr>
          <p:cNvPr id="26" name="Shape 24"/>
          <p:cNvSpPr/>
          <p:nvPr/>
        </p:nvSpPr>
        <p:spPr>
          <a:xfrm>
            <a:off x="9025128" y="1783080"/>
            <a:ext cx="2606040" cy="2926080"/>
          </a:xfrm>
          <a:prstGeom prst="roundRect">
            <a:avLst>
              <a:gd name="adj" fmla="val 4211"/>
            </a:avLst>
          </a:prstGeom>
          <a:solidFill>
            <a:srgbClr val="F3F5F7"/>
          </a:solidFill>
          <a:ln/>
        </p:spPr>
      </p:sp>
      <p:sp>
        <p:nvSpPr>
          <p:cNvPr id="27" name="Shape 25"/>
          <p:cNvSpPr/>
          <p:nvPr/>
        </p:nvSpPr>
        <p:spPr>
          <a:xfrm>
            <a:off x="9226296" y="196596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2F6FEB"/>
          </a:solidFill>
          <a:ln/>
        </p:spPr>
      </p:sp>
      <p:sp>
        <p:nvSpPr>
          <p:cNvPr id="28" name="Shape 26"/>
          <p:cNvSpPr/>
          <p:nvPr/>
        </p:nvSpPr>
        <p:spPr>
          <a:xfrm>
            <a:off x="9286646" y="2026310"/>
            <a:ext cx="382219" cy="382219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226296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226296" y="2651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검토받기</a:t>
            </a:r>
            <a:endParaRPr lang="en-US" sz="1900" dirty="0"/>
          </a:p>
        </p:txBody>
      </p:sp>
      <p:sp>
        <p:nvSpPr>
          <p:cNvPr id="31" name="Text 29"/>
          <p:cNvSpPr txBox="1"/>
          <p:nvPr/>
        </p:nvSpPr>
        <p:spPr>
          <a:xfrm>
            <a:off x="9226296" y="31546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완성한 기획서를 AI에게 비평받고 내가 고친다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548640" y="4983480"/>
            <a:ext cx="11091672" cy="685800"/>
          </a:xfrm>
          <a:prstGeom prst="roundRect">
            <a:avLst>
              <a:gd name="adj" fmla="val 13333"/>
            </a:avLst>
          </a:prstGeom>
          <a:solidFill>
            <a:srgbClr val="FDF0E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77240" y="511149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2176272" y="517702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368296" y="510235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B(고르기)만은 꼭 내가.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내가 하고 싶은 게임이어야 6주를 버팁니다. 나머지는 AI와 같이 빨리 갑니다.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1 · A 넓히기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아이디어 5개 받기 — 질문 양식 ①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조건을 정확히 줄수록 '만들 수 있는' 아이디어가 나옵니다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1672" cy="2331720"/>
          </a:xfrm>
          <a:prstGeom prst="roundRect">
            <a:avLst>
              <a:gd name="adj" fmla="val 3137"/>
            </a:avLst>
          </a:prstGeom>
          <a:solidFill>
            <a:srgbClr val="1F26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19656"/>
            <a:ext cx="10725912" cy="2075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나는 유니티를 처음 배우는 대학생이야. 기말 과제 게임 아이디어를 줘.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[조건] Unity 6.3 · 3D · 혼자 6주 · 한 판 3분 이내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조작 키 5개 이하 · 씬 1개 · 무료 에셋(로우 폴리)으로 만들 수 있을 것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[중요] 규칙은 최대한 단순하게 — 핵심 동작은 1개 (예: 피하기, 모으기)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[내 취향] (예: 귀여운 분위기, 수집, 피하기 … 자유롭게)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[요청] 아이디어 5개를 표로: 게임 이름 / 한 줄 소개 / 조작 /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성공 · 실패 조건 / 필요한 에셋 / 초보가 막히기 쉬운 부분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262872" y="17647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AA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 양식 ① 넓히기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420624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9" name="Shape 7"/>
          <p:cNvSpPr/>
          <p:nvPr/>
        </p:nvSpPr>
        <p:spPr>
          <a:xfrm>
            <a:off x="594726" y="425232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4224528"/>
            <a:ext cx="10543032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ChatGPT · Gemini · Claude 중 하나를 열고 위 양식을 붙여넣기 · [내 취향]만 내 말로 바꾸기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470001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3" name="Shape 11"/>
          <p:cNvSpPr/>
          <p:nvPr/>
        </p:nvSpPr>
        <p:spPr>
          <a:xfrm>
            <a:off x="594726" y="4746102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700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718304"/>
            <a:ext cx="10543032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마음에 드는 게 없으면 "다른 5개 더" · "○번이랑 ○번을 섞어 줘"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519379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7" name="Shape 15"/>
          <p:cNvSpPr/>
          <p:nvPr/>
        </p:nvSpPr>
        <p:spPr>
          <a:xfrm>
            <a:off x="594726" y="523987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5193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" y="5212080"/>
            <a:ext cx="10543032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하나를 내가 고른다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왜 골랐는지 한 줄 메모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1 · C 줄이기 · D 검토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줄이고, 쓰고, 비평받기 — 질문 양식 ② ③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AI는 '줄이기'와 '약점 찾기'를 특히 잘합니다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1672" cy="1554480"/>
          </a:xfrm>
          <a:prstGeom prst="roundRect">
            <a:avLst>
              <a:gd name="adj" fmla="val 4706"/>
            </a:avLst>
          </a:prstGeom>
          <a:solidFill>
            <a:srgbClr val="1F26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19656"/>
            <a:ext cx="1072591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② 내가 고른 아이디어: (고른 줄 붙여넣기)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초보 혼자 6주 안에 끝내야 해. 꼭 필요한 기능 3개만 남기고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나머지는 '시간 나면 할 것'으로 빼 줘. 그리고 아래 1페이지 양식을 채워 줘.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(1페이지 양식 항목 붙여넣기)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9262872" y="17647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AA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 양식 ② 줄이기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3383280"/>
            <a:ext cx="11091672" cy="960120"/>
          </a:xfrm>
          <a:prstGeom prst="roundRect">
            <a:avLst>
              <a:gd name="adj" fmla="val 7619"/>
            </a:avLst>
          </a:prstGeom>
          <a:solidFill>
            <a:srgbClr val="1F263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3511296"/>
            <a:ext cx="1072591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③ 이건 내 기획서야. (붙여넣기)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초보가 6주 안에 막힐 가능성이 큰 부분 3개와, 그걸 단순하게 바꾸는 방법을 알려 줘.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9262872" y="345643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AA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 양식 ③ 비평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45262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594726" y="457236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544568"/>
            <a:ext cx="10543032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AI가 채운 양식을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템플릿 파일에 옮기면서 내 말로 고친다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(복사 · 붙여넣기 그대로 X)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500176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6" name="Shape 14"/>
          <p:cNvSpPr/>
          <p:nvPr/>
        </p:nvSpPr>
        <p:spPr>
          <a:xfrm>
            <a:off x="594726" y="5047854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5001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5020056"/>
            <a:ext cx="10543032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③의 지적 중 받아들일 것만 반영 → 다음 쪽 크기 점검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1 · 기획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1페이지 기획 양식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템플릿 파일에 같은 양식이 있습니다. 오늘 수업 안에 칸을 모두 채웁니다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657600"/>
                <a:gridCol w="5239512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항목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쓰는 법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예 (수집 게임)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게임 이름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영어로 (UI 글자에 그대로 씀)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COIN RUSH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한 줄 소개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누가 · 무엇을 · 어떻게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로봇이 60초 안에 코인 20개를 모은다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조작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키 · 마우스 몇 개만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WASD 이동 · Space 점프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성공 · 실패 · 점수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숫자로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20개 모으면 성공 · 60초 지나면 실패 · 코인 +10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화면 3개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타이틀 · HUD · 결과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COIN RUSH / SCORE · TIME / CLEAR! · RETRY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카메라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고정 또는 따라가기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위에서 비스듬히, 플레이어를 따라감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그래픽 스타일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키워드 3개 (실습 2에서 정함)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low poly · 파스텔 · 밝은 낮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필요한 에셋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플레이어 · 배경 · 대상 · 소리 · 이펙트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로봇 · 바닥 타일 · 코인 · 획득음 · 반짝이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6035040"/>
            <a:ext cx="11091672" cy="411480"/>
          </a:xfrm>
          <a:prstGeom prst="roundRect">
            <a:avLst>
              <a:gd name="adj" fmla="val 22222"/>
            </a:avLst>
          </a:prstGeom>
          <a:solidFill>
            <a:srgbClr val="FDF0E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1630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176272" y="62285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368296" y="615391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예시 게임 이름 · 숫자는 양식 설명용입니다. 내 게임에 맞게 정하세요.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1 · 기획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크기 점검 — 6주 안에 혼자 끝낼 수 있나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하나라도 '아니오'면 AI에게 "이 조건에 맞게 줄여 줘"라고 다시 요청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914400"/>
                <a:gridCol w="4690872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질문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예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아니오라면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규칙을 </a:t>
                      </a:r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한 문장</a:t>
                      </a:r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으로 말할 수 있다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☐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규칙 하나만 남기고 지운다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한 판이 </a:t>
                      </a:r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3분 이내</a:t>
                      </a:r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에 끝난다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☐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목표 수 · 시간을 줄인다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조작 키가 </a:t>
                      </a:r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5개 이하</a:t>
                      </a:r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다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☐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조작을 합친다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씬(Scene)이 </a:t>
                      </a:r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1개</a:t>
                      </a:r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다 (스테이지 여러 개 X)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☐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스테이지는 기말 뒤에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새로 배워야 할 기능이 </a:t>
                      </a:r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1개 이하</a:t>
                      </a:r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다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☐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나머지는 아는 방법으로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필요한 에셋을 </a:t>
                      </a:r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무료로</a:t>
                      </a:r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구할 수 있다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☐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비슷한 무료 에셋이 있는 쪽으로 바꾼다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394960"/>
            <a:ext cx="11091672" cy="777240"/>
          </a:xfrm>
          <a:prstGeom prst="roundRect">
            <a:avLst>
              <a:gd name="adj" fmla="val 14118"/>
            </a:avLst>
          </a:prstGeom>
          <a:solidFill>
            <a:srgbClr val="E5F4E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5504688"/>
            <a:ext cx="10634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390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 확인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04672" y="5939790"/>
            <a:ext cx="73152" cy="73152"/>
          </a:xfrm>
          <a:prstGeom prst="rect">
            <a:avLst/>
          </a:prstGeom>
          <a:solidFill>
            <a:srgbClr val="23905A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96696" y="5870448"/>
            <a:ext cx="1041501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양식의 모든 칸이 채워졌다 · 크기 점검이 모두 '예' · 고른 이유 한 줄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2 · 15분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AI로 키 비주얼 만들기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완성된 게임의 '한 장면'을 먼저 그려 보면 스타일이 정해집니다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이미지 생성 AI로 타이틀 배경 후보 만들기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스타일 키워드 3개 정하기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이미지가 12주차 타이틀 화면의 배경이 됩니다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2 · 키 비주얼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이미지 질문 양식 — 글자는 빼고 그림만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ChatGPT · Gemini · Copilot 등 이미지를 만들 수 있는 AI면 됩니다 (무료 사용량은 서비스마다 다름)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1672" cy="2057400"/>
          </a:xfrm>
          <a:prstGeom prst="roundRect">
            <a:avLst>
              <a:gd name="adj" fmla="val 3556"/>
            </a:avLst>
          </a:prstGeom>
          <a:solidFill>
            <a:srgbClr val="1F26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19656"/>
            <a:ext cx="10725912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3D 게임의 타이틀 화면 배경 그림을 만들어 줘.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[게임] (한 줄 소개. 예: 떠 있는 작은 섬에서 로봇이 코인을 모으는 게임)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[스타일] low poly 3D · 파스텔 색 · 밝은 낮 (← 내 스타일 키워드)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[구도] 16:9 가로 · 가운데 위쪽에 게임 이름을 넣을 빈 공간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[금지] 글자 · 알파벳 · 로고는 넣지 말 것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262872" y="17647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AA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이미지 질문 양식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393192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9" name="Shape 7"/>
          <p:cNvSpPr/>
          <p:nvPr/>
        </p:nvSpPr>
        <p:spPr>
          <a:xfrm>
            <a:off x="594726" y="397800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950208"/>
            <a:ext cx="621792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2~3번 다시 만들어 보고 가장 마음에 드는 1장을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PNG로 저장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4181348"/>
            <a:ext cx="62179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파일 이름: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KeyVisual_01.png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5440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594726" y="45901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45440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4562348"/>
            <a:ext cx="621792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 그림에서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스타일 키워드 3개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뽑아 기획서에 적기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793488"/>
            <a:ext cx="62179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예: low poly · 파스텔 · 밝은 낮 — 이 단어로 실습 4에서 에셋을 검색합니다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589520" y="3931920"/>
            <a:ext cx="4050792" cy="2103120"/>
          </a:xfrm>
          <a:prstGeom prst="roundRect">
            <a:avLst>
              <a:gd name="adj" fmla="val 5217"/>
            </a:avLst>
          </a:prstGeom>
          <a:solidFill>
            <a:srgbClr val="F3F5F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818120" y="4133088"/>
            <a:ext cx="3593592" cy="302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이것만은 피하기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845552" y="4578096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037576" y="4508754"/>
            <a:ext cx="3374136" cy="435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유명 게임 · 캐릭터 · 로고를 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흉내 내라고 요청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845552" y="5090160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037576" y="5020818"/>
            <a:ext cx="3374136" cy="435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글자가 들어간 그림 (글자는 Unity에서 넣음)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845552" y="5602224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037576" y="5532882"/>
            <a:ext cx="337413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어디서 만들었는지 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기록 안 하기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2 · 키 비주얼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키 비주얼이 하는 일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한 장의 그림이 6주 동안 '방향'이 됩니다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1091672" cy="1024128"/>
          </a:xfrm>
          <a:prstGeom prst="roundRect">
            <a:avLst>
              <a:gd name="adj" fmla="val 10714"/>
            </a:avLst>
          </a:prstGeom>
          <a:solidFill>
            <a:srgbClr val="F3F5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8745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 검색어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87452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스타일 키워드로 Asset Store · Kenney를 검색 → 서로 어울리는 에셋을 고르기 쉬움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875520" y="2075688"/>
            <a:ext cx="1554480" cy="438912"/>
          </a:xfrm>
          <a:prstGeom prst="roundRect">
            <a:avLst>
              <a:gd name="adj" fmla="val 41667"/>
            </a:avLst>
          </a:prstGeom>
          <a:solidFill>
            <a:srgbClr val="FDF0E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875520" y="207568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실습 4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971800"/>
            <a:ext cx="11091672" cy="1024128"/>
          </a:xfrm>
          <a:prstGeom prst="roundRect">
            <a:avLst>
              <a:gd name="adj" fmla="val 10714"/>
            </a:avLst>
          </a:prstGeom>
          <a:solidFill>
            <a:srgbClr val="F3F5F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0632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색 · 조명 기준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306324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하늘색 · 빛 방향 · 분위기를 이 그림에 맞춰 조명과 포스트 프로세싱을 설정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875520" y="3264408"/>
            <a:ext cx="1554480" cy="438912"/>
          </a:xfrm>
          <a:prstGeom prst="roundRect">
            <a:avLst>
              <a:gd name="adj" fmla="val 41667"/>
            </a:avLst>
          </a:prstGeom>
          <a:solidFill>
            <a:srgbClr val="FDF0E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875520" y="326440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11주차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160520"/>
            <a:ext cx="11091672" cy="1024128"/>
          </a:xfrm>
          <a:prstGeom prst="roundRect">
            <a:avLst>
              <a:gd name="adj" fmla="val 10714"/>
            </a:avLst>
          </a:prstGeom>
          <a:solidFill>
            <a:srgbClr val="F3F5F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" y="42519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타이틀 화면 배경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3657600" y="425196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Canvas의 Image로 깔고 그 위에 게임 이름 · START 버튼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875520" y="4453128"/>
            <a:ext cx="1554480" cy="438912"/>
          </a:xfrm>
          <a:prstGeom prst="roundRect">
            <a:avLst>
              <a:gd name="adj" fmla="val 41667"/>
            </a:avLst>
          </a:prstGeom>
          <a:solidFill>
            <a:srgbClr val="FDF0E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875520" y="445312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12주차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5000"/>
            </a:avLst>
          </a:prstGeom>
          <a:solidFill>
            <a:srgbClr val="E5F4E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7240" y="5550408"/>
            <a:ext cx="10634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390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 확인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804672" y="5985510"/>
            <a:ext cx="73152" cy="73152"/>
          </a:xfrm>
          <a:prstGeom prst="rect">
            <a:avLst/>
          </a:prstGeom>
          <a:solidFill>
            <a:srgbClr val="23905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96696" y="5916168"/>
            <a:ext cx="1041501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KeyVisual_01.png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저장 · 스타일 키워드 3개 · AI 사용 기록 1줄 (어떤 도구 · 어떻게 물었나)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3 · 10분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 프로젝트 만들기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중간 프로젝트는 그대로 두고, 완전히 새로 만듭니다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Unity Hub → Universal 3D → Final_학번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 폴더 _Project 만들기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에디터에 Unity 계정 로그인 확인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3 · 새 프로젝트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새 프로젝트 · 폴더 · 씬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6주차 따라하기 STEP 1과 같은 순서입니다. 이름만 다릅니다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40080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Unity Hub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Projects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New project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Editor Version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6000.3.x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확인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38252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42860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382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400808"/>
            <a:ext cx="640080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템플릿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Universal 3D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Project name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Final_학번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(예: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Final_20251234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 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Create project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0276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594726" y="307376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302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3045968"/>
            <a:ext cx="64008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Project 창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Assets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우클릭 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Create &gt; Folder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355803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726" y="360411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3558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97280" y="3576320"/>
            <a:ext cx="640080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안에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Scenes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Prefabs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Materials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Audio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폴더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420319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2" name="Shape 20"/>
          <p:cNvSpPr/>
          <p:nvPr/>
        </p:nvSpPr>
        <p:spPr>
          <a:xfrm>
            <a:off x="594726" y="424927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4203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4221480"/>
            <a:ext cx="640080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SampleScene을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_Project/Scenes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옮기고 이름을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Play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→ 열기 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Ctrl + 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772400" y="1737360"/>
            <a:ext cx="3867912" cy="3657600"/>
          </a:xfrm>
          <a:prstGeom prst="roundRect">
            <a:avLst>
              <a:gd name="adj" fmla="val 2000"/>
            </a:avLst>
          </a:prstGeom>
          <a:solidFill>
            <a:srgbClr val="1F263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955280" y="1828800"/>
            <a:ext cx="3502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B9AA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Project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7973568" y="2148840"/>
            <a:ext cx="3465576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Assets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 _Project   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2A6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← 내가 만든 것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├ Audio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├ Materials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├ Models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├ Prefabs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├ Scenes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└ Scripts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 (가져온 에셋)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2A6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← 자동으로 생김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 Settings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48640" y="5577840"/>
            <a:ext cx="11091672" cy="640080"/>
          </a:xfrm>
          <a:prstGeom prst="roundRect">
            <a:avLst>
              <a:gd name="adj" fmla="val 14286"/>
            </a:avLst>
          </a:prstGeom>
          <a:solidFill>
            <a:srgbClr val="FDF0E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77240" y="57058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176272" y="57713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2368296" y="5696712"/>
            <a:ext cx="9089136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가져온 에셋 폴더는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Assets 바로 아래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그대로 둡니다. 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안으로 옮기지 않아요 (업데이트 때 꼬임).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3 · 새 프로젝트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에디터에 Unity 계정 로그인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Asset Store에서 받은 에셋은 '같은 계정'으로 로그인해야 에디터에 보입니다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03504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에디터 </a:t>
            </a:r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왼쪽 위</a:t>
            </a:r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 계정 버튼(사람 아이콘 또는 이니셜)을 클릭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226771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31379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267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286000"/>
            <a:ext cx="603504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로그인이 안 되어 있으면 </a:t>
            </a:r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Sign in</a:t>
            </a:r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브라우저에서 Unity 계정으로 로그인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294589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594726" y="299197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29458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2964180"/>
            <a:ext cx="603504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Unity Hub에 로그인한 계정과 </a:t>
            </a:r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계정</a:t>
            </a:r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인지 확인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406640" y="1737360"/>
            <a:ext cx="4233672" cy="3108960"/>
          </a:xfrm>
          <a:prstGeom prst="roundRect">
            <a:avLst>
              <a:gd name="adj" fmla="val 3529"/>
            </a:avLst>
          </a:prstGeom>
          <a:solidFill>
            <a:srgbClr val="F3F5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35240" y="1938528"/>
            <a:ext cx="377647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계정이 없다면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662672" y="2402713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54696" y="2330704"/>
            <a:ext cx="3557016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id.unity.com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에서 무료로 만들 수 있습니다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7662672" y="2931541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854696" y="2859532"/>
            <a:ext cx="355701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학교 메일로 만들어도 됩니다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7662672" y="3234055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854696" y="3162046"/>
            <a:ext cx="3557016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Unity Hub · 에디터 · Asset Store 모두 같은 계정 하나로 씁니다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548640" y="5029200"/>
            <a:ext cx="6583680" cy="822960"/>
          </a:xfrm>
          <a:prstGeom prst="roundRect">
            <a:avLst>
              <a:gd name="adj" fmla="val 13333"/>
            </a:avLst>
          </a:prstGeom>
          <a:solidFill>
            <a:srgbClr val="E5F4E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77240" y="5138928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390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 확인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04672" y="5574030"/>
            <a:ext cx="73152" cy="73152"/>
          </a:xfrm>
          <a:prstGeom prst="rect">
            <a:avLst/>
          </a:prstGeom>
          <a:solidFill>
            <a:srgbClr val="23905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96696" y="5504688"/>
            <a:ext cx="5907024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계정 버튼에 내 이니셜이 보인다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4 · 20분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Asset Store에서 에셋 고르고 담기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웹에서 '내 에셋'에 담고 → 에디터에서 가져옵니다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무료 필터 · URP 호환 확인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Add to My Assets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 목록에 바로 기록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4 · Asset Store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검색하고 무료만 보기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웹 브라우저에서 진행합니다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217920" cy="4787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브라우저에서 </a:t>
            </a:r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assetstore.unity.com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오른쪽 위 로그인 (에디터와 같은 계정)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48640" y="239903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44511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39903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417318"/>
            <a:ext cx="6217920" cy="4787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검색창에 </a:t>
            </a:r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스타일 키워드 + 물건 이름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영어로: 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 poly robot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pastel island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…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2896108"/>
            <a:ext cx="621792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low poly(로우 폴리) = 면이 적은 단순한 모델. 초보 프로젝트에 가볍고 잘 어울림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47345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594726" y="351953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47345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3491738"/>
            <a:ext cx="6217920" cy="239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왼쪽 필터에서 </a:t>
            </a:r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가격(Pricing) → Free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만 선택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48640" y="400380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9" name="Shape 17"/>
          <p:cNvSpPr/>
          <p:nvPr/>
        </p:nvSpPr>
        <p:spPr>
          <a:xfrm>
            <a:off x="594726" y="404988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00380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4022090"/>
            <a:ext cx="6217920" cy="239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분류는 </a:t>
            </a:r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3D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로 좁히기 (소리는 Audio, 이펙트는 VFX)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7589520" y="1737360"/>
            <a:ext cx="4050792" cy="3840480"/>
          </a:xfrm>
          <a:prstGeom prst="roundRect">
            <a:avLst>
              <a:gd name="adj" fmla="val 2857"/>
            </a:avLst>
          </a:prstGeom>
          <a:solidFill>
            <a:srgbClr val="F3F5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818120" y="1938528"/>
            <a:ext cx="359359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이런 에셋은 고르지 않기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7845552" y="2402713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037576" y="2330704"/>
            <a:ext cx="3374136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완성된 게임 템플릿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(Kit · Template · Complete Project)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7845552" y="2931541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037576" y="2859532"/>
            <a:ext cx="337413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용량이 </a:t>
            </a:r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1GB 이상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 것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7845552" y="3234055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037576" y="3162046"/>
            <a:ext cx="337413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URP </a:t>
            </a:r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호환 표시가 없는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것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7845552" y="3536569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037576" y="3464560"/>
            <a:ext cx="337413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마지막 업데이트가 아주 오래된 것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548640" y="5760720"/>
            <a:ext cx="11091672" cy="502920"/>
          </a:xfrm>
          <a:prstGeom prst="roundRect">
            <a:avLst>
              <a:gd name="adj" fmla="val 18182"/>
            </a:avLst>
          </a:prstGeom>
          <a:solidFill>
            <a:srgbClr val="FDF0E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77240" y="588873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2176272" y="595426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368296" y="587959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완성 게임 템플릿만 피하면,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게임에 쓰는 재료는 무엇이든 OK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판단이 어려우면 담기 전에 물어보세요.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4 · Asset Store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상품 페이지에서 확인할 것 → 담기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담기 전에 세 가지를 봅니다</a:t>
            </a:r>
            <a:endParaRPr lang="en-US" sz="15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69494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확인할 곳 (페이지 아래쪽)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볼 것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Render pipeline compatibility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URP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칸이 </a:t>
                      </a:r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Compatible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인가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File size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수백 MB 이하인가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License agreement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Standard Unity Asset Store EULA 인가 (대부분 이것)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72400" y="169164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7" name="Shape 4"/>
          <p:cNvSpPr/>
          <p:nvPr/>
        </p:nvSpPr>
        <p:spPr>
          <a:xfrm>
            <a:off x="7818486" y="173772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77240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321040" y="1709928"/>
            <a:ext cx="331927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 가지가 괜찮으면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Add to My Assets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클릭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7772400" y="232029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1" name="Shape 8"/>
          <p:cNvSpPr/>
          <p:nvPr/>
        </p:nvSpPr>
        <p:spPr>
          <a:xfrm>
            <a:off x="7818486" y="236637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772400" y="232029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321040" y="2338578"/>
            <a:ext cx="331927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라이선스 동의 창이 나오면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Accept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7772400" y="285064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5" name="Shape 12"/>
          <p:cNvSpPr/>
          <p:nvPr/>
        </p:nvSpPr>
        <p:spPr>
          <a:xfrm>
            <a:off x="7818486" y="289672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772400" y="285064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8321040" y="2868930"/>
            <a:ext cx="331927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 이름 · 주소를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 목록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바로 적기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548640" y="4434840"/>
            <a:ext cx="11091672" cy="1097280"/>
          </a:xfrm>
          <a:prstGeom prst="roundRect">
            <a:avLst>
              <a:gd name="adj" fmla="val 8333"/>
            </a:avLst>
          </a:prstGeom>
          <a:solidFill>
            <a:srgbClr val="FDF0E4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77240" y="45628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2176272" y="46283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368296" y="4553712"/>
            <a:ext cx="9089136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버튼 이름은 페이지에 따라 조금 다를 수 있습니다. 무료 에셋은 결제 없이 '내 에셋(My Assets)'에 담깁니다.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176272" y="5135880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368296" y="5061204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URP가 Not compatible인 에셋은 분홍색으로 깨질 수 있습니다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실습 5에서 변환 방법을 봅니다.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5 · 15분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에디터로 가져오기 · 분홍색 고치기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Package Manager → My Assets → Download → Import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Package Manager에서 내 에셋 가져오기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분홍색이면 URP로 변환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Kenney 무료 모델 가져오기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5 · 가져오기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Package Manager → My Assets → Import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Unity 6.3 메뉴 위치입니다. 예전 자료의 Window &gt; Package Manager와 같은 창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21792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Window &gt; Package Management &gt; Package Manager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26771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31379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267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286000"/>
            <a:ext cx="621792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왼쪽 목록에서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My Assets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선택 → 방금 담은 에셋이 보임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2517140"/>
            <a:ext cx="62179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 보이면 계정 로그인 확인 · 창 위쪽 새로고침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87985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594726" y="292593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28798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2898140"/>
            <a:ext cx="621792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 선택 → 오른쪽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Download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끝날 때까지 대기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341020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9" name="Shape 17"/>
          <p:cNvSpPr/>
          <p:nvPr/>
        </p:nvSpPr>
        <p:spPr>
          <a:xfrm>
            <a:off x="594726" y="345629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34102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3428492"/>
            <a:ext cx="621792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Import #.# to project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클릭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48640" y="394055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3" name="Shape 21"/>
          <p:cNvSpPr/>
          <p:nvPr/>
        </p:nvSpPr>
        <p:spPr>
          <a:xfrm>
            <a:off x="594726" y="3986642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48640" y="39405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097280" y="3958844"/>
            <a:ext cx="621792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Import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창: 처음엔 전체 선택 그대로 → 아래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Import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589520" y="1737360"/>
            <a:ext cx="4050792" cy="3566160"/>
          </a:xfrm>
          <a:prstGeom prst="roundRect">
            <a:avLst>
              <a:gd name="adj" fmla="val 3077"/>
            </a:avLst>
          </a:prstGeom>
          <a:solidFill>
            <a:srgbClr val="2B2B2B"/>
          </a:solidFill>
          <a:ln/>
        </p:spPr>
      </p:sp>
      <p:sp>
        <p:nvSpPr>
          <p:cNvPr id="27" name="Shape 25"/>
          <p:cNvSpPr/>
          <p:nvPr/>
        </p:nvSpPr>
        <p:spPr>
          <a:xfrm>
            <a:off x="7589520" y="1737360"/>
            <a:ext cx="4050792" cy="365760"/>
          </a:xfrm>
          <a:prstGeom prst="rect">
            <a:avLst/>
          </a:prstGeom>
          <a:solidFill>
            <a:srgbClr val="3C3C3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72668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DDDD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Package Manager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726680" y="22402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BBBB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 Project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726680" y="25877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BBBB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Unity Registry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635240" y="2916936"/>
            <a:ext cx="1554480" cy="310896"/>
          </a:xfrm>
          <a:prstGeom prst="rect">
            <a:avLst/>
          </a:prstGeom>
          <a:solidFill>
            <a:srgbClr val="2C5D87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726680" y="29352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My Assets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726680" y="328269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BBBB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Built-in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7726680" y="363016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BBBB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Services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9281160" y="2148840"/>
            <a:ext cx="18288" cy="3063240"/>
          </a:xfrm>
          <a:prstGeom prst="rect">
            <a:avLst/>
          </a:prstGeom>
          <a:solidFill>
            <a:srgbClr val="44444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9418320" y="22402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(내 에셋 이름)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9418320" y="2651760"/>
            <a:ext cx="1143000" cy="329184"/>
          </a:xfrm>
          <a:prstGeom prst="roundRect">
            <a:avLst>
              <a:gd name="adj" fmla="val 11111"/>
            </a:avLst>
          </a:prstGeom>
          <a:solidFill>
            <a:srgbClr val="4A4A4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9418320" y="2651760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Download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9418320" y="3108960"/>
            <a:ext cx="2103120" cy="329184"/>
          </a:xfrm>
          <a:prstGeom prst="roundRect">
            <a:avLst>
              <a:gd name="adj" fmla="val 11111"/>
            </a:avLst>
          </a:prstGeom>
          <a:solidFill>
            <a:srgbClr val="4A4A4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9418320" y="310896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Import 1.0 to project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7589520" y="5394960"/>
            <a:ext cx="4050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그림은 배치 설명용 단순화입니다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548640" y="5349240"/>
            <a:ext cx="6766560" cy="822960"/>
          </a:xfrm>
          <a:prstGeom prst="roundRect">
            <a:avLst>
              <a:gd name="adj" fmla="val 13333"/>
            </a:avLst>
          </a:prstGeom>
          <a:solidFill>
            <a:srgbClr val="E5F4EC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777240" y="5458968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390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 확인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804672" y="5894070"/>
            <a:ext cx="73152" cy="73152"/>
          </a:xfrm>
          <a:prstGeom prst="rect">
            <a:avLst/>
          </a:prstGeom>
          <a:solidFill>
            <a:srgbClr val="23905A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996696" y="5824728"/>
            <a:ext cx="6089904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Project 창 Assets 아래에 에셋 폴더가 새로 생겼다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5 · 가져오기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가져온 에셋 확인하기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폴더 구조는 에셋마다 다릅니다. 모델 · 프리팹부터 찾습니다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217920" cy="4787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 폴더를 열고 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Prefabs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Models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Demo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(또는 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Scenes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 폴더를 찾는다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48640" y="239903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44511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39903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417318"/>
            <a:ext cx="6217920" cy="239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Demo 씬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있으면 더블클릭해서 열어 본다 → 어떻게 보이는지 확인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48640" y="292938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594726" y="297546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292938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2947670"/>
            <a:ext cx="6217920" cy="239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다시 내 </a:t>
            </a:r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Play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씬으로 돌아온다 (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_Project/Scenes/Play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548640" y="345973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726" y="350582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345973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97280" y="3478022"/>
            <a:ext cx="6217920" cy="239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쓸 </a:t>
            </a:r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프리팹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Scene 뷰로 끌어다 놓는다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7589520" y="1737360"/>
            <a:ext cx="4050792" cy="2011680"/>
          </a:xfrm>
          <a:prstGeom prst="roundRect">
            <a:avLst>
              <a:gd name="adj" fmla="val 5455"/>
            </a:avLst>
          </a:prstGeom>
          <a:solidFill>
            <a:srgbClr val="FCEAE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818120" y="1737360"/>
            <a:ext cx="359359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에셋을 가져온 뒤 Console에 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빨간 에러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 생기면: 그 에셋의 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Scripts · Demo 폴더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 원인인 경우가 많습니다 → 맨 뒤 '막혔을 때' 표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589520" y="3931920"/>
            <a:ext cx="4050792" cy="1737360"/>
          </a:xfrm>
          <a:prstGeom prst="roundRect">
            <a:avLst>
              <a:gd name="adj" fmla="val 6316"/>
            </a:avLst>
          </a:prstGeom>
          <a:solidFill>
            <a:srgbClr val="F3F5F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818120" y="4133088"/>
            <a:ext cx="3593592" cy="302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 데모 씬은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7845552" y="4578096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037576" y="4508754"/>
            <a:ext cx="337413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보기만 하고 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고치지 않습니다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7845552" y="487222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037576" y="4802886"/>
            <a:ext cx="337413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 게임은 항상 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Play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씬에서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5 · 가져오기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분홍색으로 보이면 — URP로 변환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Built-in용 재질이라서 URP에서 셰이더를 못 찾은 것입니다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394960" cy="2011680"/>
          </a:xfrm>
          <a:prstGeom prst="roundRect">
            <a:avLst>
              <a:gd name="adj" fmla="val 5455"/>
            </a:avLst>
          </a:prstGeom>
          <a:solidFill>
            <a:srgbClr val="F3F5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8288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F6F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방법 A — 전체 변환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77240" y="22402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F6FEB"/>
          </a:solidFill>
          <a:ln/>
        </p:spPr>
      </p:sp>
      <p:sp>
        <p:nvSpPr>
          <p:cNvPr id="8" name="Shape 6"/>
          <p:cNvSpPr/>
          <p:nvPr/>
        </p:nvSpPr>
        <p:spPr>
          <a:xfrm>
            <a:off x="823326" y="228636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258568"/>
            <a:ext cx="448056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Window &gt; Rendering &gt; Render Pipeline Converter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7240" y="26974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F6FEB"/>
          </a:solidFill>
          <a:ln/>
        </p:spPr>
      </p:sp>
      <p:sp>
        <p:nvSpPr>
          <p:cNvPr id="12" name="Shape 10"/>
          <p:cNvSpPr/>
          <p:nvPr/>
        </p:nvSpPr>
        <p:spPr>
          <a:xfrm>
            <a:off x="823326" y="274356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2715768"/>
            <a:ext cx="44805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위쪽 드롭다운 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Built-in to URP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Material Upgrade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체크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321995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F6FEB"/>
          </a:solidFill>
          <a:ln/>
        </p:spPr>
      </p:sp>
      <p:sp>
        <p:nvSpPr>
          <p:cNvPr id="16" name="Shape 14"/>
          <p:cNvSpPr/>
          <p:nvPr/>
        </p:nvSpPr>
        <p:spPr>
          <a:xfrm>
            <a:off x="823326" y="3266044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77240" y="321995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3238246"/>
            <a:ext cx="448056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Initialize and Convert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클릭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45352" y="1737360"/>
            <a:ext cx="5394960" cy="2011680"/>
          </a:xfrm>
          <a:prstGeom prst="roundRect">
            <a:avLst>
              <a:gd name="adj" fmla="val 5455"/>
            </a:avLst>
          </a:prstGeom>
          <a:solidFill>
            <a:srgbClr val="F3F5F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73952" y="18288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390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방법 B — 고른 재질만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473952" y="22402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3905A"/>
          </a:solidFill>
          <a:ln/>
        </p:spPr>
      </p:sp>
      <p:sp>
        <p:nvSpPr>
          <p:cNvPr id="22" name="Shape 20"/>
          <p:cNvSpPr/>
          <p:nvPr/>
        </p:nvSpPr>
        <p:spPr>
          <a:xfrm>
            <a:off x="6520038" y="228636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73952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022592" y="2258568"/>
            <a:ext cx="448056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Project 창에서 분홍색 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재질(Material)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들을 선택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73952" y="26974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3905A"/>
          </a:solidFill>
          <a:ln/>
        </p:spPr>
      </p:sp>
      <p:sp>
        <p:nvSpPr>
          <p:cNvPr id="26" name="Shape 24"/>
          <p:cNvSpPr/>
          <p:nvPr/>
        </p:nvSpPr>
        <p:spPr>
          <a:xfrm>
            <a:off x="6520038" y="274356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473952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022592" y="2715768"/>
            <a:ext cx="44805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Edit &gt; Rendering &gt; Materials &gt; Convert Selected Built-in Materials to URP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48640" y="3977640"/>
            <a:ext cx="6766560" cy="1234440"/>
          </a:xfrm>
          <a:prstGeom prst="roundRect">
            <a:avLst>
              <a:gd name="adj" fmla="val 8889"/>
            </a:avLst>
          </a:prstGeom>
          <a:solidFill>
            <a:srgbClr val="FCEAE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77240" y="3977640"/>
            <a:ext cx="6309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변환해도 분홍색이면: 그 에셋이 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자기만의 셰이더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쓰는 것 → 자동 변환이 안 됩니다. 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에셋으로 바꾸는 것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가장 빠릅니다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7589520" y="3977640"/>
            <a:ext cx="4050792" cy="1234440"/>
          </a:xfrm>
          <a:prstGeom prst="roundRect">
            <a:avLst>
              <a:gd name="adj" fmla="val 8889"/>
            </a:avLst>
          </a:prstGeom>
          <a:solidFill>
            <a:srgbClr val="F3F5F7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818120" y="4178808"/>
            <a:ext cx="3593592" cy="302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변환 전에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7845552" y="4623816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037576" y="4554474"/>
            <a:ext cx="337413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Ctrl + S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저장 · 프로젝트 백업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48640" y="5440680"/>
            <a:ext cx="11091672" cy="685800"/>
          </a:xfrm>
          <a:prstGeom prst="roundRect">
            <a:avLst>
              <a:gd name="adj" fmla="val 13333"/>
            </a:avLst>
          </a:prstGeom>
          <a:solidFill>
            <a:srgbClr val="FDF0E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77240" y="556869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176272" y="563422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368296" y="5559552"/>
            <a:ext cx="9089136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그래서 실습 4에서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URP Compatible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을 먼저 확인했습니다. 처음부터 URP 호환 에셋을 고르는 것이 제일 쉽습니다.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5 · 가져오기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Kenney — 출처 표기 없이 쓸 수 있는 무료 모델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CC0(퍼블릭 도메인) 라이선스. 그래도 에셋 목록에는 적습니다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400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브라우저에서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kenney.nl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Assets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분류에서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3D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선택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226771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31379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267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286000"/>
            <a:ext cx="6400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마음에 드는 키트(Kit) 선택 →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Download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2508885"/>
            <a:ext cx="6400800" cy="189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기부 창이 나오면 기부는 선택입니다. 기부 없이 받는 방법이 함께 있습니다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286334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594726" y="290942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286334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2881630"/>
            <a:ext cx="6400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받은 zip을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압축 풀기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안의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FBX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형식 폴더 찾기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48640" y="339369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9" name="Shape 17"/>
          <p:cNvSpPr/>
          <p:nvPr/>
        </p:nvSpPr>
        <p:spPr>
          <a:xfrm>
            <a:off x="594726" y="343978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339369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3411982"/>
            <a:ext cx="6400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FBX 파일들을 Unity 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_Project/Models/키트이름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폴더로 끌어 넣기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1097280" y="3634867"/>
            <a:ext cx="6400800" cy="189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같이 있는 </a:t>
            </a:r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Textures</a:t>
            </a:r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폴더(있다면)도 함께 넣기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48640" y="398932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4" name="Shape 22"/>
          <p:cNvSpPr/>
          <p:nvPr/>
        </p:nvSpPr>
        <p:spPr>
          <a:xfrm>
            <a:off x="594726" y="403541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48640" y="39893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97280" y="4007612"/>
            <a:ext cx="6400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모델을 Scene 뷰로 끌어 놓아 확인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7772400" y="1737360"/>
            <a:ext cx="3867912" cy="3749040"/>
          </a:xfrm>
          <a:prstGeom prst="roundRect">
            <a:avLst>
              <a:gd name="adj" fmla="val 2927"/>
            </a:avLst>
          </a:prstGeom>
          <a:solidFill>
            <a:srgbClr val="F3F5F7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001000" y="1938528"/>
            <a:ext cx="341071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모델이 하얗게 보이면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028432" y="2400046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20456" y="2330704"/>
            <a:ext cx="319125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텍스처가 연결되지 않은 것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8028432" y="269417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220456" y="2624836"/>
            <a:ext cx="3191256" cy="435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모델의 재질을 선택 → 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Base Map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칸에 텍스처 이미지를 끌어다 놓기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8028432" y="3206242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220456" y="3136900"/>
            <a:ext cx="3191256" cy="435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GLB · OBJ 말고 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FBX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를 쓰는 것이 가장 간단합니다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6 · 10분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회색 플레이어에 모델 입히기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물리는 회색 오브젝트가, 겉모습은 모델이 맡습니다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Capsule 플레이어 만들기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모델을 자식으로 넣기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Capsule의 겉모습만 끄기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6 · 모델 입히기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겉모습만 바꾸는 가장 안전한 방법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모델에 직접 물리를 붙이면 크기 · 방향 때문에 자주 꼬입니다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6400800" cy="1645920"/>
          </a:xfrm>
          <a:prstGeom prst="roundRect">
            <a:avLst>
              <a:gd name="adj" fmla="val 4444"/>
            </a:avLst>
          </a:prstGeom>
          <a:solidFill>
            <a:srgbClr val="1F26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288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B9AA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Hierarchy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148840"/>
            <a:ext cx="59984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Player          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2A6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← Capsule · Rigidbody · Collider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             (Mesh Renderer 끔)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 Model          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2A6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← 가져온 모델 (겉모습만)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35661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9" name="Shape 7"/>
          <p:cNvSpPr/>
          <p:nvPr/>
        </p:nvSpPr>
        <p:spPr>
          <a:xfrm>
            <a:off x="594726" y="36122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84448"/>
            <a:ext cx="1054303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GameObject &gt; 3D Object &gt; Capsule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이름 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Player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Position (0, 1, 0)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404164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3" name="Shape 11"/>
          <p:cNvSpPr/>
          <p:nvPr/>
        </p:nvSpPr>
        <p:spPr>
          <a:xfrm>
            <a:off x="594726" y="4087734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059936"/>
            <a:ext cx="1054303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Add Component &gt; Rigidbody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451713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7" name="Shape 15"/>
          <p:cNvSpPr/>
          <p:nvPr/>
        </p:nvSpPr>
        <p:spPr>
          <a:xfrm>
            <a:off x="594726" y="4563222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4517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" y="4535424"/>
            <a:ext cx="1054303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가져온 모델을 Hierarchy의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Player 위로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끌어 놓기 → 자식이 됨 → 이름 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48640" y="499262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1" name="Shape 19"/>
          <p:cNvSpPr/>
          <p:nvPr/>
        </p:nvSpPr>
        <p:spPr>
          <a:xfrm>
            <a:off x="594726" y="503871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48640" y="4992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97280" y="5010912"/>
            <a:ext cx="1054303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Model의 Position을 (0, -1, 0) 근처로 → 발이 Capsule 바닥에 닿게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5233797"/>
            <a:ext cx="10543032" cy="189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크기가 다르면 Model의 </a:t>
            </a:r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Scale</a:t>
            </a:r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만 조절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" y="553339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6" name="Shape 24"/>
          <p:cNvSpPr/>
          <p:nvPr/>
        </p:nvSpPr>
        <p:spPr>
          <a:xfrm>
            <a:off x="594726" y="557947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48640" y="553339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1097280" y="5551678"/>
            <a:ext cx="1054303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Player 선택 →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Mesh Renderer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왼쪽 체크 해제 → 회색 캡슐이 사라지고 모델만 보임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7223760" y="1737360"/>
            <a:ext cx="4416552" cy="1645920"/>
          </a:xfrm>
          <a:prstGeom prst="roundRect">
            <a:avLst>
              <a:gd name="adj" fmla="val 6667"/>
            </a:avLst>
          </a:prstGeom>
          <a:solidFill>
            <a:srgbClr val="F3F5F7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452360" y="1938528"/>
            <a:ext cx="3959352" cy="302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이렇게?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7479792" y="2380869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671816" y="2314194"/>
            <a:ext cx="37398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Collider · 물리는 그대로 → 조작이 안 바뀜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7479792" y="2666619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671816" y="2599944"/>
            <a:ext cx="37398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모델은 언제든 다른 것으로 교체 가능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7 · 25분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AI에게 묻고, 검증하고, 내 것으로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플레이어 이동 스크립트를 AI에게 받아서 내가 이해한 코드로 만듭니다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 양식으로 묻기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다섯 가지 검증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줄마다 내 말로 주석 · AI 사용 기록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7 · AI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질문 양식 — 그대로 복사해서 쓰기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ChatGPT · Gemini · Claude 어느 것이든 됩니다. [환경] 줄이 가장 중요합니다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1672" cy="2971800"/>
          </a:xfrm>
          <a:prstGeom prst="roundRect">
            <a:avLst>
              <a:gd name="adj" fmla="val 2462"/>
            </a:avLst>
          </a:prstGeom>
          <a:solidFill>
            <a:srgbClr val="1F26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19656"/>
            <a:ext cx="10725912" cy="2715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[환경] Unity 6.3 LTS · URP · 영문 에디터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New Input System만 사용 (UnityEngine.Input 클래스 사용 금지)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[상황] 위에서 내려다보는 3D 게임. 플레이어는 Capsule + Rigidbody.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모델은 Player의 자식 오브젝트 Model.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[원하는 것] WASD · 방향키로 플레이어를 움직이는 C# 스크립트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[조건] 초보자용. 클래스 이름 PlayerMove. 줄마다 한국어 주석.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Rigidbody는 linearVelocity 사용. 움직이는 방향으로 Model이 바라보게.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[설명] 코드 아래에 Unity에서 붙이고 설정하는 순서를 단계별로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262872" y="17647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AA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 양식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800600"/>
          <a:ext cx="1109167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9445752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줄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왜 필요한가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[환경]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AI는 옛 버전 코드를 자주 줍니다. 버전 · 입력 방식을 못 박아야 합니다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[상황]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AI는 내 씬을 볼 수 없습니다. 오브젝트 구성을 글로 알려 줍니다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[조건]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이름 · 주석 · 난이도를 정하면 그대로 쓰기 쉬워집니다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7 · AI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받은 코드 검증 — 다섯 가지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하나라도 걸리면 붙이기 전에 AI에게 다시 요청합니다</a:t>
            </a:r>
            <a:endParaRPr lang="en-US" sz="15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5120640"/>
                <a:gridCol w="5422392"/>
              </a:tblGrid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#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확인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걸리면 이렇게 다시 묻기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B548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Input.GetKey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· 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B548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Input.GetAxis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가 </a:t>
                      </a:r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없다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"Input 클래스 말고 Keyboard.current로 바꿔 줘"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Rigidbody 속도는 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B548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linearVelocity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다 (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B548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velocity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아님)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"Unity 6 이름(linearVelocity)으로 바꿔 줘"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B548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public class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뒤의 이름 = </a:t>
                      </a:r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파일 이름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파일 이름을 클래스 이름과 같게 만든다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모르는 줄이 없다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"○번째 줄이 무슨 뜻인지 초보자에게 설명해 줘"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붙이고 ▶ Play → Console에 빨간 에러가 없다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에러 전체 문장을 복사해서 질문 (다음 쪽)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486400"/>
            <a:ext cx="11091672" cy="594360"/>
          </a:xfrm>
          <a:prstGeom prst="roundRect">
            <a:avLst>
              <a:gd name="adj" fmla="val 15385"/>
            </a:avLst>
          </a:prstGeom>
          <a:solidFill>
            <a:srgbClr val="FDF0E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56144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176272" y="567994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368296" y="5605272"/>
            <a:ext cx="9089136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4번이 가장 중요합니다.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모르는 줄은 AI에게 물어서 이해한 뒤 넣습니다. 이해하고 쓴 코드는 내 실력입니다.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7 · AI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Unity에 붙이기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파일 이름이 클래스 이름과 다르면 붙지 않습니다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40080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_Project/Scripts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우클릭 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Create &gt; Scripting &gt; MonoBehaviour Script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38252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42860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382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400808"/>
            <a:ext cx="64008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이름을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PlayerMove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로 (대소문자까지 같게) → Enter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291287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594726" y="295895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2912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2931160"/>
            <a:ext cx="640080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더블클릭해서 열기 → 안의 내용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전부 지우고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받은 코드 붙여넣기 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Ctrl + 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355803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726" y="360411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3558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97280" y="3576320"/>
            <a:ext cx="64008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Unity로 돌아와 PlayerMove를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Player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끌어다 놓기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408838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2" name="Shape 20"/>
          <p:cNvSpPr/>
          <p:nvPr/>
        </p:nvSpPr>
        <p:spPr>
          <a:xfrm>
            <a:off x="594726" y="413447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4088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4106672"/>
            <a:ext cx="640080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Inspector의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Model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칸에 자식 Model을 끌어다 놓기 → ▶ Play → WASD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772400" y="1737360"/>
            <a:ext cx="3867912" cy="2743200"/>
          </a:xfrm>
          <a:prstGeom prst="roundRect">
            <a:avLst>
              <a:gd name="adj" fmla="val 4000"/>
            </a:avLst>
          </a:prstGeom>
          <a:solidFill>
            <a:srgbClr val="F3F5F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001000" y="1938528"/>
            <a:ext cx="341071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에러가 났을 때 묻는 법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028432" y="2402713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220456" y="2330704"/>
            <a:ext cx="319125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Console의 빨간 줄 </a:t>
            </a:r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전체 문장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복사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8028432" y="2705227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20456" y="2633218"/>
            <a:ext cx="319125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 </a:t>
            </a:r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스크립트 전체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붙여넣기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8028432" y="3007741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220456" y="2935732"/>
            <a:ext cx="319125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했더니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났는지 한 줄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7772400" y="4663440"/>
            <a:ext cx="3867912" cy="1097280"/>
          </a:xfrm>
          <a:prstGeom prst="roundRect">
            <a:avLst>
              <a:gd name="adj" fmla="val 10000"/>
            </a:avLst>
          </a:prstGeom>
          <a:solidFill>
            <a:srgbClr val="E5F4EC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001000" y="4773168"/>
            <a:ext cx="3410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390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 확인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8028432" y="5208270"/>
            <a:ext cx="73152" cy="73152"/>
          </a:xfrm>
          <a:prstGeom prst="rect">
            <a:avLst/>
          </a:prstGeom>
          <a:solidFill>
            <a:srgbClr val="23905A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220456" y="5138928"/>
            <a:ext cx="3191256" cy="435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WASD로 움직이고, 모델이 가는 방향을 본다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7 · AI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비교용 예시 답 — PlayerMove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AI 답이 이것과 똑같을 필요는 없습니다. 다섯 가지 검증을 통과하면 됩니다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513832" cy="4572000"/>
          </a:xfrm>
          <a:prstGeom prst="roundRect">
            <a:avLst>
              <a:gd name="adj" fmla="val 1600"/>
            </a:avLst>
          </a:prstGeom>
          <a:solidFill>
            <a:srgbClr val="1F26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19656"/>
            <a:ext cx="5148072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7F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UnityEngine;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7F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UnityEngine.InputSystem;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플레이어 이동 (WASD · 방향키) — 위에서 내려다보는 3D 게임용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붙일 곳: 플레이어 (Rigidbody + Collider 필요)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7F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[RequireComponent(typeof(Rigidbody))]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7F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PlayerMove : MonoBehaviour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초당 이동 속도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public float speed = 5f;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이동 방향을 바라볼 모델 (자식 오브젝트, 비워도 됨)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public Transform model;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Rigidbody rb;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Vector3 input;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void Start()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rb = GetComponent&lt;Rigidbody&gt;();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부딪혀도 넘어지지 않게 회전을 막는다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rb.constraints = RigidbodyConstraints.FreezeRotation;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3685032" y="17647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AA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PlayerMove.cs  1/2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126480" y="1691640"/>
            <a:ext cx="5513832" cy="4572000"/>
          </a:xfrm>
          <a:prstGeom prst="roundRect">
            <a:avLst>
              <a:gd name="adj" fmla="val 1600"/>
            </a:avLst>
          </a:prstGeom>
          <a:solidFill>
            <a:srgbClr val="1F263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09360" y="1819656"/>
            <a:ext cx="5148072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void Update()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Keyboard kb = Keyboard.current;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(kb == null) return;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float h = 0f, v = 0f;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(kb.aKey.isPressed || kb.leftArrowKey.isPressed) h -= 1f;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(kb.dKey.isPressed || kb.rightArrowKey.isPressed) h += 1f;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(kb.wKey.isPressed || kb.upArrowKey.isPressed) v += 1f;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(kb.sKey.isPressed || kb.downArrowKey.isPressed) v -= 1f;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input = new Vector3(h, 0f, v).normalized;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움직이는 방향으로 모델을 돌린다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(model != null &amp;&amp; input != Vector3.zero) model.forward = input;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void FixedUpdate()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Vector3 vel = input * speed;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vel.y = rb.linearVelocity.y;   // 떨어지는 속도는 그대로 둔다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rb.linearVelocity = vel;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9262872" y="17647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AA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PlayerMove.cs  2/2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7 · AI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내 것으로 만들기 — 주석 다시 쓰기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AI가 단 주석을 지우고, 내 말로 다시 씁니다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6766560" cy="2331720"/>
          </a:xfrm>
          <a:prstGeom prst="roundRect">
            <a:avLst>
              <a:gd name="adj" fmla="val 3137"/>
            </a:avLst>
          </a:prstGeom>
          <a:solidFill>
            <a:srgbClr val="1F26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19656"/>
            <a:ext cx="6400800" cy="2075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FixedUpdate()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내 설명: 누른 방향 × 속도 = 이번에 움직일 속도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Vector3 vel = input * speed;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내 설명: 위아래(Y) 속도는 원래 값을 둬야 점프 · 낙하가 안 끊긴다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vel.y = rb.linearVelocity.y;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rb.linearVelocity = vel;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589520" y="169164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8" name="Shape 6"/>
          <p:cNvSpPr/>
          <p:nvPr/>
        </p:nvSpPr>
        <p:spPr>
          <a:xfrm>
            <a:off x="7635606" y="173772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58952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709928"/>
            <a:ext cx="350215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줄마다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무슨 일을 하는지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내 말로 한 줄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589520" y="222199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7635606" y="226807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589520" y="2221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138160" y="2240280"/>
            <a:ext cx="350215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설명이 안 되는 줄 → AI에게 질문 → 이해한 뒤 주석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589520" y="285064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6" name="Shape 14"/>
          <p:cNvSpPr/>
          <p:nvPr/>
        </p:nvSpPr>
        <p:spPr>
          <a:xfrm>
            <a:off x="7635606" y="289672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589520" y="285064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138160" y="2868930"/>
            <a:ext cx="350215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숫자(speed 등)를 바꿔 보고 결과 확인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48640" y="4206240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FDF0E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" y="43342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176272" y="43997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368296" y="432511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기말 시연 때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 스크립트 한 부분을 직접 설명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합니다. 오늘부터 이렇게 연습해 두세요.</a:t>
            </a:r>
            <a:endParaRPr lang="en-US" sz="14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93776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799832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AI 사용 기록 (한 줄 예)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물은 것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PlayerMove 이동 스크립트 (질문 양식 사용)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받은 것 → 내가 바꾼 것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velocity를 linearVelocity로 다시 요청 · speed 5→7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7 · 선택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(선택) 카메라가 플레이어 따라가기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이번엔 질문 양식을 내가 채워서 물어봅니다. 아래는 비교용 예시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6949440" cy="4434840"/>
          </a:xfrm>
          <a:prstGeom prst="roundRect">
            <a:avLst>
              <a:gd name="adj" fmla="val 1649"/>
            </a:avLst>
          </a:prstGeom>
          <a:solidFill>
            <a:srgbClr val="1F26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19656"/>
            <a:ext cx="6583680" cy="417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7F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UnityEngine;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카메라가 플레이어를 일정한 거리에서 따라간다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붙일 곳: Main Camera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7F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CameraFollow : MonoBehaviour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따라갈 대상 (플레이어)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Transform target;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대상에서 카메라까지의 거리 (위로 10, 뒤로 8)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Vector3 offset = new Vector3(0f, 10f, -8f);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따라가는 부드러움 (클수록 빨리 붙는다)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float smooth = 5f;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void LateUpdate()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(target == null) return;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Vector3 goal = target.position + offset;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float k = smooth * Time.deltaTime;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transform.position = Vector3.Lerp(transform.position, goal, k);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transform.LookAt(target);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5120640" y="17647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AA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CameraFollow.cs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0" y="169164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9" name="Shape 7"/>
          <p:cNvSpPr/>
          <p:nvPr/>
        </p:nvSpPr>
        <p:spPr>
          <a:xfrm>
            <a:off x="7818486" y="173772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1709928"/>
            <a:ext cx="3319272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[원하는 것] 칸만 바꿔서 질문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1924558"/>
            <a:ext cx="3319272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예: 카메라가 플레이어를 위 · 뒤에서 부드럽게 따라가는 스크립트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772400" y="245237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7818486" y="249845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772400" y="245237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470658"/>
            <a:ext cx="331927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다섯 가지 검증 → Main Camera에 붙이기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306451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7818486" y="311059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772400" y="306451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3082798"/>
            <a:ext cx="331927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Target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칸에 Player 끌어다 놓기 → ▶ Play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367665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2" name="Shape 20"/>
          <p:cNvSpPr/>
          <p:nvPr/>
        </p:nvSpPr>
        <p:spPr>
          <a:xfrm>
            <a:off x="7818486" y="372273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772400" y="367665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8321040" y="3694938"/>
            <a:ext cx="3319272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Offset 숫자를 바꿔 보기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선택 · 미리 보기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(선택) 키 비주얼을 타이틀 배경으로 깔아 보기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12주차에 제대로 다룹니다. 시간이 남으면 미리 해 봐도 좋습니다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40080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KeyVisual_01.png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_Project/Textures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폴더로 끌어 넣기 (폴더가 없으면 만들기)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236601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41209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36601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384298"/>
            <a:ext cx="640080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이미지 선택 → Inspector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Texture Type = Sprite (2D and UI)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Apply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29946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594726" y="30407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29946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3012948"/>
            <a:ext cx="6400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GameObject &gt; UI (Canvas) &gt; Image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이름 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TitleBG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48640" y="352501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726" y="357109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35250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97280" y="3543300"/>
            <a:ext cx="6400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Image의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Source Image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칸에 키 비주얼 끌어다 놓기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48640" y="405536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2" name="Shape 20"/>
          <p:cNvSpPr/>
          <p:nvPr/>
        </p:nvSpPr>
        <p:spPr>
          <a:xfrm>
            <a:off x="594726" y="410145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40553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4073652"/>
            <a:ext cx="640080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Rect Transform 앵커 프리셋에서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Alt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누른 채 오른쪽 아래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stretch-stretch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화면을 꽉 채움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7772400" y="1737360"/>
            <a:ext cx="3867912" cy="3017520"/>
          </a:xfrm>
          <a:prstGeom prst="roundRect">
            <a:avLst>
              <a:gd name="adj" fmla="val 3636"/>
            </a:avLst>
          </a:prstGeom>
          <a:solidFill>
            <a:srgbClr val="F3F5F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001000" y="1938528"/>
            <a:ext cx="3410712" cy="302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12주차에 더할 것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8028432" y="2383536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220456" y="2314194"/>
            <a:ext cx="319125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게임 이름 글자 · 그림자 · 외곽선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028432" y="267766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20456" y="2608326"/>
            <a:ext cx="3191256" cy="435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한글 · 중국어가 나오는 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폰트 에셋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만들기 (□ 문제 해결)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8028432" y="3189732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220456" y="3120390"/>
            <a:ext cx="319125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버튼 꾸미기 · 등장 연출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48640" y="5120640"/>
            <a:ext cx="11091672" cy="777240"/>
          </a:xfrm>
          <a:prstGeom prst="roundRect">
            <a:avLst>
              <a:gd name="adj" fmla="val 11765"/>
            </a:avLst>
          </a:prstGeom>
          <a:solidFill>
            <a:srgbClr val="FDF0E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77240" y="52486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176272" y="53141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368296" y="5239512"/>
            <a:ext cx="9089136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타이틀은 게임의 첫인상입니다. AI 이미지 + 에셋 + Unity UI를 조합하면 혼자서도 충분히 보기 좋은 화면을 만들 수 있습니다.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마무리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오늘 끝에 있어야 할 것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다 못 했으면 과제로 이어서 합니다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11091672" cy="640080"/>
          </a:xfrm>
          <a:prstGeom prst="roundRect">
            <a:avLst>
              <a:gd name="adj" fmla="val 17143"/>
            </a:avLst>
          </a:prstGeom>
          <a:solidFill>
            <a:srgbClr val="F3F5F7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187452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8C96A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0" y="17830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기획 1페이지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17830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양식의 모든 칸 · 크기 점검 '예'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2468880"/>
            <a:ext cx="11091672" cy="640080"/>
          </a:xfrm>
          <a:prstGeom prst="roundRect">
            <a:avLst>
              <a:gd name="adj" fmla="val 17143"/>
            </a:avLst>
          </a:prstGeom>
          <a:solidFill>
            <a:srgbClr val="F3F5F7"/>
          </a:solidFill>
          <a:ln/>
        </p:spPr>
      </p:sp>
      <p:sp>
        <p:nvSpPr>
          <p:cNvPr id="10" name="Shape 8"/>
          <p:cNvSpPr/>
          <p:nvPr/>
        </p:nvSpPr>
        <p:spPr>
          <a:xfrm>
            <a:off x="777240" y="260604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8C96A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371600" y="25146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 비주얼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120640" y="25146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KeyVisual_01.png · 스타일 키워드 3개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3200400"/>
            <a:ext cx="11091672" cy="640080"/>
          </a:xfrm>
          <a:prstGeom prst="roundRect">
            <a:avLst>
              <a:gd name="adj" fmla="val 17143"/>
            </a:avLst>
          </a:prstGeom>
          <a:solidFill>
            <a:srgbClr val="F3F5F7"/>
          </a:solidFill>
          <a:ln/>
        </p:spPr>
      </p:sp>
      <p:sp>
        <p:nvSpPr>
          <p:cNvPr id="14" name="Shape 12"/>
          <p:cNvSpPr/>
          <p:nvPr/>
        </p:nvSpPr>
        <p:spPr>
          <a:xfrm>
            <a:off x="777240" y="333756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8C96A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371600" y="32461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 프로젝트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120640" y="324612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Final_학번 · _Project 폴더 · Play 씬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48640" y="3931920"/>
            <a:ext cx="11091672" cy="640080"/>
          </a:xfrm>
          <a:prstGeom prst="roundRect">
            <a:avLst>
              <a:gd name="adj" fmla="val 17143"/>
            </a:avLst>
          </a:prstGeom>
          <a:solidFill>
            <a:srgbClr val="F3F5F7"/>
          </a:solidFill>
          <a:ln/>
        </p:spPr>
      </p:sp>
      <p:sp>
        <p:nvSpPr>
          <p:cNvPr id="18" name="Shape 16"/>
          <p:cNvSpPr/>
          <p:nvPr/>
        </p:nvSpPr>
        <p:spPr>
          <a:xfrm>
            <a:off x="777240" y="406908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8C96A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371600" y="3977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 1개 이상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120640" y="397764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가져와서 Play 씬에 놓음 · 에셋 목록에 기록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48640" y="4663440"/>
            <a:ext cx="11091672" cy="640080"/>
          </a:xfrm>
          <a:prstGeom prst="roundRect">
            <a:avLst>
              <a:gd name="adj" fmla="val 17143"/>
            </a:avLst>
          </a:prstGeom>
          <a:solidFill>
            <a:srgbClr val="F3F5F7"/>
          </a:solidFill>
          <a:ln/>
        </p:spPr>
      </p:sp>
      <p:sp>
        <p:nvSpPr>
          <p:cNvPr id="22" name="Shape 20"/>
          <p:cNvSpPr/>
          <p:nvPr/>
        </p:nvSpPr>
        <p:spPr>
          <a:xfrm>
            <a:off x="777240" y="480060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8C96A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371600" y="47091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움직이는 플레이어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5120640" y="47091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모델을 입힌 Player가 WASD로 움직임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548640" y="5394960"/>
            <a:ext cx="11091672" cy="640080"/>
          </a:xfrm>
          <a:prstGeom prst="roundRect">
            <a:avLst>
              <a:gd name="adj" fmla="val 17143"/>
            </a:avLst>
          </a:prstGeom>
          <a:solidFill>
            <a:srgbClr val="F3F5F7"/>
          </a:solidFill>
          <a:ln/>
        </p:spPr>
      </p:sp>
      <p:sp>
        <p:nvSpPr>
          <p:cNvPr id="26" name="Shape 24"/>
          <p:cNvSpPr/>
          <p:nvPr/>
        </p:nvSpPr>
        <p:spPr>
          <a:xfrm>
            <a:off x="777240" y="553212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8C96A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371600" y="54406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사용 기록 3줄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5120640" y="54406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기획 · 이미지 · 코드 각 1줄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마무리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막혔을 때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위에서부터 확인하세요</a:t>
            </a:r>
            <a:endParaRPr lang="en-US" sz="15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4389120"/>
                <a:gridCol w="670255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증상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해결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Package Manager의 My Assets가 비어 있다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에디터 왼쪽 위 계정이 Asset Store와 </a:t>
                      </a:r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같은 계정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인지 · 창 위쪽 새로고침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에셋이 분홍색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Window &gt; Rendering &gt; Render Pipeline Converter → Built-in to URP → Material Upgrade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가져온 뒤 빨간 에러 (에셋 폴더 안 스크립트)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에러가 가리키는 에셋의 </a:t>
                      </a:r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Scripts · Demo 폴더 삭제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. 모델 · 텍스처 · 재질만 남겨도 충분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Play하면 InvalidOperationException … Input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어떤 스크립트가 옛 Input 클래스를 씀 → 그 스크립트를 Keyboard.current로 바꾸거나 삭제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스크립트가 오브젝트에 안 붙는다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파일 이름 = 클래스 이름인지 · Console에 빨간 에러가 없는지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플레이어가 넘어진다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Rigidbody </a:t>
                      </a:r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Constraints &gt; Freeze Rotation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X · Y · Z 체크 (예시 코드는 자동)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모델이 땅에 묻히거나 뜬다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자식 </a:t>
                      </a:r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Model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의 Position Y만 조절 (Player는 그대로)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rayBox">
  <a:themeElements>
    <a:clrScheme name="GrayBox">
      <a:dk1>
        <a:srgbClr val="1E242B"/>
      </a:dk1>
      <a:lt1>
        <a:srgbClr val="FFFFFF"/>
      </a:lt1>
      <a:dk2>
        <a:srgbClr val="3A434D"/>
      </a:dk2>
      <a:lt2>
        <a:srgbClr val="F3F5F7"/>
      </a:lt2>
      <a:accent1>
        <a:srgbClr val="E07A2E"/>
      </a:accent1>
      <a:accent2>
        <a:srgbClr val="2F6FEB"/>
      </a:accent2>
      <a:accent3>
        <a:srgbClr val="23905A"/>
      </a:accent3>
      <a:accent4>
        <a:srgbClr val="D04444"/>
      </a:accent4>
      <a:accent5>
        <a:srgbClr val="8C96A1"/>
      </a:accent5>
      <a:accent6>
        <a:srgbClr val="7A5AF8"/>
      </a:accent6>
      <a:hlink>
        <a:srgbClr val="2F6FEB"/>
      </a:hlink>
      <a:folHlink>
        <a:srgbClr val="7A5AF8"/>
      </a:folHlink>
    </a:clrScheme>
    <a:fontScheme name="GrayBox">
      <a:majorFont>
        <a:latin typeface="Noto Sans K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박정원</dc:creator>
  <cp:lastModifiedBy>박정원</cp:lastModifiedBy>
  <cp:revision>1</cp:revision>
  <dcterms:created xsi:type="dcterms:W3CDTF">2026-11-01T18:41:37Z</dcterms:created>
  <dcterms:modified xsi:type="dcterms:W3CDTF">2026-11-01T18:41:37Z</dcterms:modified>
</cp:coreProperties>
</file>